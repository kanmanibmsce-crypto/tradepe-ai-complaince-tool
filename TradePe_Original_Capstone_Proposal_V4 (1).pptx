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5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Today</c:v>
                </c:pt>
              </c:strCache>
            </c:strRef>
          </c:tx>
          <c:spPr>
            <a:solidFill>
              <a:srgbClr val="8A98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4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Onboarding time</c:v>
                </c:pt>
                <c:pt idx="1">
                  <c:v>Manual review effort</c:v>
                </c:pt>
                <c:pt idx="2">
                  <c:v>Sanctions false-pos.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AA-4FEB-842E-2AED391381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Copilot</c:v>
                </c:pt>
              </c:strCache>
            </c:strRef>
          </c:tx>
          <c:spPr>
            <a:solidFill>
              <a:srgbClr val="1F8B5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4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Onboarding time</c:v>
                </c:pt>
                <c:pt idx="1">
                  <c:v>Manual review effort</c:v>
                </c:pt>
                <c:pt idx="2">
                  <c:v>Sanctions false-pos.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</c:v>
                </c:pt>
                <c:pt idx="1">
                  <c:v>45</c:v>
                </c:pt>
                <c:pt idx="2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AA-4FEB-842E-2AED391381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86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txPr>
        <a:bodyPr/>
        <a:lstStyle/>
        <a:p>
          <a:pPr>
            <a:defRPr sz="950">
              <a:solidFill>
                <a:srgbClr val="47586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4924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9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0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1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6035040" cy="6035040"/>
          </a:xfrm>
          <a:prstGeom prst="ellipse">
            <a:avLst/>
          </a:prstGeom>
          <a:solidFill>
            <a:srgbClr val="B5482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3474720"/>
            <a:ext cx="5120640" cy="5120640"/>
          </a:xfrm>
          <a:prstGeom prst="ellipse">
            <a:avLst/>
          </a:prstGeom>
          <a:solidFill>
            <a:srgbClr val="1B8A9E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4206240"/>
            <a:ext cx="3291840" cy="3291840"/>
          </a:xfrm>
          <a:prstGeom prst="ellipse">
            <a:avLst/>
          </a:prstGeom>
          <a:solidFill>
            <a:srgbClr val="5B4FD6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4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COPILOT  ·  SOLUTION MAPPING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" y="1627632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TradePe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i="1" dirty="0">
                <a:solidFill>
                  <a:srgbClr val="C6D2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Process Review &amp; the Five-Agent AI Copilot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32688" y="3712464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8F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trade-payments compliance for Indian importers &amp; exporters — the current manual workflow, where it breaks, and how five specialized agents resolve each pain point under one orchestration layer.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32688" y="5074920"/>
            <a:ext cx="603504" cy="603504"/>
          </a:xfrm>
          <a:prstGeom prst="ellipse">
            <a:avLst/>
          </a:prstGeom>
          <a:solidFill>
            <a:srgbClr val="B5482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" y="5225796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45920" y="507492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Risk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926080" y="5074920"/>
            <a:ext cx="603504" cy="603504"/>
          </a:xfrm>
          <a:prstGeom prst="ellipse">
            <a:avLst/>
          </a:prstGeom>
          <a:solidFill>
            <a:srgbClr val="1B8A9E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6956" y="5225796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9312" y="507492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919472" y="5074920"/>
            <a:ext cx="603504" cy="603504"/>
          </a:xfrm>
          <a:prstGeom prst="ellipse">
            <a:avLst/>
          </a:prstGeom>
          <a:solidFill>
            <a:srgbClr val="5B4FD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0348" y="5225796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32704" y="507492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912864" y="5074920"/>
            <a:ext cx="603504" cy="603504"/>
          </a:xfrm>
          <a:prstGeom prst="ellipse">
            <a:avLst/>
          </a:prstGeom>
          <a:solidFill>
            <a:srgbClr val="1F8B5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3740" y="5225796"/>
            <a:ext cx="301752" cy="3017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626096" y="507492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Docs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906256" y="5074920"/>
            <a:ext cx="603504" cy="603504"/>
          </a:xfrm>
          <a:prstGeom prst="ellipse">
            <a:avLst/>
          </a:prstGeom>
          <a:solidFill>
            <a:srgbClr val="D98324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7132" y="5225796"/>
            <a:ext cx="301752" cy="30175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19488" y="507492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914400" y="616305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Proposal Submission  ·  Prepared by Group 6  ·  June 2026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656893" cy="292608"/>
          </a:xfrm>
          <a:prstGeom prst="roundRect">
            <a:avLst>
              <a:gd name="adj" fmla="val 15625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16568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ROADMAP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Proposal Covers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compliance problem to a working product design — framed with the four building blocks of an AI product, then validated against impact, risk and a staged rollout.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212848"/>
            <a:ext cx="3553968" cy="1792224"/>
          </a:xfrm>
          <a:prstGeom prst="roundRect">
            <a:avLst>
              <a:gd name="adj" fmla="val 3571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450592"/>
            <a:ext cx="91440" cy="1316736"/>
          </a:xfrm>
          <a:prstGeom prst="rect">
            <a:avLst/>
          </a:prstGeom>
          <a:solidFill>
            <a:srgbClr val="B5482F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41401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B54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59536" y="2999232"/>
            <a:ext cx="3096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7824" y="3328416"/>
            <a:ext cx="3005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4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TradePe's current cross-border compliance workflow and exactly where it breaks.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4322064" y="2212848"/>
            <a:ext cx="3553968" cy="1792224"/>
          </a:xfrm>
          <a:prstGeom prst="roundRect">
            <a:avLst>
              <a:gd name="adj" fmla="val 3571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22064" y="2450592"/>
            <a:ext cx="91440" cy="1316736"/>
          </a:xfrm>
          <a:prstGeom prst="rect">
            <a:avLst/>
          </a:prstGeom>
          <a:solidFill>
            <a:srgbClr val="1B8A9E"/>
          </a:solidFill>
          <a:ln/>
        </p:spPr>
      </p:sp>
      <p:sp>
        <p:nvSpPr>
          <p:cNvPr id="13" name="Text 11"/>
          <p:cNvSpPr/>
          <p:nvPr/>
        </p:nvSpPr>
        <p:spPr>
          <a:xfrm>
            <a:off x="4596384" y="241401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8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14672" y="2999232"/>
            <a:ext cx="3096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Vision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32960" y="3328416"/>
            <a:ext cx="3005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4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specialized agents that turn five manual workstreams into one decision.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8077200" y="2212848"/>
            <a:ext cx="3553968" cy="1792224"/>
          </a:xfrm>
          <a:prstGeom prst="roundRect">
            <a:avLst>
              <a:gd name="adj" fmla="val 3571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77200" y="2450592"/>
            <a:ext cx="91440" cy="1316736"/>
          </a:xfrm>
          <a:prstGeom prst="rect">
            <a:avLst/>
          </a:prstGeom>
          <a:solidFill>
            <a:srgbClr val="5B4FD6"/>
          </a:solidFill>
          <a:ln/>
        </p:spPr>
      </p:sp>
      <p:sp>
        <p:nvSpPr>
          <p:cNvPr id="18" name="Text 16"/>
          <p:cNvSpPr/>
          <p:nvPr/>
        </p:nvSpPr>
        <p:spPr>
          <a:xfrm>
            <a:off x="8351520" y="241401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B4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369808" y="2999232"/>
            <a:ext cx="3096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Design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88096" y="3328416"/>
            <a:ext cx="3005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4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screens, the data model, and how the front end serves each role.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566928" y="4206240"/>
            <a:ext cx="3553968" cy="1792224"/>
          </a:xfrm>
          <a:prstGeom prst="roundRect">
            <a:avLst>
              <a:gd name="adj" fmla="val 3571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" y="4443984"/>
            <a:ext cx="91440" cy="1316736"/>
          </a:xfrm>
          <a:prstGeom prst="rect">
            <a:avLst/>
          </a:prstGeom>
          <a:solidFill>
            <a:srgbClr val="1F8B5F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440740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8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59536" y="4992624"/>
            <a:ext cx="3096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77824" y="5321808"/>
            <a:ext cx="3005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4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AI orchestration and the internal &amp; external API layers.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4322064" y="4206240"/>
            <a:ext cx="3553968" cy="1792224"/>
          </a:xfrm>
          <a:prstGeom prst="roundRect">
            <a:avLst>
              <a:gd name="adj" fmla="val 3571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22064" y="4443984"/>
            <a:ext cx="91440" cy="1316736"/>
          </a:xfrm>
          <a:prstGeom prst="rect">
            <a:avLst/>
          </a:prstGeom>
          <a:solidFill>
            <a:srgbClr val="D98324"/>
          </a:solidFill>
          <a:ln/>
        </p:spPr>
      </p:sp>
      <p:sp>
        <p:nvSpPr>
          <p:cNvPr id="28" name="Text 26"/>
          <p:cNvSpPr/>
          <p:nvPr/>
        </p:nvSpPr>
        <p:spPr>
          <a:xfrm>
            <a:off x="4596384" y="440740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98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4614672" y="4992624"/>
            <a:ext cx="3096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Action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632960" y="5321808"/>
            <a:ext cx="3005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4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transaction through the agentic pipeline, then the full architecture.</a:t>
            </a:r>
            <a:endParaRPr lang="en-US" sz="1040" dirty="0"/>
          </a:p>
        </p:txBody>
      </p:sp>
      <p:sp>
        <p:nvSpPr>
          <p:cNvPr id="31" name="Shape 29"/>
          <p:cNvSpPr/>
          <p:nvPr/>
        </p:nvSpPr>
        <p:spPr>
          <a:xfrm>
            <a:off x="8077200" y="4206240"/>
            <a:ext cx="3553968" cy="1792224"/>
          </a:xfrm>
          <a:prstGeom prst="roundRect">
            <a:avLst>
              <a:gd name="adj" fmla="val 3571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077200" y="4443984"/>
            <a:ext cx="91440" cy="131673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Text 31"/>
          <p:cNvSpPr/>
          <p:nvPr/>
        </p:nvSpPr>
        <p:spPr>
          <a:xfrm>
            <a:off x="8351520" y="440740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8369808" y="4992624"/>
            <a:ext cx="3096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Path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388096" y="5321808"/>
            <a:ext cx="3005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4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ROI, the risks to manage, and a pilot-first route to rollout.</a:t>
            </a:r>
            <a:endParaRPr lang="en-US" sz="104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899770" cy="292608"/>
          </a:xfrm>
          <a:prstGeom prst="roundRect">
            <a:avLst>
              <a:gd name="adj" fmla="val 15625"/>
            </a:avLst>
          </a:prstGeom>
          <a:solidFill>
            <a:srgbClr val="B5482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89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TradePe at a Glance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cross-border payments platform moving trade payments for Indian importers and exporters — operating inside the RBI / FEMA / DGFT perimeter, where every payment must clear compliance before it clears the rails.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084832"/>
            <a:ext cx="3529584" cy="1591056"/>
          </a:xfrm>
          <a:prstGeom prst="roundRect">
            <a:avLst>
              <a:gd name="adj" fmla="val 4023"/>
            </a:avLst>
          </a:prstGeom>
          <a:solidFill>
            <a:srgbClr val="F7ECE8"/>
          </a:solidFill>
          <a:ln/>
          <a:effectLst>
            <a:outerShdw blurRad="114300" dist="381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359152"/>
            <a:ext cx="713232" cy="713232"/>
          </a:xfrm>
          <a:prstGeom prst="ellipse">
            <a:avLst/>
          </a:prstGeom>
          <a:solidFill>
            <a:srgbClr val="B5482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537460"/>
            <a:ext cx="356616" cy="3566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267712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B54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822960" y="299923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workstreams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3273552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linear, human-gated, and largely manual today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61104" y="2084832"/>
            <a:ext cx="3529584" cy="1591056"/>
          </a:xfrm>
          <a:prstGeom prst="roundRect">
            <a:avLst>
              <a:gd name="adj" fmla="val 4023"/>
            </a:avLst>
          </a:prstGeom>
          <a:solidFill>
            <a:srgbClr val="E7F2F4"/>
          </a:solidFill>
          <a:ln/>
          <a:effectLst>
            <a:outerShdw blurRad="114300" dist="381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98848" y="2359152"/>
            <a:ext cx="713232" cy="713232"/>
          </a:xfrm>
          <a:prstGeom prst="ellipse">
            <a:avLst/>
          </a:prstGeom>
          <a:solidFill>
            <a:srgbClr val="1B8A9E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156" y="2537460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40096" y="2267712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8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3800" dirty="0"/>
          </a:p>
        </p:txBody>
      </p:sp>
      <p:sp>
        <p:nvSpPr>
          <p:cNvPr id="16" name="Text 12"/>
          <p:cNvSpPr/>
          <p:nvPr/>
        </p:nvSpPr>
        <p:spPr>
          <a:xfrm>
            <a:off x="4517136" y="299923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onboard an exporter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17136" y="3273552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KYB &amp; UBO tracing delays legitimate customers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955280" y="2084832"/>
            <a:ext cx="3529584" cy="1591056"/>
          </a:xfrm>
          <a:prstGeom prst="roundRect">
            <a:avLst>
              <a:gd name="adj" fmla="val 4023"/>
            </a:avLst>
          </a:prstGeom>
          <a:solidFill>
            <a:srgbClr val="ECEAFA"/>
          </a:solidFill>
          <a:ln/>
          <a:effectLst>
            <a:outerShdw blurRad="114300" dist="381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93024" y="2359152"/>
            <a:ext cx="713232" cy="713232"/>
          </a:xfrm>
          <a:prstGeom prst="ellipse">
            <a:avLst/>
          </a:prstGeom>
          <a:solidFill>
            <a:srgbClr val="5B4FD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1332" y="2537460"/>
            <a:ext cx="356616" cy="35661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34272" y="2267712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5B4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22" name="Text 17"/>
          <p:cNvSpPr/>
          <p:nvPr/>
        </p:nvSpPr>
        <p:spPr>
          <a:xfrm>
            <a:off x="8211312" y="299923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human-reviewed alerts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211312" y="3273552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rules + manual disposition cap throughput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66928" y="3968496"/>
            <a:ext cx="5440680" cy="1993392"/>
          </a:xfrm>
          <a:prstGeom prst="roundRect">
            <a:avLst>
              <a:gd name="adj" fmla="val 3211"/>
            </a:avLst>
          </a:prstGeom>
          <a:solidFill>
            <a:srgbClr val="EEF2F6"/>
          </a:solidFill>
          <a:ln/>
          <a:effectLst>
            <a:outerShdw blurRad="114300" dist="381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877824" y="4206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54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1 — The Manual Bottleneck</a:t>
            </a:r>
            <a:endParaRPr lang="en-US" sz="1650" dirty="0"/>
          </a:p>
        </p:txBody>
      </p:sp>
      <p:sp>
        <p:nvSpPr>
          <p:cNvPr id="26" name="Text 21"/>
          <p:cNvSpPr/>
          <p:nvPr/>
        </p:nvSpPr>
        <p:spPr>
          <a:xfrm>
            <a:off x="877824" y="4681728"/>
            <a:ext cx="4837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checks, UBO tracing, alert disposition and trade-doc matching are done by hand, reviewer by reviewer. Throughput is capped by analyst capacity, and risk decisions vary between analysts because scoring is checklist-based, not model-based.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199632" y="3968496"/>
            <a:ext cx="5440680" cy="1993392"/>
          </a:xfrm>
          <a:prstGeom prst="roundRect">
            <a:avLst>
              <a:gd name="adj" fmla="val 3211"/>
            </a:avLst>
          </a:prstGeom>
          <a:solidFill>
            <a:srgbClr val="EEF2F6"/>
          </a:solidFill>
          <a:ln/>
          <a:effectLst>
            <a:outerShdw blurRad="114300" dist="381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6510528" y="4206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2 — Static Rules vs. Adaptive Risk</a:t>
            </a:r>
            <a:endParaRPr lang="en-US" sz="1650" dirty="0"/>
          </a:p>
        </p:txBody>
      </p:sp>
      <p:sp>
        <p:nvSpPr>
          <p:cNvPr id="29" name="Text 24"/>
          <p:cNvSpPr/>
          <p:nvPr/>
        </p:nvSpPr>
        <p:spPr>
          <a:xfrm>
            <a:off x="6510528" y="4681728"/>
            <a:ext cx="4837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and sanctions run on fixed thresholds and fuzzy name-matching. That floods analysts with false positives while novel patterns — structuring, layered routing, trade-based laundering — slip through the gaps between rule updates.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566928" y="62727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reflects standard Indian cross-border trade-payments practice; company-level specifics should be validated against TradePe’s internal documentation.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993392" cy="292608"/>
          </a:xfrm>
          <a:prstGeom prst="roundRect">
            <a:avLst>
              <a:gd name="adj" fmla="val 15625"/>
            </a:avLst>
          </a:prstGeom>
          <a:solidFill>
            <a:srgbClr val="D9832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PERIMETER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TradePe Answers To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IEC-based cross-border payments business sits under a stack of Indian and international regimes at once. Each one sets a rule the compliance function must operationalize — and an auditor who will later test 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3621024" cy="1755648"/>
          </a:xfrm>
          <a:prstGeom prst="roundRect">
            <a:avLst>
              <a:gd name="adj" fmla="val 364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59152"/>
            <a:ext cx="585216" cy="585216"/>
          </a:xfrm>
          <a:prstGeom prst="ellipse">
            <a:avLst/>
          </a:prstGeom>
          <a:solidFill>
            <a:srgbClr val="B5482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505456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17904" y="234086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17904" y="267004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80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BANK OF INDIA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41248" y="3017520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8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Administers FEMA 1999 and the Authorised Dealer framework that governs every cross-border payment and forex transaction.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4306824" y="2103120"/>
            <a:ext cx="3621024" cy="1755648"/>
          </a:xfrm>
          <a:prstGeom prst="roundRect">
            <a:avLst>
              <a:gd name="adj" fmla="val 364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62856" y="2359152"/>
            <a:ext cx="585216" cy="585216"/>
          </a:xfrm>
          <a:prstGeom prst="ellipse">
            <a:avLst/>
          </a:prstGeom>
          <a:solidFill>
            <a:srgbClr val="1B8A9E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505456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234086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DGFT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257800" y="267004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80" dirty="0">
                <a:solidFill>
                  <a:srgbClr val="1B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TRADE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581144" y="3017520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8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the Import-Export Code (IEC) and sets the Foreign Trade Policy that defines who may trade and under what terms.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8046720" y="2103120"/>
            <a:ext cx="3621024" cy="1755648"/>
          </a:xfrm>
          <a:prstGeom prst="roundRect">
            <a:avLst>
              <a:gd name="adj" fmla="val 364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02752" y="2359152"/>
            <a:ext cx="585216" cy="585216"/>
          </a:xfrm>
          <a:prstGeom prst="ellipse">
            <a:avLst/>
          </a:prstGeom>
          <a:solidFill>
            <a:srgbClr val="5B4FD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6" y="2505456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997696" y="234086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FIU-IND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997696" y="267004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80" dirty="0">
                <a:solidFill>
                  <a:srgbClr val="5B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PMLA REPORTING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8321040" y="3017520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8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STRs and CTRs under the Prevention of Money Laundering Act, 2002 — the destination for every suspicious-activity filing.</a:t>
            </a:r>
            <a:endParaRPr lang="en-US" sz="1080" dirty="0"/>
          </a:p>
        </p:txBody>
      </p:sp>
      <p:sp>
        <p:nvSpPr>
          <p:cNvPr id="24" name="Shape 19"/>
          <p:cNvSpPr/>
          <p:nvPr/>
        </p:nvSpPr>
        <p:spPr>
          <a:xfrm>
            <a:off x="566928" y="4005072"/>
            <a:ext cx="3621024" cy="1755648"/>
          </a:xfrm>
          <a:prstGeom prst="roundRect">
            <a:avLst>
              <a:gd name="adj" fmla="val 364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261104"/>
            <a:ext cx="585216" cy="585216"/>
          </a:xfrm>
          <a:prstGeom prst="ellipse">
            <a:avLst/>
          </a:prstGeom>
          <a:solidFill>
            <a:srgbClr val="1F8B5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4407408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17904" y="4242816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FATF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1517904" y="457200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80" dirty="0">
                <a:solidFill>
                  <a:srgbClr val="1F8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AML / CFT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841248" y="4919472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8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international AML/CFT standards and TBML red-flag typologies that mutual evaluations hold India to.</a:t>
            </a:r>
            <a:endParaRPr lang="en-US" sz="1080" dirty="0"/>
          </a:p>
        </p:txBody>
      </p:sp>
      <p:sp>
        <p:nvSpPr>
          <p:cNvPr id="30" name="Shape 24"/>
          <p:cNvSpPr/>
          <p:nvPr/>
        </p:nvSpPr>
        <p:spPr>
          <a:xfrm>
            <a:off x="4306824" y="4005072"/>
            <a:ext cx="3621024" cy="1755648"/>
          </a:xfrm>
          <a:prstGeom prst="roundRect">
            <a:avLst>
              <a:gd name="adj" fmla="val 364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562856" y="4261104"/>
            <a:ext cx="585216" cy="585216"/>
          </a:xfrm>
          <a:prstGeom prst="ellipse">
            <a:avLst/>
          </a:prstGeom>
          <a:solidFill>
            <a:srgbClr val="1B2A4A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4407408"/>
            <a:ext cx="292608" cy="29260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257800" y="4242816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OFAC · UN · EU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5257800" y="457200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REGIMES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4581144" y="4919472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8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sanctions and PEP lists every customer, UBO, vendor and beneficiary must be screened against — at onboarding and per payment.</a:t>
            </a:r>
            <a:endParaRPr lang="en-US" sz="1080" dirty="0"/>
          </a:p>
        </p:txBody>
      </p:sp>
      <p:sp>
        <p:nvSpPr>
          <p:cNvPr id="36" name="Shape 29"/>
          <p:cNvSpPr/>
          <p:nvPr/>
        </p:nvSpPr>
        <p:spPr>
          <a:xfrm>
            <a:off x="8046720" y="4005072"/>
            <a:ext cx="3621024" cy="1755648"/>
          </a:xfrm>
          <a:prstGeom prst="roundRect">
            <a:avLst>
              <a:gd name="adj" fmla="val 364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302752" y="4261104"/>
            <a:ext cx="585216" cy="585216"/>
          </a:xfrm>
          <a:prstGeom prst="ellipse">
            <a:avLst/>
          </a:prstGeom>
          <a:solidFill>
            <a:srgbClr val="D98324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9056" y="4407408"/>
            <a:ext cx="292608" cy="29260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997696" y="4242816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CBIC / Customs</a:t>
            </a:r>
            <a:endParaRPr lang="en-US" sz="1600" dirty="0"/>
          </a:p>
        </p:txBody>
      </p:sp>
      <p:sp>
        <p:nvSpPr>
          <p:cNvPr id="40" name="Text 32"/>
          <p:cNvSpPr/>
          <p:nvPr/>
        </p:nvSpPr>
        <p:spPr>
          <a:xfrm>
            <a:off x="8997696" y="457200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8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VALUATION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8321040" y="4919472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8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customs declarations and import/export valuation — the basis for detecting over- and under-invoicing in trade documents.</a:t>
            </a:r>
            <a:endParaRPr lang="en-US" sz="1080" dirty="0"/>
          </a:p>
        </p:txBody>
      </p:sp>
      <p:sp>
        <p:nvSpPr>
          <p:cNvPr id="42" name="Text 34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&amp; bodies shown are public and factual; mapping to TradePe’s specific licences and AD-bank relationships should be confirmed internally.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04518" cy="292608"/>
          </a:xfrm>
          <a:prstGeom prst="roundRect">
            <a:avLst>
              <a:gd name="adj" fmla="val 15625"/>
            </a:avLst>
          </a:prstGeom>
          <a:solidFill>
            <a:srgbClr val="1B8A9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14045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Compliance Process Today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workstreams, each owned end-to-end by a human reviewer and built on static rules or manual cross-checking rather than adaptive detection.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084832"/>
            <a:ext cx="11064240" cy="768096"/>
          </a:xfrm>
          <a:prstGeom prst="roundRect">
            <a:avLst>
              <a:gd name="adj" fmla="val 8333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212848"/>
            <a:ext cx="512064" cy="512064"/>
          </a:xfrm>
          <a:prstGeom prst="ellipse">
            <a:avLst/>
          </a:prstGeom>
          <a:solidFill>
            <a:srgbClr val="B5482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34086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08176" y="217627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Onboarding — KYC / KYB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408176" y="24871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40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Analyst → Officer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791456" y="2176272"/>
            <a:ext cx="5138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3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IEC, registration, GST/PAN and bank statements collected by email; documents verified by hand against MCA/DGFT; UBO traced manually; risk scored on an Excel rubric.</a:t>
            </a:r>
            <a:endParaRPr lang="en-US" sz="1030" dirty="0"/>
          </a:p>
        </p:txBody>
      </p:sp>
      <p:sp>
        <p:nvSpPr>
          <p:cNvPr id="12" name="Shape 9"/>
          <p:cNvSpPr/>
          <p:nvPr/>
        </p:nvSpPr>
        <p:spPr>
          <a:xfrm>
            <a:off x="10094976" y="2258568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B5482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94976" y="22585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 days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566928" y="2907792"/>
            <a:ext cx="11064240" cy="768096"/>
          </a:xfrm>
          <a:prstGeom prst="roundRect">
            <a:avLst>
              <a:gd name="adj" fmla="val 8333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31520" y="3035808"/>
            <a:ext cx="512064" cy="512064"/>
          </a:xfrm>
          <a:prstGeom prst="ellipse">
            <a:avLst/>
          </a:prstGeom>
          <a:solidFill>
            <a:srgbClr val="1B8A9E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163824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08176" y="29992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Monitoring — AML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1408176" y="33101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40" dirty="0">
                <a:solidFill>
                  <a:srgbClr val="1B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Analyst (T1) → MLRO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791456" y="2999232"/>
            <a:ext cx="5138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3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screened on static amount / velocity / geography thresholds; flagged items queued for manual investigation of counterparty and pattern context.</a:t>
            </a:r>
            <a:endParaRPr lang="en-US" sz="1030" dirty="0"/>
          </a:p>
        </p:txBody>
      </p:sp>
      <p:sp>
        <p:nvSpPr>
          <p:cNvPr id="20" name="Shape 16"/>
          <p:cNvSpPr/>
          <p:nvPr/>
        </p:nvSpPr>
        <p:spPr>
          <a:xfrm>
            <a:off x="10094976" y="3081528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1B8A9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0094976" y="308152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B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Hrs–2 days</a:t>
            </a:r>
            <a:endParaRPr lang="en-US" sz="980" dirty="0"/>
          </a:p>
        </p:txBody>
      </p:sp>
      <p:sp>
        <p:nvSpPr>
          <p:cNvPr id="22" name="Shape 18"/>
          <p:cNvSpPr/>
          <p:nvPr/>
        </p:nvSpPr>
        <p:spPr>
          <a:xfrm>
            <a:off x="566928" y="3730752"/>
            <a:ext cx="11064240" cy="768096"/>
          </a:xfrm>
          <a:prstGeom prst="roundRect">
            <a:avLst>
              <a:gd name="adj" fmla="val 8333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31520" y="3858768"/>
            <a:ext cx="512064" cy="512064"/>
          </a:xfrm>
          <a:prstGeom prst="ellipse">
            <a:avLst/>
          </a:prstGeom>
          <a:solidFill>
            <a:srgbClr val="5B4FD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3986784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08176" y="382219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Sanctions &amp; Watchlist Screening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1408176" y="41330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40" dirty="0">
                <a:solidFill>
                  <a:srgbClr val="5B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Analyst → Officer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4791456" y="3822192"/>
            <a:ext cx="5138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3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matched against OFAC/UN/EU, PEP and adverse-media lists by a basic fuzzy engine; every potential hit reviewed manually to clear false positives.</a:t>
            </a:r>
            <a:endParaRPr lang="en-US" sz="1030" dirty="0"/>
          </a:p>
        </p:txBody>
      </p:sp>
      <p:sp>
        <p:nvSpPr>
          <p:cNvPr id="28" name="Shape 23"/>
          <p:cNvSpPr/>
          <p:nvPr/>
        </p:nvSpPr>
        <p:spPr>
          <a:xfrm>
            <a:off x="10094976" y="3904488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5B4FD6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0094976" y="39044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5B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Real-time–same day</a:t>
            </a:r>
            <a:endParaRPr lang="en-US" sz="980" dirty="0"/>
          </a:p>
        </p:txBody>
      </p:sp>
      <p:sp>
        <p:nvSpPr>
          <p:cNvPr id="30" name="Shape 25"/>
          <p:cNvSpPr/>
          <p:nvPr/>
        </p:nvSpPr>
        <p:spPr>
          <a:xfrm>
            <a:off x="566928" y="4553712"/>
            <a:ext cx="11064240" cy="768096"/>
          </a:xfrm>
          <a:prstGeom prst="roundRect">
            <a:avLst>
              <a:gd name="adj" fmla="val 8333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731520" y="4681728"/>
            <a:ext cx="512064" cy="512064"/>
          </a:xfrm>
          <a:prstGeom prst="ellipse">
            <a:avLst/>
          </a:prstGeom>
          <a:solidFill>
            <a:srgbClr val="1F8B5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4809744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408176" y="46451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Document Verification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1408176" y="4956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40" dirty="0">
                <a:solidFill>
                  <a:srgbClr val="1F8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Ops → Reviewer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4791456" y="4645152"/>
            <a:ext cx="5138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3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Invoice, Bill of Lading, PO, LC and customs declaration reviewed field-by-field in PDF; invoice value cross-checked vs. payment vs. shipping with no OCR.</a:t>
            </a:r>
            <a:endParaRPr lang="en-US" sz="1030" dirty="0"/>
          </a:p>
        </p:txBody>
      </p:sp>
      <p:sp>
        <p:nvSpPr>
          <p:cNvPr id="36" name="Shape 30"/>
          <p:cNvSpPr/>
          <p:nvPr/>
        </p:nvSpPr>
        <p:spPr>
          <a:xfrm>
            <a:off x="10094976" y="4727448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1F8B5F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10094976" y="472744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F8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days round-trip</a:t>
            </a:r>
            <a:endParaRPr lang="en-US" sz="980" dirty="0"/>
          </a:p>
        </p:txBody>
      </p:sp>
      <p:sp>
        <p:nvSpPr>
          <p:cNvPr id="38" name="Shape 32"/>
          <p:cNvSpPr/>
          <p:nvPr/>
        </p:nvSpPr>
        <p:spPr>
          <a:xfrm>
            <a:off x="566928" y="5376672"/>
            <a:ext cx="11064240" cy="768096"/>
          </a:xfrm>
          <a:prstGeom prst="roundRect">
            <a:avLst>
              <a:gd name="adj" fmla="val 8333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731520" y="5504688"/>
            <a:ext cx="512064" cy="512064"/>
          </a:xfrm>
          <a:prstGeom prst="ellipse">
            <a:avLst/>
          </a:prstGeom>
          <a:solidFill>
            <a:srgbClr val="D98324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5632704"/>
            <a:ext cx="256032" cy="25603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408176" y="546811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Change Monitoring</a:t>
            </a:r>
            <a:endParaRPr lang="en-US" sz="1350" dirty="0"/>
          </a:p>
        </p:txBody>
      </p:sp>
      <p:sp>
        <p:nvSpPr>
          <p:cNvPr id="42" name="Text 35"/>
          <p:cNvSpPr/>
          <p:nvPr/>
        </p:nvSpPr>
        <p:spPr>
          <a:xfrm>
            <a:off x="1408176" y="57790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4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Affairs</a:t>
            </a:r>
            <a:endParaRPr lang="en-US" sz="950" dirty="0"/>
          </a:p>
        </p:txBody>
      </p:sp>
      <p:sp>
        <p:nvSpPr>
          <p:cNvPr id="43" name="Text 36"/>
          <p:cNvSpPr/>
          <p:nvPr/>
        </p:nvSpPr>
        <p:spPr>
          <a:xfrm>
            <a:off x="4791456" y="5468112"/>
            <a:ext cx="5138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3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circulars, FEMA updates and DGFT notifications tracked ad hoc via websites and newsletters; impact interpreted manually and SOPs updated by hand.</a:t>
            </a:r>
            <a:endParaRPr lang="en-US" sz="1030" dirty="0"/>
          </a:p>
        </p:txBody>
      </p:sp>
      <p:sp>
        <p:nvSpPr>
          <p:cNvPr id="44" name="Shape 37"/>
          <p:cNvSpPr/>
          <p:nvPr/>
        </p:nvSpPr>
        <p:spPr>
          <a:xfrm>
            <a:off x="10094976" y="5550408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10094976" y="555040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days / update</a:t>
            </a:r>
            <a:endParaRPr lang="en-US" sz="980" dirty="0"/>
          </a:p>
        </p:txBody>
      </p:sp>
      <p:sp>
        <p:nvSpPr>
          <p:cNvPr id="46" name="Text 39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1B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thread: manual, linear, human-gated review on static logic — throughput is capped and risk slips through in predictable ways.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236269" cy="292608"/>
          </a:xfrm>
          <a:prstGeom prst="roundRect">
            <a:avLst>
              <a:gd name="adj" fmla="val 15625"/>
            </a:avLst>
          </a:prstGeom>
          <a:solidFill>
            <a:srgbClr val="B5482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12362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Process Breaks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workstream fails in its own way — but every failure traces back to the same root: static logic and manual disposition that neither scale with volume nor adapt to new patterns.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68096" y="21396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898648" y="21396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PAIN POINTS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36408" y="21396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450592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596896"/>
            <a:ext cx="1938528" cy="457200"/>
          </a:xfrm>
          <a:prstGeom prst="roundRect">
            <a:avLst>
              <a:gd name="adj" fmla="val 12000"/>
            </a:avLst>
          </a:prstGeom>
          <a:solidFill>
            <a:srgbClr val="B5482F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5968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/ KYB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898648" y="2523744"/>
            <a:ext cx="4828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document &amp; UBO review; inconsistent, checklist-based risk scoring; repeated back-and-forth over missing documents.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7836408" y="252374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30" i="1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takes days; risk decisions vary by analyst; poor experience for legitimate exporters.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566928" y="3255264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401568"/>
            <a:ext cx="1938528" cy="457200"/>
          </a:xfrm>
          <a:prstGeom prst="roundRect">
            <a:avLst>
              <a:gd name="adj" fmla="val 12000"/>
            </a:avLst>
          </a:prstGeom>
          <a:solidFill>
            <a:srgbClr val="1B8A9E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40156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Monitoring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98648" y="3328416"/>
            <a:ext cx="4828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false positives from static thresholds; novel patterns (structuring, layered routing) missed; investigation doesn’t scale.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7836408" y="3328416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30" i="1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capacity is the bottleneck; alert fatigue; real risk missed between rule updates.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566928" y="4059936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4206240"/>
            <a:ext cx="1938528" cy="457200"/>
          </a:xfrm>
          <a:prstGeom prst="roundRect">
            <a:avLst>
              <a:gd name="adj" fmla="val 12000"/>
            </a:avLst>
          </a:prstGeom>
          <a:solidFill>
            <a:srgbClr val="5B4FD6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2062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898648" y="4133088"/>
            <a:ext cx="4828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/ transliterated-name false positives; manual disposition of every hit; periodic — not continuous — re-screening.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7836408" y="4133088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30" i="1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payment release; screening backlog; risk of missed true matches between cycles.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566928" y="4864608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5010912"/>
            <a:ext cx="1938528" cy="457200"/>
          </a:xfrm>
          <a:prstGeom prst="roundRect">
            <a:avLst>
              <a:gd name="adj" fmla="val 12000"/>
            </a:avLst>
          </a:prstGeom>
          <a:solidFill>
            <a:srgbClr val="1F8B5F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01091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Documents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898648" y="4937760"/>
            <a:ext cx="4828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manual field-by-field matching; high human-error risk; no systematic detection of duplicate invoicing or TBML.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7836408" y="4937760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30" i="1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release; error-prone validation; limited ability to catch trade-based laundering at scale.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566928" y="566928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9808" y="5815584"/>
            <a:ext cx="1938528" cy="457200"/>
          </a:xfrm>
          <a:prstGeom prst="roundRect">
            <a:avLst>
              <a:gd name="adj" fmla="val 12000"/>
            </a:avLst>
          </a:prstGeom>
          <a:solidFill>
            <a:srgbClr val="D98324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5815584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898648" y="5742432"/>
            <a:ext cx="4828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tracking across RBI, FEMA, DGFT &amp; customs; slow translation of legal text into operational action.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7836408" y="5742432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30" i="1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or late-implemented changes; inconsistent communication and audit trail.</a:t>
            </a:r>
            <a:endParaRPr lang="en-US" sz="103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5852160" cy="5852160"/>
          </a:xfrm>
          <a:prstGeom prst="ellipse">
            <a:avLst/>
          </a:prstGeom>
          <a:solidFill>
            <a:srgbClr val="1B8A9E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291840"/>
            <a:ext cx="4754880" cy="4754880"/>
          </a:xfrm>
          <a:prstGeom prst="ellipse">
            <a:avLst/>
          </a:prstGeom>
          <a:solidFill>
            <a:srgbClr val="D98324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20624"/>
            <a:ext cx="1320394" cy="292608"/>
          </a:xfrm>
          <a:prstGeom prst="roundRect">
            <a:avLst>
              <a:gd name="adj" fmla="val 15625"/>
            </a:avLst>
          </a:prstGeom>
          <a:solidFill>
            <a:srgbClr val="D9832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420624"/>
            <a:ext cx="13203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76809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Five Manual Workstreams to One Decision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Compliance Copilot — five specialized agents, each owning one workstream, with every output consolidated into a single risk score and recommendation for the human officer to review and approve.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395728"/>
            <a:ext cx="3840480" cy="603504"/>
          </a:xfrm>
          <a:prstGeom prst="roundRect">
            <a:avLst>
              <a:gd name="adj" fmla="val 9091"/>
            </a:avLst>
          </a:prstGeom>
          <a:solidFill>
            <a:srgbClr val="26385C"/>
          </a:solidFill>
          <a:ln w="12700">
            <a:solidFill>
              <a:srgbClr val="3A4E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487168"/>
            <a:ext cx="420624" cy="420624"/>
          </a:xfrm>
          <a:prstGeom prst="ellipse">
            <a:avLst/>
          </a:prstGeom>
          <a:solidFill>
            <a:srgbClr val="B5482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2592324"/>
            <a:ext cx="210312" cy="2103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239572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Risk Agent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3145536"/>
            <a:ext cx="3840480" cy="603504"/>
          </a:xfrm>
          <a:prstGeom prst="roundRect">
            <a:avLst>
              <a:gd name="adj" fmla="val 9091"/>
            </a:avLst>
          </a:prstGeom>
          <a:solidFill>
            <a:srgbClr val="26385C"/>
          </a:solidFill>
          <a:ln w="12700">
            <a:solidFill>
              <a:srgbClr val="3A4E7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3232" y="3236976"/>
            <a:ext cx="420624" cy="420624"/>
          </a:xfrm>
          <a:prstGeom prst="ellipse">
            <a:avLst/>
          </a:prstGeom>
          <a:solidFill>
            <a:srgbClr val="1B8A9E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" y="3342132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80160" y="314553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Monitoring Agent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66928" y="3895344"/>
            <a:ext cx="3840480" cy="603504"/>
          </a:xfrm>
          <a:prstGeom prst="roundRect">
            <a:avLst>
              <a:gd name="adj" fmla="val 9091"/>
            </a:avLst>
          </a:prstGeom>
          <a:solidFill>
            <a:srgbClr val="26385C"/>
          </a:solidFill>
          <a:ln w="12700">
            <a:solidFill>
              <a:srgbClr val="3A4E7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3232" y="3986784"/>
            <a:ext cx="420624" cy="420624"/>
          </a:xfrm>
          <a:prstGeom prst="ellipse">
            <a:avLst/>
          </a:prstGeom>
          <a:solidFill>
            <a:srgbClr val="5B4FD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" y="4091940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89534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Agent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66928" y="4645152"/>
            <a:ext cx="3840480" cy="603504"/>
          </a:xfrm>
          <a:prstGeom prst="roundRect">
            <a:avLst>
              <a:gd name="adj" fmla="val 9091"/>
            </a:avLst>
          </a:prstGeom>
          <a:solidFill>
            <a:srgbClr val="26385C"/>
          </a:solidFill>
          <a:ln w="12700">
            <a:solidFill>
              <a:srgbClr val="3A4E7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13232" y="4736592"/>
            <a:ext cx="420624" cy="420624"/>
          </a:xfrm>
          <a:prstGeom prst="ellipse">
            <a:avLst/>
          </a:prstGeom>
          <a:solidFill>
            <a:srgbClr val="1F8B5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" y="4841748"/>
            <a:ext cx="210312" cy="2103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464515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Document Agent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66928" y="5394960"/>
            <a:ext cx="3840480" cy="603504"/>
          </a:xfrm>
          <a:prstGeom prst="roundRect">
            <a:avLst>
              <a:gd name="adj" fmla="val 9091"/>
            </a:avLst>
          </a:prstGeom>
          <a:solidFill>
            <a:srgbClr val="26385C"/>
          </a:solidFill>
          <a:ln w="12700">
            <a:solidFill>
              <a:srgbClr val="3A4E7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13232" y="5486400"/>
            <a:ext cx="420624" cy="420624"/>
          </a:xfrm>
          <a:prstGeom prst="ellipse">
            <a:avLst/>
          </a:prstGeom>
          <a:solidFill>
            <a:srgbClr val="D98324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88" y="5591556"/>
            <a:ext cx="210312" cy="2103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80160" y="539496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Intelligence Agent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5870448" y="2788920"/>
            <a:ext cx="27889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B2A4A">
                <a:alpha val="3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844284" y="3026664"/>
            <a:ext cx="841248" cy="841248"/>
          </a:xfrm>
          <a:prstGeom prst="ellipse">
            <a:avLst/>
          </a:prstGeom>
          <a:solidFill>
            <a:srgbClr val="1B2A4A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4596" y="3236976"/>
            <a:ext cx="420624" cy="42062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961888" y="394106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Copilot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5961888" y="427024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layer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6071616" y="4526280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Consolidates all five agents into one risk score + recommendation per transaction.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791456" y="255117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5" name="Text 27"/>
          <p:cNvSpPr/>
          <p:nvPr/>
        </p:nvSpPr>
        <p:spPr>
          <a:xfrm>
            <a:off x="4791456" y="330098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6" name="Text 28"/>
          <p:cNvSpPr/>
          <p:nvPr/>
        </p:nvSpPr>
        <p:spPr>
          <a:xfrm>
            <a:off x="4791456" y="405079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7" name="Text 29"/>
          <p:cNvSpPr/>
          <p:nvPr/>
        </p:nvSpPr>
        <p:spPr>
          <a:xfrm>
            <a:off x="4791456" y="48006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8" name="Text 30"/>
          <p:cNvSpPr/>
          <p:nvPr/>
        </p:nvSpPr>
        <p:spPr>
          <a:xfrm>
            <a:off x="4791456" y="555040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9" name="Text 31"/>
          <p:cNvSpPr/>
          <p:nvPr/>
        </p:nvSpPr>
        <p:spPr>
          <a:xfrm>
            <a:off x="8823960" y="378561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40" name="Shape 32"/>
          <p:cNvSpPr/>
          <p:nvPr/>
        </p:nvSpPr>
        <p:spPr>
          <a:xfrm>
            <a:off x="9052560" y="278892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26385C"/>
          </a:solidFill>
          <a:ln w="12700">
            <a:solidFill>
              <a:srgbClr val="3A4E73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9957816" y="3026664"/>
            <a:ext cx="841248" cy="841248"/>
          </a:xfrm>
          <a:prstGeom prst="ellipse">
            <a:avLst/>
          </a:prstGeom>
          <a:solidFill>
            <a:srgbClr val="1F8B5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68128" y="3236976"/>
            <a:ext cx="420624" cy="420624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9144000" y="394106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Officer</a:t>
            </a:r>
            <a:endParaRPr lang="en-US" sz="1600" dirty="0"/>
          </a:p>
        </p:txBody>
      </p:sp>
      <p:sp>
        <p:nvSpPr>
          <p:cNvPr id="44" name="Text 35"/>
          <p:cNvSpPr/>
          <p:nvPr/>
        </p:nvSpPr>
        <p:spPr>
          <a:xfrm>
            <a:off x="9144000" y="42702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" dirty="0">
                <a:solidFill>
                  <a:srgbClr val="1F8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approves</a:t>
            </a:r>
            <a:endParaRPr lang="en-US" sz="1000" dirty="0"/>
          </a:p>
        </p:txBody>
      </p:sp>
      <p:sp>
        <p:nvSpPr>
          <p:cNvPr id="45" name="Text 36"/>
          <p:cNvSpPr/>
          <p:nvPr/>
        </p:nvSpPr>
        <p:spPr>
          <a:xfrm>
            <a:off x="9235440" y="4526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one consolidated recommendation — instead of running the full investigation by hand.</a:t>
            </a:r>
            <a:endParaRPr lang="en-US" sz="1000" dirty="0"/>
          </a:p>
        </p:txBody>
      </p:sp>
      <p:sp>
        <p:nvSpPr>
          <p:cNvPr id="46" name="Text 37"/>
          <p:cNvSpPr/>
          <p:nvPr/>
        </p:nvSpPr>
        <p:spPr>
          <a:xfrm>
            <a:off x="566928" y="616305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C6D2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judgment stays human. The manual investigation is automated away.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825142" cy="292608"/>
          </a:xfrm>
          <a:prstGeom prst="roundRect">
            <a:avLst>
              <a:gd name="adj" fmla="val 15625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18251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Five Agents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owns one compliance workstream — automating extraction, detection and scoring that analysts do by hand today, then handing a clean result up to the orchestration layer.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121408"/>
            <a:ext cx="2095805" cy="3383280"/>
          </a:xfrm>
          <a:prstGeom prst="roundRect">
            <a:avLst>
              <a:gd name="adj" fmla="val 305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121408"/>
            <a:ext cx="2095805" cy="1298448"/>
          </a:xfrm>
          <a:prstGeom prst="roundRect">
            <a:avLst>
              <a:gd name="adj" fmla="val 4930"/>
            </a:avLst>
          </a:prstGeom>
          <a:solidFill>
            <a:srgbClr val="F7ECE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761488"/>
            <a:ext cx="2095805" cy="658368"/>
          </a:xfrm>
          <a:prstGeom prst="rect">
            <a:avLst/>
          </a:prstGeom>
          <a:solidFill>
            <a:srgbClr val="F7ECE8"/>
          </a:solidFill>
          <a:ln/>
        </p:spPr>
      </p:sp>
      <p:sp>
        <p:nvSpPr>
          <p:cNvPr id="9" name="Shape 7"/>
          <p:cNvSpPr/>
          <p:nvPr/>
        </p:nvSpPr>
        <p:spPr>
          <a:xfrm>
            <a:off x="1285646" y="2322576"/>
            <a:ext cx="658368" cy="658368"/>
          </a:xfrm>
          <a:prstGeom prst="ellipse">
            <a:avLst/>
          </a:prstGeom>
          <a:solidFill>
            <a:srgbClr val="B5482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238" y="248716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6656" y="3054096"/>
            <a:ext cx="18763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Risk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8368" y="3547872"/>
            <a:ext cx="1912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kern="0" spc="50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/ KYB SCORING</a:t>
            </a:r>
            <a:endParaRPr lang="en-US" sz="860" dirty="0"/>
          </a:p>
        </p:txBody>
      </p:sp>
      <p:sp>
        <p:nvSpPr>
          <p:cNvPr id="13" name="Text 10"/>
          <p:cNvSpPr/>
          <p:nvPr/>
        </p:nvSpPr>
        <p:spPr>
          <a:xfrm>
            <a:off x="768096" y="3913632"/>
            <a:ext cx="1730045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2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Auto-extracts &amp; verifies IEC + registration docs</a:t>
            </a:r>
            <a:endParaRPr lang="en-US" sz="1020" dirty="0"/>
          </a:p>
          <a:p>
            <a:pPr marL="342900" indent="-342900" algn="l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2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UBO identification across ownership layers</a:t>
            </a:r>
            <a:endParaRPr lang="en-US" sz="1020" dirty="0"/>
          </a:p>
          <a:p>
            <a:pPr marL="342900" indent="-342900" algn="l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2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Standardized, model-based risk score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2809037" y="2121408"/>
            <a:ext cx="2095805" cy="3383280"/>
          </a:xfrm>
          <a:prstGeom prst="roundRect">
            <a:avLst>
              <a:gd name="adj" fmla="val 305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809037" y="2121408"/>
            <a:ext cx="2095805" cy="1298448"/>
          </a:xfrm>
          <a:prstGeom prst="roundRect">
            <a:avLst>
              <a:gd name="adj" fmla="val 4930"/>
            </a:avLst>
          </a:prstGeom>
          <a:solidFill>
            <a:srgbClr val="E7F2F4"/>
          </a:solidFill>
          <a:ln/>
        </p:spPr>
      </p:sp>
      <p:sp>
        <p:nvSpPr>
          <p:cNvPr id="16" name="Shape 13"/>
          <p:cNvSpPr/>
          <p:nvPr/>
        </p:nvSpPr>
        <p:spPr>
          <a:xfrm>
            <a:off x="2809037" y="2761488"/>
            <a:ext cx="2095805" cy="658368"/>
          </a:xfrm>
          <a:prstGeom prst="rect">
            <a:avLst/>
          </a:prstGeom>
          <a:solidFill>
            <a:srgbClr val="E7F2F4"/>
          </a:solidFill>
          <a:ln/>
        </p:spPr>
      </p:sp>
      <p:sp>
        <p:nvSpPr>
          <p:cNvPr id="17" name="Shape 14"/>
          <p:cNvSpPr/>
          <p:nvPr/>
        </p:nvSpPr>
        <p:spPr>
          <a:xfrm>
            <a:off x="3527755" y="2322576"/>
            <a:ext cx="658368" cy="658368"/>
          </a:xfrm>
          <a:prstGeom prst="ellipse">
            <a:avLst/>
          </a:prstGeom>
          <a:solidFill>
            <a:srgbClr val="1B8A9E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347" y="2487168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918765" y="3054096"/>
            <a:ext cx="18763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Monitoring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2900477" y="3547872"/>
            <a:ext cx="1912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kern="0" spc="50" dirty="0">
                <a:solidFill>
                  <a:srgbClr val="1B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ANOMALY DETECTION</a:t>
            </a:r>
            <a:endParaRPr lang="en-US" sz="860" dirty="0"/>
          </a:p>
        </p:txBody>
      </p:sp>
      <p:sp>
        <p:nvSpPr>
          <p:cNvPr id="21" name="Text 17"/>
          <p:cNvSpPr/>
          <p:nvPr/>
        </p:nvSpPr>
        <p:spPr>
          <a:xfrm>
            <a:off x="3010205" y="3913632"/>
            <a:ext cx="1730045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2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Pattern-based detection of structuring &amp; spikes</a:t>
            </a:r>
            <a:endParaRPr lang="en-US" sz="1020" dirty="0"/>
          </a:p>
          <a:p>
            <a:pPr marL="342900" indent="-342900" algn="l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2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Risk-jurisdiction &amp; beneficiary analysis</a:t>
            </a:r>
            <a:endParaRPr lang="en-US" sz="1020" dirty="0"/>
          </a:p>
          <a:p>
            <a:pPr marL="342900" indent="-342900" algn="l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2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false positives vs. static rules</a:t>
            </a:r>
            <a:endParaRPr lang="en-US" sz="1020" dirty="0"/>
          </a:p>
        </p:txBody>
      </p:sp>
      <p:sp>
        <p:nvSpPr>
          <p:cNvPr id="22" name="Shape 18"/>
          <p:cNvSpPr/>
          <p:nvPr/>
        </p:nvSpPr>
        <p:spPr>
          <a:xfrm>
            <a:off x="5051146" y="2121408"/>
            <a:ext cx="2095805" cy="3383280"/>
          </a:xfrm>
          <a:prstGeom prst="roundRect">
            <a:avLst>
              <a:gd name="adj" fmla="val 305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051146" y="2121408"/>
            <a:ext cx="2095805" cy="1298448"/>
          </a:xfrm>
          <a:prstGeom prst="roundRect">
            <a:avLst>
              <a:gd name="adj" fmla="val 4930"/>
            </a:avLst>
          </a:prstGeom>
          <a:solidFill>
            <a:srgbClr val="ECEAFA"/>
          </a:solidFill>
          <a:ln/>
        </p:spPr>
      </p:sp>
      <p:sp>
        <p:nvSpPr>
          <p:cNvPr id="24" name="Shape 20"/>
          <p:cNvSpPr/>
          <p:nvPr/>
        </p:nvSpPr>
        <p:spPr>
          <a:xfrm>
            <a:off x="5051146" y="2761488"/>
            <a:ext cx="2095805" cy="658368"/>
          </a:xfrm>
          <a:prstGeom prst="rect">
            <a:avLst/>
          </a:prstGeom>
          <a:solidFill>
            <a:srgbClr val="ECEAFA"/>
          </a:solidFill>
          <a:ln/>
        </p:spPr>
      </p:sp>
      <p:sp>
        <p:nvSpPr>
          <p:cNvPr id="25" name="Shape 21"/>
          <p:cNvSpPr/>
          <p:nvPr/>
        </p:nvSpPr>
        <p:spPr>
          <a:xfrm>
            <a:off x="5769864" y="2322576"/>
            <a:ext cx="658368" cy="658368"/>
          </a:xfrm>
          <a:prstGeom prst="ellipse">
            <a:avLst/>
          </a:prstGeom>
          <a:solidFill>
            <a:srgbClr val="5B4FD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4456" y="2487168"/>
            <a:ext cx="329184" cy="32918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160874" y="3054096"/>
            <a:ext cx="18763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Sanctions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5142586" y="3547872"/>
            <a:ext cx="1912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kern="0" spc="50" dirty="0">
                <a:solidFill>
                  <a:srgbClr val="5B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SCREENING</a:t>
            </a:r>
            <a:endParaRPr lang="en-US" sz="860" dirty="0"/>
          </a:p>
        </p:txBody>
      </p:sp>
      <p:sp>
        <p:nvSpPr>
          <p:cNvPr id="29" name="Text 24"/>
          <p:cNvSpPr/>
          <p:nvPr/>
        </p:nvSpPr>
        <p:spPr>
          <a:xfrm>
            <a:off x="5252314" y="3913632"/>
            <a:ext cx="1730045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2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screen of customers, UBOs, vendors</a:t>
            </a:r>
            <a:endParaRPr lang="en-US" sz="1020" dirty="0"/>
          </a:p>
          <a:p>
            <a:pPr marL="342900" indent="-342900" algn="l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2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name-matching across transliterations</a:t>
            </a:r>
            <a:endParaRPr lang="en-US" sz="1020" dirty="0"/>
          </a:p>
          <a:p>
            <a:pPr marL="342900" indent="-342900" algn="l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2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OFAC / UN / EU / PEP coverage</a:t>
            </a:r>
            <a:endParaRPr lang="en-US" sz="1020" dirty="0"/>
          </a:p>
        </p:txBody>
      </p:sp>
      <p:sp>
        <p:nvSpPr>
          <p:cNvPr id="30" name="Shape 25"/>
          <p:cNvSpPr/>
          <p:nvPr/>
        </p:nvSpPr>
        <p:spPr>
          <a:xfrm>
            <a:off x="7293254" y="2121408"/>
            <a:ext cx="2095805" cy="3383280"/>
          </a:xfrm>
          <a:prstGeom prst="roundRect">
            <a:avLst>
              <a:gd name="adj" fmla="val 305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7293254" y="2121408"/>
            <a:ext cx="2095805" cy="1298448"/>
          </a:xfrm>
          <a:prstGeom prst="roundRect">
            <a:avLst>
              <a:gd name="adj" fmla="val 4930"/>
            </a:avLst>
          </a:prstGeom>
          <a:solidFill>
            <a:srgbClr val="E6F3EC"/>
          </a:solidFill>
          <a:ln/>
        </p:spPr>
      </p:sp>
      <p:sp>
        <p:nvSpPr>
          <p:cNvPr id="32" name="Shape 27"/>
          <p:cNvSpPr/>
          <p:nvPr/>
        </p:nvSpPr>
        <p:spPr>
          <a:xfrm>
            <a:off x="7293254" y="2761488"/>
            <a:ext cx="2095805" cy="658368"/>
          </a:xfrm>
          <a:prstGeom prst="rect">
            <a:avLst/>
          </a:prstGeom>
          <a:solidFill>
            <a:srgbClr val="E6F3EC"/>
          </a:solidFill>
          <a:ln/>
        </p:spPr>
      </p:sp>
      <p:sp>
        <p:nvSpPr>
          <p:cNvPr id="33" name="Shape 28"/>
          <p:cNvSpPr/>
          <p:nvPr/>
        </p:nvSpPr>
        <p:spPr>
          <a:xfrm>
            <a:off x="8011973" y="2322576"/>
            <a:ext cx="658368" cy="658368"/>
          </a:xfrm>
          <a:prstGeom prst="ellipse">
            <a:avLst/>
          </a:prstGeom>
          <a:solidFill>
            <a:srgbClr val="1F8B5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6565" y="2487168"/>
            <a:ext cx="329184" cy="32918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402982" y="3054096"/>
            <a:ext cx="18763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Document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7384694" y="3547872"/>
            <a:ext cx="1912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kern="0" spc="50" dirty="0">
                <a:solidFill>
                  <a:srgbClr val="1F8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VALIDATION</a:t>
            </a:r>
            <a:endParaRPr lang="en-US" sz="860" dirty="0"/>
          </a:p>
        </p:txBody>
      </p:sp>
      <p:sp>
        <p:nvSpPr>
          <p:cNvPr id="37" name="Text 31"/>
          <p:cNvSpPr/>
          <p:nvPr/>
        </p:nvSpPr>
        <p:spPr>
          <a:xfrm>
            <a:off x="7494422" y="3913632"/>
            <a:ext cx="1730045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2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invoice, BoL, PO, LC, customs data</a:t>
            </a:r>
            <a:endParaRPr lang="en-US" sz="1020" dirty="0"/>
          </a:p>
          <a:p>
            <a:pPr marL="342900" indent="-342900" algn="l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2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field matching</a:t>
            </a:r>
            <a:endParaRPr lang="en-US" sz="1020" dirty="0"/>
          </a:p>
          <a:p>
            <a:pPr marL="342900" indent="-342900" algn="l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2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Duplicate-invoice &amp; TBML detection</a:t>
            </a:r>
            <a:endParaRPr lang="en-US" sz="1020" dirty="0"/>
          </a:p>
        </p:txBody>
      </p:sp>
      <p:sp>
        <p:nvSpPr>
          <p:cNvPr id="38" name="Shape 32"/>
          <p:cNvSpPr/>
          <p:nvPr/>
        </p:nvSpPr>
        <p:spPr>
          <a:xfrm>
            <a:off x="9535363" y="2121408"/>
            <a:ext cx="2095805" cy="3383280"/>
          </a:xfrm>
          <a:prstGeom prst="roundRect">
            <a:avLst>
              <a:gd name="adj" fmla="val 305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9535363" y="2121408"/>
            <a:ext cx="2095805" cy="1298448"/>
          </a:xfrm>
          <a:prstGeom prst="roundRect">
            <a:avLst>
              <a:gd name="adj" fmla="val 4930"/>
            </a:avLst>
          </a:prstGeom>
          <a:solidFill>
            <a:srgbClr val="FBF1E2"/>
          </a:solidFill>
          <a:ln/>
        </p:spPr>
      </p:sp>
      <p:sp>
        <p:nvSpPr>
          <p:cNvPr id="40" name="Shape 34"/>
          <p:cNvSpPr/>
          <p:nvPr/>
        </p:nvSpPr>
        <p:spPr>
          <a:xfrm>
            <a:off x="9535363" y="2761488"/>
            <a:ext cx="2095805" cy="658368"/>
          </a:xfrm>
          <a:prstGeom prst="rect">
            <a:avLst/>
          </a:prstGeom>
          <a:solidFill>
            <a:srgbClr val="FBF1E2"/>
          </a:solidFill>
          <a:ln/>
        </p:spPr>
      </p:sp>
      <p:sp>
        <p:nvSpPr>
          <p:cNvPr id="41" name="Shape 35"/>
          <p:cNvSpPr/>
          <p:nvPr/>
        </p:nvSpPr>
        <p:spPr>
          <a:xfrm>
            <a:off x="10254082" y="2322576"/>
            <a:ext cx="658368" cy="658368"/>
          </a:xfrm>
          <a:prstGeom prst="ellipse">
            <a:avLst/>
          </a:prstGeom>
          <a:solidFill>
            <a:srgbClr val="D98324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8674" y="2487168"/>
            <a:ext cx="329184" cy="329184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9645091" y="3054096"/>
            <a:ext cx="18763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Intel</a:t>
            </a:r>
            <a:endParaRPr lang="en-US" sz="1400" dirty="0"/>
          </a:p>
        </p:txBody>
      </p:sp>
      <p:sp>
        <p:nvSpPr>
          <p:cNvPr id="44" name="Text 37"/>
          <p:cNvSpPr/>
          <p:nvPr/>
        </p:nvSpPr>
        <p:spPr>
          <a:xfrm>
            <a:off x="9626803" y="3547872"/>
            <a:ext cx="1912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kern="0" spc="5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 / RBI / DGFT</a:t>
            </a:r>
            <a:endParaRPr lang="en-US" sz="860" dirty="0"/>
          </a:p>
        </p:txBody>
      </p:sp>
      <p:sp>
        <p:nvSpPr>
          <p:cNvPr id="45" name="Text 38"/>
          <p:cNvSpPr/>
          <p:nvPr/>
        </p:nvSpPr>
        <p:spPr>
          <a:xfrm>
            <a:off x="9736531" y="3913632"/>
            <a:ext cx="1730045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2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of regulatory sources</a:t>
            </a:r>
            <a:endParaRPr lang="en-US" sz="1020" dirty="0"/>
          </a:p>
          <a:p>
            <a:pPr marL="342900" indent="-342900" algn="l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2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summary of what changed + impact</a:t>
            </a:r>
            <a:endParaRPr lang="en-US" sz="1020" dirty="0"/>
          </a:p>
          <a:p>
            <a:pPr marL="342900" indent="-342900" algn="l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2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required operational actions</a:t>
            </a:r>
            <a:endParaRPr lang="en-US" sz="10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656893" cy="292608"/>
          </a:xfrm>
          <a:prstGeom prst="roundRect">
            <a:avLst>
              <a:gd name="adj" fmla="val 15625"/>
            </a:avLst>
          </a:prstGeom>
          <a:solidFill>
            <a:srgbClr val="5B4FD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16568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MAPPING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Pain Point, Its Agent, Its Outcome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center of the proposal: each current-state pain point, the agent that owns it, and the operational change it delivers.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84832"/>
          <a:ext cx="11064240" cy="4151376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Pain 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Is Resolved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KYC / KYB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4758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document &amp; UBO review; inconsistent scoring; slow onboarding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B54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4758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extraction &amp; UBO verification on a standard risk model — onboarding compresses from days to minutes, scored consistently for every applicant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AML Monitoring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4758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positives from static rules; novel patterns missed; manual review doesn’t scale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B8A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4758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Pattern-based anomaly detection replaces fixed thresholds — cutting false positives and surfacing structuring / layering that rules miss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Sanctions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4758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Fuzzy-match false positives; disposition backlog; periodic re-screening gaps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5B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4758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AI-enhanced matching reduces false positives; continuous screening closes the gaps between cycles; faster disposition of real hits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Documents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4758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error-prone field matching; no systematic TBML detection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F8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Document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4758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cross-document validation catches mismatches &amp; duplicate invoices; pattern detection surfaces trade-based laundering at scale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4758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tracking across regulators; slow, inconsistent operational translation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D983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Intel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4758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monitoring with GenAI summaries of what changed, the impact, and required actions — shortening change-to-implementation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Cross-cutting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4758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Officer must run the full investigation across all five areas before approving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Copilot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4758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Consolidates all five agents into one risk score &amp; recommendation per transaction — the officer reviews a decision, not the investigation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560320"/>
            <a:ext cx="6035040" cy="6035040"/>
          </a:xfrm>
          <a:prstGeom prst="ellipse">
            <a:avLst/>
          </a:prstGeom>
          <a:solidFill>
            <a:srgbClr val="1B8A9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20624"/>
            <a:ext cx="1656893" cy="292608"/>
          </a:xfrm>
          <a:prstGeom prst="roundRect">
            <a:avLst>
              <a:gd name="adj" fmla="val 15625"/>
            </a:avLst>
          </a:prstGeom>
          <a:solidFill>
            <a:srgbClr val="D9832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20624"/>
            <a:ext cx="16568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FRAMEWORK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76809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Building Blocks of an AI Product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product is assembled from four layers. The intelligence is rented through APIs; the product design — what each layer does and where AI plugs in — is what TradePe owns.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249424"/>
            <a:ext cx="2628900" cy="3200400"/>
          </a:xfrm>
          <a:prstGeom prst="roundRect">
            <a:avLst>
              <a:gd name="adj" fmla="val 2435"/>
            </a:avLst>
          </a:prstGeom>
          <a:solidFill>
            <a:srgbClr val="26385C"/>
          </a:solidFill>
          <a:ln w="12700">
            <a:solidFill>
              <a:srgbClr val="3A4E73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06474" y="2523744"/>
            <a:ext cx="749808" cy="749808"/>
          </a:xfrm>
          <a:prstGeom prst="ellipse">
            <a:avLst/>
          </a:prstGeom>
          <a:solidFill>
            <a:srgbClr val="1B8A9E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926" y="2711196"/>
            <a:ext cx="374904" cy="374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3383280"/>
            <a:ext cx="2446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 End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58368" y="3730752"/>
            <a:ext cx="2446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kern="0" spc="40" dirty="0">
                <a:solidFill>
                  <a:srgbClr val="1B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SEE &amp; DO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68096" y="4041648"/>
            <a:ext cx="22265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screens: the officer's decision queue, the analyst's case workbench, the MLRO's dashboard.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" y="5029200"/>
            <a:ext cx="2299716" cy="292608"/>
          </a:xfrm>
          <a:prstGeom prst="roundRect">
            <a:avLst>
              <a:gd name="adj" fmla="val 15625"/>
            </a:avLst>
          </a:prstGeom>
          <a:solidFill>
            <a:srgbClr val="1B8A9E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5029200"/>
            <a:ext cx="22997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TradePe owns this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378708" y="2249424"/>
            <a:ext cx="2628900" cy="3200400"/>
          </a:xfrm>
          <a:prstGeom prst="roundRect">
            <a:avLst>
              <a:gd name="adj" fmla="val 2435"/>
            </a:avLst>
          </a:prstGeom>
          <a:solidFill>
            <a:srgbClr val="26385C"/>
          </a:solidFill>
          <a:ln w="12700">
            <a:solidFill>
              <a:srgbClr val="3A4E73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18254" y="2523744"/>
            <a:ext cx="749808" cy="749808"/>
          </a:xfrm>
          <a:prstGeom prst="ellipse">
            <a:avLst/>
          </a:prstGeom>
          <a:solidFill>
            <a:srgbClr val="5B4FD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5706" y="2711196"/>
            <a:ext cx="374904" cy="37490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70148" y="3383280"/>
            <a:ext cx="2446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End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3470148" y="3730752"/>
            <a:ext cx="2446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kern="0" spc="40" dirty="0">
                <a:solidFill>
                  <a:srgbClr val="5B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 &amp; AI ORCHESTRATION</a:t>
            </a:r>
            <a:endParaRPr lang="en-US" sz="840" dirty="0"/>
          </a:p>
        </p:txBody>
      </p:sp>
      <p:sp>
        <p:nvSpPr>
          <p:cNvPr id="20" name="Text 16"/>
          <p:cNvSpPr/>
          <p:nvPr/>
        </p:nvSpPr>
        <p:spPr>
          <a:xfrm>
            <a:off x="3579876" y="4041648"/>
            <a:ext cx="22265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fire actions: enrich, screen, score, consolidate — sequencing the agents and the model calls.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543300" y="5029200"/>
            <a:ext cx="2299716" cy="292608"/>
          </a:xfrm>
          <a:prstGeom prst="roundRect">
            <a:avLst>
              <a:gd name="adj" fmla="val 15625"/>
            </a:avLst>
          </a:prstGeom>
          <a:solidFill>
            <a:srgbClr val="5B4FD6"/>
          </a:solidFill>
          <a:ln/>
        </p:spPr>
      </p:sp>
      <p:sp>
        <p:nvSpPr>
          <p:cNvPr id="22" name="Text 18"/>
          <p:cNvSpPr/>
          <p:nvPr/>
        </p:nvSpPr>
        <p:spPr>
          <a:xfrm>
            <a:off x="3543300" y="5029200"/>
            <a:ext cx="22997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TradePe owns this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190488" y="2249424"/>
            <a:ext cx="2628900" cy="3200400"/>
          </a:xfrm>
          <a:prstGeom prst="roundRect">
            <a:avLst>
              <a:gd name="adj" fmla="val 2435"/>
            </a:avLst>
          </a:prstGeom>
          <a:solidFill>
            <a:srgbClr val="26385C"/>
          </a:solidFill>
          <a:ln w="12700">
            <a:solidFill>
              <a:srgbClr val="3A4E73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130034" y="2523744"/>
            <a:ext cx="749808" cy="749808"/>
          </a:xfrm>
          <a:prstGeom prst="ellipse">
            <a:avLst/>
          </a:prstGeom>
          <a:solidFill>
            <a:srgbClr val="1F8B5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7486" y="2711196"/>
            <a:ext cx="374904" cy="37490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81928" y="3383280"/>
            <a:ext cx="2446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6281928" y="3730752"/>
            <a:ext cx="2446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kern="0" spc="40" dirty="0">
                <a:solidFill>
                  <a:srgbClr val="1F8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REMEMBERS</a:t>
            </a:r>
            <a:endParaRPr lang="en-US" sz="840" dirty="0"/>
          </a:p>
        </p:txBody>
      </p:sp>
      <p:sp>
        <p:nvSpPr>
          <p:cNvPr id="28" name="Text 23"/>
          <p:cNvSpPr/>
          <p:nvPr/>
        </p:nvSpPr>
        <p:spPr>
          <a:xfrm>
            <a:off x="6391656" y="4041648"/>
            <a:ext cx="22265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transactions, documents, screening hits, agent runs, decisions — the memory and audit trail.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355080" y="5029200"/>
            <a:ext cx="2299716" cy="292608"/>
          </a:xfrm>
          <a:prstGeom prst="roundRect">
            <a:avLst>
              <a:gd name="adj" fmla="val 15625"/>
            </a:avLst>
          </a:prstGeom>
          <a:solidFill>
            <a:srgbClr val="1F8B5F"/>
          </a:solidFill>
          <a:ln/>
        </p:spPr>
      </p:sp>
      <p:sp>
        <p:nvSpPr>
          <p:cNvPr id="30" name="Text 25"/>
          <p:cNvSpPr/>
          <p:nvPr/>
        </p:nvSpPr>
        <p:spPr>
          <a:xfrm>
            <a:off x="6355080" y="5029200"/>
            <a:ext cx="22997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TradePe owns this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9002268" y="2249424"/>
            <a:ext cx="2628900" cy="3200400"/>
          </a:xfrm>
          <a:prstGeom prst="roundRect">
            <a:avLst>
              <a:gd name="adj" fmla="val 2435"/>
            </a:avLst>
          </a:prstGeom>
          <a:solidFill>
            <a:srgbClr val="26385C"/>
          </a:solidFill>
          <a:ln w="12700">
            <a:solidFill>
              <a:srgbClr val="3A4E73"/>
            </a:solidFill>
            <a:prstDash val="solid"/>
          </a:ln>
          <a:effectLst>
            <a:outerShdw blurRad="127000" dist="38100" dir="5400000" algn="bl" rotWithShape="0">
              <a:srgbClr val="1B2A4A">
                <a:alpha val="2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9941814" y="2523744"/>
            <a:ext cx="749808" cy="749808"/>
          </a:xfrm>
          <a:prstGeom prst="ellipse">
            <a:avLst/>
          </a:prstGeom>
          <a:solidFill>
            <a:srgbClr val="D98324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9266" y="2711196"/>
            <a:ext cx="374904" cy="37490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093708" y="3383280"/>
            <a:ext cx="2446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APIs</a:t>
            </a:r>
            <a:endParaRPr lang="en-US" sz="1700" dirty="0"/>
          </a:p>
        </p:txBody>
      </p:sp>
      <p:sp>
        <p:nvSpPr>
          <p:cNvPr id="35" name="Text 29"/>
          <p:cNvSpPr/>
          <p:nvPr/>
        </p:nvSpPr>
        <p:spPr>
          <a:xfrm>
            <a:off x="9093708" y="3730752"/>
            <a:ext cx="2446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kern="0" spc="4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LEVERAGE ENTERS</a:t>
            </a:r>
            <a:endParaRPr lang="en-US" sz="840" dirty="0"/>
          </a:p>
        </p:txBody>
      </p:sp>
      <p:sp>
        <p:nvSpPr>
          <p:cNvPr id="36" name="Text 30"/>
          <p:cNvSpPr/>
          <p:nvPr/>
        </p:nvSpPr>
        <p:spPr>
          <a:xfrm>
            <a:off x="9203436" y="4041648"/>
            <a:ext cx="22265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APIs connect front to back; external APIs bring the AI — LLMs, document AI, sanctions data.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9166860" y="5029200"/>
            <a:ext cx="2299716" cy="292608"/>
          </a:xfrm>
          <a:prstGeom prst="roundRect">
            <a:avLst>
              <a:gd name="adj" fmla="val 15625"/>
            </a:avLst>
          </a:prstGeom>
          <a:solidFill>
            <a:srgbClr val="D98324"/>
          </a:solidFill>
          <a:ln/>
        </p:spPr>
      </p:sp>
      <p:sp>
        <p:nvSpPr>
          <p:cNvPr id="38" name="Text 32"/>
          <p:cNvSpPr/>
          <p:nvPr/>
        </p:nvSpPr>
        <p:spPr>
          <a:xfrm>
            <a:off x="9166860" y="5029200"/>
            <a:ext cx="22997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TradePe owns this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566928" y="616305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FA1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craft of product management is deciding what each layer does — and where the AI plugs in.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741018" cy="292608"/>
          </a:xfrm>
          <a:prstGeom prst="roundRect">
            <a:avLst>
              <a:gd name="adj" fmla="val 15625"/>
            </a:avLst>
          </a:prstGeom>
          <a:solidFill>
            <a:srgbClr val="1B8A9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1741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 · USERS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Uses the Copilot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 touch the system, each with a very different job — and so a very different screen. Designing for their reality is the front-end task.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157984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414016"/>
            <a:ext cx="768096" cy="768096"/>
          </a:xfrm>
          <a:prstGeom prst="ellipse">
            <a:avLst/>
          </a:prstGeom>
          <a:solidFill>
            <a:srgbClr val="1B2A4A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60604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47088" y="234086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Officer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847088" y="2724912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 </a:t>
            </a:r>
            <a:r>
              <a:rPr lang="en-US" sz="110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consolidated recommendation per transaction; approves, escalates, or releases payment.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24928" y="2322576"/>
            <a:ext cx="4005072" cy="950976"/>
          </a:xfrm>
          <a:prstGeom prst="roundRect">
            <a:avLst>
              <a:gd name="adj" fmla="val 5769"/>
            </a:avLst>
          </a:prstGeom>
          <a:solidFill>
            <a:srgbClr val="EAEEF4"/>
          </a:solidFill>
          <a:ln/>
        </p:spPr>
      </p:sp>
      <p:sp>
        <p:nvSpPr>
          <p:cNvPr id="12" name="Text 9"/>
          <p:cNvSpPr/>
          <p:nvPr/>
        </p:nvSpPr>
        <p:spPr>
          <a:xfrm>
            <a:off x="7626096" y="2450592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NEEDS</a:t>
            </a:r>
            <a:endParaRPr lang="en-US" sz="860" dirty="0"/>
          </a:p>
        </p:txBody>
      </p:sp>
      <p:sp>
        <p:nvSpPr>
          <p:cNvPr id="13" name="Text 10"/>
          <p:cNvSpPr/>
          <p:nvPr/>
        </p:nvSpPr>
        <p:spPr>
          <a:xfrm>
            <a:off x="7626096" y="2706624"/>
            <a:ext cx="3621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6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queue · one-glance risk score · agent breakdown · approve / escalate actions</a:t>
            </a:r>
            <a:endParaRPr lang="en-US" sz="1060" dirty="0"/>
          </a:p>
        </p:txBody>
      </p:sp>
      <p:sp>
        <p:nvSpPr>
          <p:cNvPr id="14" name="Shape 11"/>
          <p:cNvSpPr/>
          <p:nvPr/>
        </p:nvSpPr>
        <p:spPr>
          <a:xfrm>
            <a:off x="566928" y="3584448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41248" y="3840480"/>
            <a:ext cx="768096" cy="768096"/>
          </a:xfrm>
          <a:prstGeom prst="ellipse">
            <a:avLst/>
          </a:prstGeom>
          <a:solidFill>
            <a:srgbClr val="B5482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032504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847088" y="376732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AML / Sanctions Analyst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1847088" y="4151376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 </a:t>
            </a:r>
            <a:r>
              <a:rPr lang="en-US" sz="110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Investigates flagged cases, dispositions sanctions matches, and documents a defensible rationale.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424928" y="3749040"/>
            <a:ext cx="4005072" cy="950976"/>
          </a:xfrm>
          <a:prstGeom prst="roundRect">
            <a:avLst>
              <a:gd name="adj" fmla="val 5769"/>
            </a:avLst>
          </a:prstGeom>
          <a:solidFill>
            <a:srgbClr val="F7ECE8"/>
          </a:solidFill>
          <a:ln/>
        </p:spPr>
      </p:sp>
      <p:sp>
        <p:nvSpPr>
          <p:cNvPr id="20" name="Text 16"/>
          <p:cNvSpPr/>
          <p:nvPr/>
        </p:nvSpPr>
        <p:spPr>
          <a:xfrm>
            <a:off x="7626096" y="3877056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80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NEEDS</a:t>
            </a:r>
            <a:endParaRPr lang="en-US" sz="860" dirty="0"/>
          </a:p>
        </p:txBody>
      </p:sp>
      <p:sp>
        <p:nvSpPr>
          <p:cNvPr id="21" name="Text 17"/>
          <p:cNvSpPr/>
          <p:nvPr/>
        </p:nvSpPr>
        <p:spPr>
          <a:xfrm>
            <a:off x="7626096" y="4133088"/>
            <a:ext cx="3621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6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workbench · assembled evidence · match comparison · disposition + notes</a:t>
            </a:r>
            <a:endParaRPr lang="en-US" sz="1060" dirty="0"/>
          </a:p>
        </p:txBody>
      </p:sp>
      <p:sp>
        <p:nvSpPr>
          <p:cNvPr id="22" name="Shape 18"/>
          <p:cNvSpPr/>
          <p:nvPr/>
        </p:nvSpPr>
        <p:spPr>
          <a:xfrm>
            <a:off x="566928" y="5010912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41248" y="5266944"/>
            <a:ext cx="768096" cy="768096"/>
          </a:xfrm>
          <a:prstGeom prst="ellipse">
            <a:avLst/>
          </a:prstGeom>
          <a:solidFill>
            <a:srgbClr val="5B4FD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5458968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847088" y="519379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MLRO / Head of Compliance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1847088" y="557784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5B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 </a:t>
            </a:r>
            <a:r>
              <a:rPr lang="en-US" sz="110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throughput and SLA, files STRs where required, and owns the audit trail and reporting.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7424928" y="5175504"/>
            <a:ext cx="4005072" cy="950976"/>
          </a:xfrm>
          <a:prstGeom prst="roundRect">
            <a:avLst>
              <a:gd name="adj" fmla="val 5769"/>
            </a:avLst>
          </a:prstGeom>
          <a:solidFill>
            <a:srgbClr val="ECEAFA"/>
          </a:solidFill>
          <a:ln/>
        </p:spPr>
      </p:sp>
      <p:sp>
        <p:nvSpPr>
          <p:cNvPr id="28" name="Text 23"/>
          <p:cNvSpPr/>
          <p:nvPr/>
        </p:nvSpPr>
        <p:spPr>
          <a:xfrm>
            <a:off x="7626096" y="5303520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80" dirty="0">
                <a:solidFill>
                  <a:srgbClr val="5B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NEEDS</a:t>
            </a:r>
            <a:endParaRPr lang="en-US" sz="860" dirty="0"/>
          </a:p>
        </p:txBody>
      </p:sp>
      <p:sp>
        <p:nvSpPr>
          <p:cNvPr id="29" name="Text 24"/>
          <p:cNvSpPr/>
          <p:nvPr/>
        </p:nvSpPr>
        <p:spPr>
          <a:xfrm>
            <a:off x="7626096" y="5559552"/>
            <a:ext cx="3621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6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dashboard · SLA &amp; backlog · STR queue · audit export</a:t>
            </a:r>
            <a:endParaRPr lang="en-US" sz="1060" dirty="0"/>
          </a:p>
        </p:txBody>
      </p:sp>
      <p:sp>
        <p:nvSpPr>
          <p:cNvPr id="30" name="Text 25"/>
          <p:cNvSpPr/>
          <p:nvPr/>
        </p:nvSpPr>
        <p:spPr>
          <a:xfrm>
            <a:off x="566928" y="62727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A9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roles, three screens — that's the front end.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825142" cy="292608"/>
          </a:xfrm>
          <a:prstGeom prst="roundRect">
            <a:avLst>
              <a:gd name="adj" fmla="val 15625"/>
            </a:avLst>
          </a:prstGeom>
          <a:solidFill>
            <a:srgbClr val="1B8A9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18251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 · MOCKUP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Compliance Command Center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officer's screen leads with a decision — one consolidated score, one recommendation, the evidence one glance away — not a five-part investigation.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121408"/>
            <a:ext cx="11064240" cy="4462272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/>
          <a:effectLst>
            <a:outerShdw blurRad="165100" dist="38100" dir="5400000" algn="bl" rotWithShape="0">
              <a:srgbClr val="1B2A4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12140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E9EEF3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258568"/>
            <a:ext cx="109728" cy="109728"/>
          </a:xfrm>
          <a:prstGeom prst="ellipse">
            <a:avLst/>
          </a:prstGeom>
          <a:solidFill>
            <a:srgbClr val="E06C5E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258568"/>
            <a:ext cx="109728" cy="109728"/>
          </a:xfrm>
          <a:prstGeom prst="ellipse">
            <a:avLst/>
          </a:prstGeom>
          <a:solidFill>
            <a:srgbClr val="E0A23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258568"/>
            <a:ext cx="109728" cy="109728"/>
          </a:xfrm>
          <a:prstGeom prst="ellipse">
            <a:avLst/>
          </a:prstGeom>
          <a:solidFill>
            <a:srgbClr val="6FBF73"/>
          </a:solidFill>
          <a:ln/>
        </p:spPr>
      </p:sp>
      <p:sp>
        <p:nvSpPr>
          <p:cNvPr id="11" name="Shape 9"/>
          <p:cNvSpPr/>
          <p:nvPr/>
        </p:nvSpPr>
        <p:spPr>
          <a:xfrm>
            <a:off x="1408176" y="2212848"/>
            <a:ext cx="42062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36192" y="22128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tradepe.app/compliance/queue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2505456"/>
            <a:ext cx="11064240" cy="5120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2505456"/>
            <a:ext cx="685982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TradePe · Compliance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213909" y="2505456"/>
            <a:ext cx="61795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2C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8 awaiting decision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017520"/>
            <a:ext cx="11064240" cy="475488"/>
          </a:xfrm>
          <a:prstGeom prst="rect">
            <a:avLst/>
          </a:prstGeom>
          <a:solidFill>
            <a:srgbClr val="F6EFE4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01752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TXN-4471</a:t>
            </a:r>
            <a:r>
              <a:rPr lang="en-US" sz="110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$50,000 Export Payment  ·  Exporter: Surya Handlooms Pvt Ltd (Surat, GJ)  ·  2 min ago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948672" y="3136392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E7F2F4"/>
          </a:solidFill>
          <a:ln w="9525">
            <a:solidFill>
              <a:srgbClr val="1B8A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48672" y="31363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" y="36941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Recommendation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8678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B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Generated by the orchestration layer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41248" y="4297680"/>
            <a:ext cx="2286000" cy="1371600"/>
          </a:xfrm>
          <a:prstGeom prst="roundRect">
            <a:avLst>
              <a:gd name="adj" fmla="val 4667"/>
            </a:avLst>
          </a:prstGeom>
          <a:solidFill>
            <a:srgbClr val="E6F3EC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4370832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F8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841248" y="51755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  consolidated risk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10128" y="4297680"/>
            <a:ext cx="23774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44439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kern="0" spc="6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3630168" y="4718304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1F8B5F"/>
          </a:solidFill>
          <a:ln/>
        </p:spPr>
      </p:sp>
      <p:sp>
        <p:nvSpPr>
          <p:cNvPr id="28" name="Text 26"/>
          <p:cNvSpPr/>
          <p:nvPr/>
        </p:nvSpPr>
        <p:spPr>
          <a:xfrm>
            <a:off x="3630168" y="47183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10128" y="5230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Standard-risk · within corridor norms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44768" y="369417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results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44768" y="4023360"/>
            <a:ext cx="5212080" cy="548640"/>
          </a:xfrm>
          <a:prstGeom prst="roundRect">
            <a:avLst>
              <a:gd name="adj" fmla="val 8333"/>
            </a:avLst>
          </a:prstGeom>
          <a:solidFill>
            <a:srgbClr val="EEF2F6"/>
          </a:solidFill>
          <a:ln/>
        </p:spPr>
      </p:sp>
      <p:sp>
        <p:nvSpPr>
          <p:cNvPr id="32" name="Shape 30"/>
          <p:cNvSpPr/>
          <p:nvPr/>
        </p:nvSpPr>
        <p:spPr>
          <a:xfrm>
            <a:off x="6254496" y="4123944"/>
            <a:ext cx="347472" cy="347472"/>
          </a:xfrm>
          <a:prstGeom prst="ellipse">
            <a:avLst/>
          </a:prstGeom>
          <a:solidFill>
            <a:srgbClr val="B5482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889" y="4207337"/>
            <a:ext cx="180685" cy="180685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6711696" y="409651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Risk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711696" y="429768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3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verified · standing score 18</a:t>
            </a:r>
            <a:endParaRPr lang="en-US" sz="930" dirty="0"/>
          </a:p>
        </p:txBody>
      </p:sp>
      <p:sp>
        <p:nvSpPr>
          <p:cNvPr id="36" name="Text 33"/>
          <p:cNvSpPr/>
          <p:nvPr/>
        </p:nvSpPr>
        <p:spPr>
          <a:xfrm>
            <a:off x="10972800" y="402336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8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144768" y="4663440"/>
            <a:ext cx="5212080" cy="548640"/>
          </a:xfrm>
          <a:prstGeom prst="roundRect">
            <a:avLst>
              <a:gd name="adj" fmla="val 8333"/>
            </a:avLst>
          </a:prstGeom>
          <a:solidFill>
            <a:srgbClr val="EEF2F6"/>
          </a:solidFill>
          <a:ln/>
        </p:spPr>
      </p:sp>
      <p:sp>
        <p:nvSpPr>
          <p:cNvPr id="38" name="Shape 35"/>
          <p:cNvSpPr/>
          <p:nvPr/>
        </p:nvSpPr>
        <p:spPr>
          <a:xfrm>
            <a:off x="6254496" y="4764024"/>
            <a:ext cx="347472" cy="347472"/>
          </a:xfrm>
          <a:prstGeom prst="ellipse">
            <a:avLst/>
          </a:prstGeom>
          <a:solidFill>
            <a:srgbClr val="5B4FD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7889" y="4847417"/>
            <a:ext cx="180685" cy="180685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6711696" y="473659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6711696" y="493776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3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· beneficiary screened live</a:t>
            </a:r>
            <a:endParaRPr lang="en-US" sz="930" dirty="0"/>
          </a:p>
        </p:txBody>
      </p:sp>
      <p:sp>
        <p:nvSpPr>
          <p:cNvPr id="42" name="Text 38"/>
          <p:cNvSpPr/>
          <p:nvPr/>
        </p:nvSpPr>
        <p:spPr>
          <a:xfrm>
            <a:off x="10972800" y="466344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8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3" name="Shape 39"/>
          <p:cNvSpPr/>
          <p:nvPr/>
        </p:nvSpPr>
        <p:spPr>
          <a:xfrm>
            <a:off x="6144768" y="5303520"/>
            <a:ext cx="5212080" cy="548640"/>
          </a:xfrm>
          <a:prstGeom prst="roundRect">
            <a:avLst>
              <a:gd name="adj" fmla="val 8333"/>
            </a:avLst>
          </a:prstGeom>
          <a:solidFill>
            <a:srgbClr val="EEF2F6"/>
          </a:solidFill>
          <a:ln/>
        </p:spPr>
      </p:sp>
      <p:sp>
        <p:nvSpPr>
          <p:cNvPr id="44" name="Shape 40"/>
          <p:cNvSpPr/>
          <p:nvPr/>
        </p:nvSpPr>
        <p:spPr>
          <a:xfrm>
            <a:off x="6254496" y="5404104"/>
            <a:ext cx="347472" cy="347472"/>
          </a:xfrm>
          <a:prstGeom prst="ellipse">
            <a:avLst/>
          </a:prstGeom>
          <a:solidFill>
            <a:srgbClr val="1F8B5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7889" y="5487497"/>
            <a:ext cx="180685" cy="180685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6711696" y="537667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Document</a:t>
            </a:r>
            <a:endParaRPr lang="en-US" sz="1050" dirty="0"/>
          </a:p>
        </p:txBody>
      </p:sp>
      <p:sp>
        <p:nvSpPr>
          <p:cNvPr id="47" name="Text 42"/>
          <p:cNvSpPr/>
          <p:nvPr/>
        </p:nvSpPr>
        <p:spPr>
          <a:xfrm>
            <a:off x="6711696" y="557784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3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↔ BoL ↔ LC values consistent</a:t>
            </a:r>
            <a:endParaRPr lang="en-US" sz="930" dirty="0"/>
          </a:p>
        </p:txBody>
      </p:sp>
      <p:sp>
        <p:nvSpPr>
          <p:cNvPr id="48" name="Text 43"/>
          <p:cNvSpPr/>
          <p:nvPr/>
        </p:nvSpPr>
        <p:spPr>
          <a:xfrm>
            <a:off x="10972800" y="530352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8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9" name="Shape 44"/>
          <p:cNvSpPr/>
          <p:nvPr/>
        </p:nvSpPr>
        <p:spPr>
          <a:xfrm>
            <a:off x="6144768" y="5943600"/>
            <a:ext cx="5212080" cy="548640"/>
          </a:xfrm>
          <a:prstGeom prst="roundRect">
            <a:avLst>
              <a:gd name="adj" fmla="val 8333"/>
            </a:avLst>
          </a:prstGeom>
          <a:solidFill>
            <a:srgbClr val="EEF2F6"/>
          </a:solidFill>
          <a:ln/>
        </p:spPr>
      </p:sp>
      <p:sp>
        <p:nvSpPr>
          <p:cNvPr id="50" name="Shape 45"/>
          <p:cNvSpPr/>
          <p:nvPr/>
        </p:nvSpPr>
        <p:spPr>
          <a:xfrm>
            <a:off x="6254496" y="6044184"/>
            <a:ext cx="347472" cy="347472"/>
          </a:xfrm>
          <a:prstGeom prst="ellipse">
            <a:avLst/>
          </a:prstGeom>
          <a:solidFill>
            <a:srgbClr val="1B8A9E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5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7889" y="6127577"/>
            <a:ext cx="180685" cy="180685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6711696" y="601675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Monitoring</a:t>
            </a:r>
            <a:endParaRPr lang="en-US" sz="1050" dirty="0"/>
          </a:p>
        </p:txBody>
      </p:sp>
      <p:sp>
        <p:nvSpPr>
          <p:cNvPr id="53" name="Text 47"/>
          <p:cNvSpPr/>
          <p:nvPr/>
        </p:nvSpPr>
        <p:spPr>
          <a:xfrm>
            <a:off x="6711696" y="62179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3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normal for India–US corridor</a:t>
            </a:r>
            <a:endParaRPr lang="en-US" sz="930" dirty="0"/>
          </a:p>
        </p:txBody>
      </p:sp>
      <p:sp>
        <p:nvSpPr>
          <p:cNvPr id="54" name="Text 48"/>
          <p:cNvSpPr/>
          <p:nvPr/>
        </p:nvSpPr>
        <p:spPr>
          <a:xfrm>
            <a:off x="10972800" y="594360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8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5" name="Text 49"/>
          <p:cNvSpPr/>
          <p:nvPr/>
        </p:nvSpPr>
        <p:spPr>
          <a:xfrm>
            <a:off x="566928" y="6601968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8A9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officer reviews a decision, not a queue of raw checks — every agent's evidence is one click deeper.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825142" cy="292608"/>
          </a:xfrm>
          <a:prstGeom prst="roundRect">
            <a:avLst>
              <a:gd name="adj" fmla="val 15625"/>
            </a:avLst>
          </a:prstGeom>
          <a:solidFill>
            <a:srgbClr val="B5482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18251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 · MOCKUP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Analyst Investigation Workbench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agents flag or disagree, the analyst gets the evidence pre-assembled — and records a defensible, auditable disposition in one place.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121408"/>
            <a:ext cx="11064240" cy="4462272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/>
          <a:effectLst>
            <a:outerShdw blurRad="165100" dist="38100" dir="5400000" algn="bl" rotWithShape="0">
              <a:srgbClr val="1B2A4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12140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E9EEF3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258568"/>
            <a:ext cx="109728" cy="109728"/>
          </a:xfrm>
          <a:prstGeom prst="ellipse">
            <a:avLst/>
          </a:prstGeom>
          <a:solidFill>
            <a:srgbClr val="E06C5E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258568"/>
            <a:ext cx="109728" cy="109728"/>
          </a:xfrm>
          <a:prstGeom prst="ellipse">
            <a:avLst/>
          </a:prstGeom>
          <a:solidFill>
            <a:srgbClr val="E0A23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258568"/>
            <a:ext cx="109728" cy="109728"/>
          </a:xfrm>
          <a:prstGeom prst="ellipse">
            <a:avLst/>
          </a:prstGeom>
          <a:solidFill>
            <a:srgbClr val="6FBF73"/>
          </a:solidFill>
          <a:ln/>
        </p:spPr>
      </p:sp>
      <p:sp>
        <p:nvSpPr>
          <p:cNvPr id="11" name="Shape 9"/>
          <p:cNvSpPr/>
          <p:nvPr/>
        </p:nvSpPr>
        <p:spPr>
          <a:xfrm>
            <a:off x="1408176" y="2212848"/>
            <a:ext cx="42062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7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36192" y="22128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tradepe.app/cases/TXN-4490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2505456"/>
            <a:ext cx="11064240" cy="512064"/>
          </a:xfrm>
          <a:prstGeom prst="rect">
            <a:avLst/>
          </a:prstGeom>
          <a:solidFill>
            <a:srgbClr val="B5482F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2505456"/>
            <a:ext cx="685982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TradePe · Case Workbench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213909" y="2505456"/>
            <a:ext cx="61795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2C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Flagged · Tier-1 review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017520"/>
            <a:ext cx="11064240" cy="475488"/>
          </a:xfrm>
          <a:prstGeom prst="rect">
            <a:avLst/>
          </a:prstGeom>
          <a:solidFill>
            <a:srgbClr val="F7ECE8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01752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TXN-4490</a:t>
            </a:r>
            <a:r>
              <a:rPr lang="en-US" sz="110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$128,400 Import Payment  ·  Counterparty: Orion Metals FZE (Dubai, AE)  ·  flagged 14 min ago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259568" y="3136392"/>
            <a:ext cx="1152144" cy="256032"/>
          </a:xfrm>
          <a:prstGeom prst="roundRect">
            <a:avLst>
              <a:gd name="adj" fmla="val 17857"/>
            </a:avLst>
          </a:prstGeom>
          <a:solidFill>
            <a:srgbClr val="FBF1E2"/>
          </a:solidFill>
          <a:ln w="9525">
            <a:solidFill>
              <a:srgbClr val="D983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59568" y="3136392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" y="369417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flagged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41248" y="4023360"/>
            <a:ext cx="5943600" cy="731520"/>
          </a:xfrm>
          <a:prstGeom prst="roundRect">
            <a:avLst>
              <a:gd name="adj" fmla="val 7500"/>
            </a:avLst>
          </a:prstGeom>
          <a:solidFill>
            <a:srgbClr val="EEF2F6"/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" y="4133088"/>
            <a:ext cx="73152" cy="512064"/>
          </a:xfrm>
          <a:prstGeom prst="rect">
            <a:avLst/>
          </a:prstGeom>
          <a:solidFill>
            <a:srgbClr val="1B8A9E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2416" y="4187952"/>
            <a:ext cx="402336" cy="402336"/>
          </a:xfrm>
          <a:prstGeom prst="ellipse">
            <a:avLst/>
          </a:prstGeom>
          <a:solidFill>
            <a:srgbClr val="1B8A9E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88536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591056" y="415137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Monitoring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591056" y="44074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spike — 4× the counterparty's 30-day average</a:t>
            </a:r>
            <a:endParaRPr lang="en-US" sz="980" dirty="0"/>
          </a:p>
        </p:txBody>
      </p:sp>
      <p:sp>
        <p:nvSpPr>
          <p:cNvPr id="27" name="Shape 24"/>
          <p:cNvSpPr/>
          <p:nvPr/>
        </p:nvSpPr>
        <p:spPr>
          <a:xfrm>
            <a:off x="5705856" y="4279392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9832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05856" y="427939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841248" y="4864608"/>
            <a:ext cx="5943600" cy="731520"/>
          </a:xfrm>
          <a:prstGeom prst="roundRect">
            <a:avLst>
              <a:gd name="adj" fmla="val 7500"/>
            </a:avLst>
          </a:prstGeom>
          <a:solidFill>
            <a:srgbClr val="EEF2F6"/>
          </a:solidFill>
          <a:ln/>
        </p:spPr>
      </p:sp>
      <p:sp>
        <p:nvSpPr>
          <p:cNvPr id="30" name="Shape 27"/>
          <p:cNvSpPr/>
          <p:nvPr/>
        </p:nvSpPr>
        <p:spPr>
          <a:xfrm>
            <a:off x="841248" y="4974336"/>
            <a:ext cx="73152" cy="512064"/>
          </a:xfrm>
          <a:prstGeom prst="rect">
            <a:avLst/>
          </a:prstGeom>
          <a:solidFill>
            <a:srgbClr val="5B4FD6"/>
          </a:solidFill>
          <a:ln/>
        </p:spPr>
      </p:sp>
      <p:sp>
        <p:nvSpPr>
          <p:cNvPr id="31" name="Shape 28"/>
          <p:cNvSpPr/>
          <p:nvPr/>
        </p:nvSpPr>
        <p:spPr>
          <a:xfrm>
            <a:off x="1042416" y="5029200"/>
            <a:ext cx="402336" cy="402336"/>
          </a:xfrm>
          <a:prstGeom prst="ellipse">
            <a:avLst/>
          </a:prstGeom>
          <a:solidFill>
            <a:srgbClr val="5B4FD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129784"/>
            <a:ext cx="201168" cy="20116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591056" y="499262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1591056" y="524865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match: 'Orion Metals' on EU list — 87% similarity</a:t>
            </a:r>
            <a:endParaRPr lang="en-US" sz="980" dirty="0"/>
          </a:p>
        </p:txBody>
      </p:sp>
      <p:sp>
        <p:nvSpPr>
          <p:cNvPr id="35" name="Shape 31"/>
          <p:cNvSpPr/>
          <p:nvPr/>
        </p:nvSpPr>
        <p:spPr>
          <a:xfrm>
            <a:off x="5705856" y="5120640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5B4FD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705856" y="512064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841248" y="5705856"/>
            <a:ext cx="5943600" cy="731520"/>
          </a:xfrm>
          <a:prstGeom prst="roundRect">
            <a:avLst>
              <a:gd name="adj" fmla="val 7500"/>
            </a:avLst>
          </a:prstGeom>
          <a:solidFill>
            <a:srgbClr val="EEF2F6"/>
          </a:solidFill>
          <a:ln/>
        </p:spPr>
      </p:sp>
      <p:sp>
        <p:nvSpPr>
          <p:cNvPr id="38" name="Shape 34"/>
          <p:cNvSpPr/>
          <p:nvPr/>
        </p:nvSpPr>
        <p:spPr>
          <a:xfrm>
            <a:off x="841248" y="5815584"/>
            <a:ext cx="73152" cy="512064"/>
          </a:xfrm>
          <a:prstGeom prst="rect">
            <a:avLst/>
          </a:prstGeom>
          <a:solidFill>
            <a:srgbClr val="1F8B5F"/>
          </a:solidFill>
          <a:ln/>
        </p:spPr>
      </p:sp>
      <p:sp>
        <p:nvSpPr>
          <p:cNvPr id="39" name="Shape 35"/>
          <p:cNvSpPr/>
          <p:nvPr/>
        </p:nvSpPr>
        <p:spPr>
          <a:xfrm>
            <a:off x="1042416" y="5870448"/>
            <a:ext cx="402336" cy="402336"/>
          </a:xfrm>
          <a:prstGeom prst="ellipse">
            <a:avLst/>
          </a:prstGeom>
          <a:solidFill>
            <a:srgbClr val="1F8B5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5971032"/>
            <a:ext cx="201168" cy="201168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1591056" y="58338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Document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1591056" y="608990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value 22% above the customs declaration</a:t>
            </a:r>
            <a:endParaRPr lang="en-US" sz="980" dirty="0"/>
          </a:p>
        </p:txBody>
      </p:sp>
      <p:sp>
        <p:nvSpPr>
          <p:cNvPr id="43" name="Shape 38"/>
          <p:cNvSpPr/>
          <p:nvPr/>
        </p:nvSpPr>
        <p:spPr>
          <a:xfrm>
            <a:off x="5705856" y="5961888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98324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5705856" y="596188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7059168" y="3694176"/>
            <a:ext cx="4297680" cy="2779776"/>
          </a:xfrm>
          <a:prstGeom prst="roundRect">
            <a:avLst>
              <a:gd name="adj" fmla="val 2303"/>
            </a:avLst>
          </a:prstGeom>
          <a:solidFill>
            <a:srgbClr val="EAEEF4"/>
          </a:solidFill>
          <a:ln/>
        </p:spPr>
      </p:sp>
      <p:sp>
        <p:nvSpPr>
          <p:cNvPr id="46" name="Text 41"/>
          <p:cNvSpPr/>
          <p:nvPr/>
        </p:nvSpPr>
        <p:spPr>
          <a:xfrm>
            <a:off x="7278624" y="385876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 disposition</a:t>
            </a:r>
            <a:endParaRPr lang="en-US" sz="1350" dirty="0"/>
          </a:p>
        </p:txBody>
      </p:sp>
      <p:sp>
        <p:nvSpPr>
          <p:cNvPr id="47" name="Text 42"/>
          <p:cNvSpPr/>
          <p:nvPr/>
        </p:nvSpPr>
        <p:spPr>
          <a:xfrm>
            <a:off x="7296912" y="4224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6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True match — confirm &amp; escalate</a:t>
            </a:r>
            <a:endParaRPr lang="en-US" sz="1060" dirty="0"/>
          </a:p>
        </p:txBody>
      </p:sp>
      <p:sp>
        <p:nvSpPr>
          <p:cNvPr id="48" name="Text 43"/>
          <p:cNvSpPr/>
          <p:nvPr/>
        </p:nvSpPr>
        <p:spPr>
          <a:xfrm>
            <a:off x="7296912" y="4535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F8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False positive — distinct entity</a:t>
            </a:r>
            <a:endParaRPr lang="en-US" sz="1060" dirty="0"/>
          </a:p>
        </p:txBody>
      </p:sp>
      <p:sp>
        <p:nvSpPr>
          <p:cNvPr id="49" name="Text 44"/>
          <p:cNvSpPr/>
          <p:nvPr/>
        </p:nvSpPr>
        <p:spPr>
          <a:xfrm>
            <a:off x="7296912" y="4846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6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Escalate to MLRO for STR</a:t>
            </a:r>
            <a:endParaRPr lang="en-US" sz="1060" dirty="0"/>
          </a:p>
        </p:txBody>
      </p:sp>
      <p:sp>
        <p:nvSpPr>
          <p:cNvPr id="50" name="Shape 45"/>
          <p:cNvSpPr/>
          <p:nvPr/>
        </p:nvSpPr>
        <p:spPr>
          <a:xfrm>
            <a:off x="7296912" y="5193792"/>
            <a:ext cx="382219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7406640" y="5266944"/>
            <a:ext cx="3621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confirmed as a distinct entity (different CIN/FZE licence); invoice variance explained by Incoterms (CIF vs FOB). Cleared.</a:t>
            </a:r>
            <a:endParaRPr lang="en-US" sz="900" dirty="0"/>
          </a:p>
        </p:txBody>
      </p:sp>
      <p:sp>
        <p:nvSpPr>
          <p:cNvPr id="52" name="Shape 47"/>
          <p:cNvSpPr/>
          <p:nvPr/>
        </p:nvSpPr>
        <p:spPr>
          <a:xfrm>
            <a:off x="7296912" y="5998464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1F8B5F"/>
          </a:solidFill>
          <a:ln/>
        </p:spPr>
      </p:sp>
      <p:sp>
        <p:nvSpPr>
          <p:cNvPr id="53" name="Text 48"/>
          <p:cNvSpPr/>
          <p:nvPr/>
        </p:nvSpPr>
        <p:spPr>
          <a:xfrm>
            <a:off x="7296912" y="599846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disposition</a:t>
            </a:r>
            <a:endParaRPr lang="en-US" sz="950" dirty="0"/>
          </a:p>
        </p:txBody>
      </p:sp>
      <p:sp>
        <p:nvSpPr>
          <p:cNvPr id="54" name="Shape 49"/>
          <p:cNvSpPr/>
          <p:nvPr/>
        </p:nvSpPr>
        <p:spPr>
          <a:xfrm>
            <a:off x="8924544" y="5998464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B4FD6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924544" y="59984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950" dirty="0"/>
          </a:p>
        </p:txBody>
      </p:sp>
      <p:sp>
        <p:nvSpPr>
          <p:cNvPr id="56" name="Text 51"/>
          <p:cNvSpPr/>
          <p:nvPr/>
        </p:nvSpPr>
        <p:spPr>
          <a:xfrm>
            <a:off x="566928" y="6601968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8A9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exception path: agents assemble the evidence, the analyst decides — and the rationale is captured for audit.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983894" cy="292608"/>
          </a:xfrm>
          <a:prstGeom prst="roundRect">
            <a:avLst>
              <a:gd name="adj" fmla="val 15625"/>
            </a:avLst>
          </a:prstGeom>
          <a:solidFill>
            <a:srgbClr val="1F8B5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9838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Remembers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 in the compliance world is a table — and together they are the system's memory and its audit trail. Two tables exist purely so every decision can be reconstructed.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176272"/>
            <a:ext cx="2656332" cy="1792224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176272"/>
            <a:ext cx="2656332" cy="420624"/>
          </a:xfrm>
          <a:prstGeom prst="roundRect">
            <a:avLst>
              <a:gd name="adj" fmla="val 13043"/>
            </a:avLst>
          </a:prstGeom>
          <a:solidFill>
            <a:srgbClr val="B5482F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505456"/>
            <a:ext cx="2656332" cy="91440"/>
          </a:xfrm>
          <a:prstGeom prst="rect">
            <a:avLst/>
          </a:prstGeom>
          <a:solidFill>
            <a:srgbClr val="B5482F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176272"/>
            <a:ext cx="2656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24003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customer_id</a:t>
            </a:r>
            <a:endParaRPr lang="en-US" sz="86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legal_name, iec</a:t>
            </a:r>
            <a:endParaRPr lang="en-US" sz="86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gst_pan, country</a:t>
            </a:r>
            <a:endParaRPr lang="en-US" sz="86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ubo[], risk_score</a:t>
            </a:r>
            <a:endParaRPr lang="en-US" sz="86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kyc_status, onboarded_at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3369564" y="2176272"/>
            <a:ext cx="2656332" cy="1792224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69564" y="2176272"/>
            <a:ext cx="2656332" cy="420624"/>
          </a:xfrm>
          <a:prstGeom prst="roundRect">
            <a:avLst>
              <a:gd name="adj" fmla="val 13043"/>
            </a:avLst>
          </a:prstGeom>
          <a:solidFill>
            <a:srgbClr val="1B8A9E"/>
          </a:solidFill>
          <a:ln/>
        </p:spPr>
      </p:sp>
      <p:sp>
        <p:nvSpPr>
          <p:cNvPr id="13" name="Shape 11"/>
          <p:cNvSpPr/>
          <p:nvPr/>
        </p:nvSpPr>
        <p:spPr>
          <a:xfrm>
            <a:off x="3369564" y="2505456"/>
            <a:ext cx="2656332" cy="91440"/>
          </a:xfrm>
          <a:prstGeom prst="rect">
            <a:avLst/>
          </a:prstGeom>
          <a:solidFill>
            <a:srgbClr val="1B8A9E"/>
          </a:solidFill>
          <a:ln/>
        </p:spPr>
      </p:sp>
      <p:sp>
        <p:nvSpPr>
          <p:cNvPr id="14" name="Text 12"/>
          <p:cNvSpPr/>
          <p:nvPr/>
        </p:nvSpPr>
        <p:spPr>
          <a:xfrm>
            <a:off x="3369564" y="2176272"/>
            <a:ext cx="2656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15868" y="2688336"/>
            <a:ext cx="24003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txn_id, customer_id</a:t>
            </a:r>
            <a:endParaRPr lang="en-US" sz="86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direction, amount</a:t>
            </a:r>
            <a:endParaRPr lang="en-US" sz="86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currency, corridor</a:t>
            </a:r>
            <a:endParaRPr lang="en-US" sz="86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beneficiary, purpose_code</a:t>
            </a:r>
            <a:endParaRPr lang="en-US" sz="86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status, created_at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6172200" y="2176272"/>
            <a:ext cx="2656332" cy="1792224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2176272"/>
            <a:ext cx="2656332" cy="420624"/>
          </a:xfrm>
          <a:prstGeom prst="roundRect">
            <a:avLst>
              <a:gd name="adj" fmla="val 13043"/>
            </a:avLst>
          </a:prstGeom>
          <a:solidFill>
            <a:srgbClr val="1F8B5F"/>
          </a:solidFill>
          <a:ln/>
        </p:spPr>
      </p:sp>
      <p:sp>
        <p:nvSpPr>
          <p:cNvPr id="18" name="Shape 16"/>
          <p:cNvSpPr/>
          <p:nvPr/>
        </p:nvSpPr>
        <p:spPr>
          <a:xfrm>
            <a:off x="6172200" y="2505456"/>
            <a:ext cx="2656332" cy="91440"/>
          </a:xfrm>
          <a:prstGeom prst="rect">
            <a:avLst/>
          </a:prstGeom>
          <a:solidFill>
            <a:srgbClr val="1F8B5F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2176272"/>
            <a:ext cx="2656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18504" y="2688336"/>
            <a:ext cx="24003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doc_id, txn_id</a:t>
            </a:r>
            <a:endParaRPr lang="en-US" sz="86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(invoice/BoL/LC)</a:t>
            </a:r>
            <a:endParaRPr lang="en-US" sz="86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extracted_fields{}</a:t>
            </a:r>
            <a:endParaRPr lang="en-US" sz="86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ocr_confidence</a:t>
            </a:r>
            <a:endParaRPr lang="en-US" sz="86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validation_status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8974836" y="2176272"/>
            <a:ext cx="2656332" cy="1792224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74836" y="2176272"/>
            <a:ext cx="2656332" cy="420624"/>
          </a:xfrm>
          <a:prstGeom prst="roundRect">
            <a:avLst>
              <a:gd name="adj" fmla="val 13043"/>
            </a:avLst>
          </a:prstGeom>
          <a:solidFill>
            <a:srgbClr val="5B4FD6"/>
          </a:solidFill>
          <a:ln/>
        </p:spPr>
      </p:sp>
      <p:sp>
        <p:nvSpPr>
          <p:cNvPr id="23" name="Shape 21"/>
          <p:cNvSpPr/>
          <p:nvPr/>
        </p:nvSpPr>
        <p:spPr>
          <a:xfrm>
            <a:off x="8974836" y="2505456"/>
            <a:ext cx="2656332" cy="91440"/>
          </a:xfrm>
          <a:prstGeom prst="rect">
            <a:avLst/>
          </a:prstGeom>
          <a:solidFill>
            <a:srgbClr val="5B4FD6"/>
          </a:solidFill>
          <a:ln/>
        </p:spPr>
      </p:sp>
      <p:sp>
        <p:nvSpPr>
          <p:cNvPr id="24" name="Text 22"/>
          <p:cNvSpPr/>
          <p:nvPr/>
        </p:nvSpPr>
        <p:spPr>
          <a:xfrm>
            <a:off x="8974836" y="2176272"/>
            <a:ext cx="2656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ScreeningHits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21140" y="2688336"/>
            <a:ext cx="24003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hit_id, entity_id</a:t>
            </a:r>
            <a:endParaRPr lang="en-US" sz="86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(OFAC/UN/EU/PEP)</a:t>
            </a:r>
            <a:endParaRPr lang="en-US" sz="86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match_score</a:t>
            </a:r>
            <a:endParaRPr lang="en-US" sz="86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(cleared/confirmed)</a:t>
            </a:r>
            <a:endParaRPr lang="en-US" sz="86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reviewed_by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1968246" y="4133088"/>
            <a:ext cx="2656332" cy="1792224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968246" y="4133088"/>
            <a:ext cx="2656332" cy="420624"/>
          </a:xfrm>
          <a:prstGeom prst="roundRect">
            <a:avLst>
              <a:gd name="adj" fmla="val 13043"/>
            </a:avLst>
          </a:prstGeom>
          <a:solidFill>
            <a:srgbClr val="D98324"/>
          </a:solidFill>
          <a:ln/>
        </p:spPr>
      </p:sp>
      <p:sp>
        <p:nvSpPr>
          <p:cNvPr id="28" name="Shape 26"/>
          <p:cNvSpPr/>
          <p:nvPr/>
        </p:nvSpPr>
        <p:spPr>
          <a:xfrm>
            <a:off x="1968246" y="4462272"/>
            <a:ext cx="2656332" cy="91440"/>
          </a:xfrm>
          <a:prstGeom prst="rect">
            <a:avLst/>
          </a:prstGeom>
          <a:solidFill>
            <a:srgbClr val="D98324"/>
          </a:solidFill>
          <a:ln/>
        </p:spPr>
      </p:sp>
      <p:sp>
        <p:nvSpPr>
          <p:cNvPr id="29" name="Text 27"/>
          <p:cNvSpPr/>
          <p:nvPr/>
        </p:nvSpPr>
        <p:spPr>
          <a:xfrm>
            <a:off x="1968246" y="4133088"/>
            <a:ext cx="2656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AgentRuns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114550" y="4645152"/>
            <a:ext cx="24003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run_id, txn_id</a:t>
            </a:r>
            <a:endParaRPr lang="en-US" sz="86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agent, output{}</a:t>
            </a:r>
            <a:endParaRPr lang="en-US" sz="86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risk_contribution</a:t>
            </a:r>
            <a:endParaRPr lang="en-US" sz="86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model_version</a:t>
            </a:r>
            <a:endParaRPr lang="en-US" sz="86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latency_ms, ts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770882" y="4133088"/>
            <a:ext cx="2656332" cy="1792224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70882" y="4133088"/>
            <a:ext cx="2656332" cy="420624"/>
          </a:xfrm>
          <a:prstGeom prst="roundRect">
            <a:avLst>
              <a:gd name="adj" fmla="val 13043"/>
            </a:avLst>
          </a:prstGeom>
          <a:solidFill>
            <a:srgbClr val="1B2A4A"/>
          </a:solidFill>
          <a:ln/>
        </p:spPr>
      </p:sp>
      <p:sp>
        <p:nvSpPr>
          <p:cNvPr id="33" name="Shape 31"/>
          <p:cNvSpPr/>
          <p:nvPr/>
        </p:nvSpPr>
        <p:spPr>
          <a:xfrm>
            <a:off x="4770882" y="4462272"/>
            <a:ext cx="2656332" cy="914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4770882" y="4133088"/>
            <a:ext cx="2656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917186" y="4645152"/>
            <a:ext cx="24003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decision_id, txn_id</a:t>
            </a:r>
            <a:endParaRPr lang="en-US" sz="86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consolidated_score</a:t>
            </a:r>
            <a:endParaRPr lang="en-US" sz="86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</a:t>
            </a:r>
            <a:endParaRPr lang="en-US" sz="86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action_taken, officer_id</a:t>
            </a:r>
            <a:endParaRPr lang="en-US" sz="86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rationale, ts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7573518" y="4133088"/>
            <a:ext cx="2656332" cy="1792224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573518" y="4133088"/>
            <a:ext cx="2656332" cy="420624"/>
          </a:xfrm>
          <a:prstGeom prst="roundRect">
            <a:avLst>
              <a:gd name="adj" fmla="val 13043"/>
            </a:avLst>
          </a:prstGeom>
          <a:solidFill>
            <a:srgbClr val="B5482F"/>
          </a:solidFill>
          <a:ln/>
        </p:spPr>
      </p:sp>
      <p:sp>
        <p:nvSpPr>
          <p:cNvPr id="38" name="Shape 36"/>
          <p:cNvSpPr/>
          <p:nvPr/>
        </p:nvSpPr>
        <p:spPr>
          <a:xfrm>
            <a:off x="7573518" y="4462272"/>
            <a:ext cx="2656332" cy="91440"/>
          </a:xfrm>
          <a:prstGeom prst="rect">
            <a:avLst/>
          </a:prstGeom>
          <a:solidFill>
            <a:srgbClr val="B5482F"/>
          </a:solidFill>
          <a:ln/>
        </p:spPr>
      </p:sp>
      <p:sp>
        <p:nvSpPr>
          <p:cNvPr id="39" name="Text 37"/>
          <p:cNvSpPr/>
          <p:nvPr/>
        </p:nvSpPr>
        <p:spPr>
          <a:xfrm>
            <a:off x="7573518" y="4133088"/>
            <a:ext cx="2656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RegUpdates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19822" y="4645152"/>
            <a:ext cx="24003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update_id, source</a:t>
            </a:r>
            <a:endParaRPr lang="en-US" sz="86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summary, impact</a:t>
            </a:r>
            <a:endParaRPr lang="en-US" sz="86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action_required</a:t>
            </a:r>
            <a:endParaRPr lang="en-US" sz="86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60" dirty="0">
                <a:solidFill>
                  <a:srgbClr val="475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status, published_at</a:t>
            </a:r>
            <a:endParaRPr lang="en-US" sz="860" dirty="0"/>
          </a:p>
        </p:txBody>
      </p:sp>
      <p:sp>
        <p:nvSpPr>
          <p:cNvPr id="41" name="Text 39"/>
          <p:cNvSpPr/>
          <p:nvPr/>
        </p:nvSpPr>
        <p:spPr>
          <a:xfrm>
            <a:off x="566928" y="62727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AgentRuns + Decisions are the audit backbone — </a:t>
            </a:r>
            <a:r>
              <a:rPr lang="en-US" sz="110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can be reconstructed field-by-field for a regulator.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2329891" cy="292608"/>
          </a:xfrm>
          <a:prstGeom prst="roundRect">
            <a:avLst>
              <a:gd name="adj" fmla="val 15625"/>
            </a:avLst>
          </a:prstGeom>
          <a:solidFill>
            <a:srgbClr val="5B4FD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23298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 · ORCHESTRATION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Logic &amp; AI Orchestration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trigger fires an action — some deterministic, some a model call. The PM defines the pipeline; the AI provides the steps.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5449824" cy="1298448"/>
          </a:xfrm>
          <a:prstGeom prst="roundRect">
            <a:avLst>
              <a:gd name="adj" fmla="val 4930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231136"/>
            <a:ext cx="91440" cy="104241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286000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transaction arrives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77824" y="2651760"/>
            <a:ext cx="4901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4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customer + beneficiary, fetch corridor risk, persist to Transactions, and fire all four agents in parallel.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6181344" y="2103120"/>
            <a:ext cx="5449824" cy="1298448"/>
          </a:xfrm>
          <a:prstGeom prst="roundRect">
            <a:avLst>
              <a:gd name="adj" fmla="val 4930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81344" y="2231136"/>
            <a:ext cx="91440" cy="1042416"/>
          </a:xfrm>
          <a:prstGeom prst="rect">
            <a:avLst/>
          </a:prstGeom>
          <a:solidFill>
            <a:srgbClr val="1B8A9E"/>
          </a:solidFill>
          <a:ln/>
        </p:spPr>
      </p:sp>
      <p:sp>
        <p:nvSpPr>
          <p:cNvPr id="12" name="Text 10"/>
          <p:cNvSpPr/>
          <p:nvPr/>
        </p:nvSpPr>
        <p:spPr>
          <a:xfrm>
            <a:off x="6473952" y="2286000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8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agents return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92240" y="2651760"/>
            <a:ext cx="4901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4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the four outputs into one risk score, apply policy thresholds, and write a Decisions row with the rationale.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10917936" y="2286000"/>
            <a:ext cx="512064" cy="274320"/>
          </a:xfrm>
          <a:prstGeom prst="roundRect">
            <a:avLst>
              <a:gd name="adj" fmla="val 16667"/>
            </a:avLst>
          </a:prstGeom>
          <a:solidFill>
            <a:srgbClr val="5B4FD6"/>
          </a:solidFill>
          <a:ln/>
        </p:spPr>
      </p:sp>
      <p:sp>
        <p:nvSpPr>
          <p:cNvPr id="15" name="Text 13"/>
          <p:cNvSpPr/>
          <p:nvPr/>
        </p:nvSpPr>
        <p:spPr>
          <a:xfrm>
            <a:off x="10917936" y="22860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3547872"/>
            <a:ext cx="5449824" cy="1298448"/>
          </a:xfrm>
          <a:prstGeom prst="roundRect">
            <a:avLst>
              <a:gd name="adj" fmla="val 4930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3675888"/>
            <a:ext cx="91440" cy="1042416"/>
          </a:xfrm>
          <a:prstGeom prst="rect">
            <a:avLst/>
          </a:prstGeom>
          <a:solidFill>
            <a:srgbClr val="1F8B5F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" y="3730752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F8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documents are attached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77824" y="4096512"/>
            <a:ext cx="4901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4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Document AI to extract fields, then cross-check invoice ↔ BoL ↔ LC ↔ customs and flag any variance.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5303520" y="3730752"/>
            <a:ext cx="512064" cy="274320"/>
          </a:xfrm>
          <a:prstGeom prst="roundRect">
            <a:avLst>
              <a:gd name="adj" fmla="val 16667"/>
            </a:avLst>
          </a:prstGeom>
          <a:solidFill>
            <a:srgbClr val="5B4FD6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373075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81344" y="3547872"/>
            <a:ext cx="5449824" cy="1298448"/>
          </a:xfrm>
          <a:prstGeom prst="roundRect">
            <a:avLst>
              <a:gd name="adj" fmla="val 4930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81344" y="3675888"/>
            <a:ext cx="91440" cy="1042416"/>
          </a:xfrm>
          <a:prstGeom prst="rect">
            <a:avLst/>
          </a:prstGeom>
          <a:solidFill>
            <a:srgbClr val="5B4FD6"/>
          </a:solidFill>
          <a:ln/>
        </p:spPr>
      </p:sp>
      <p:sp>
        <p:nvSpPr>
          <p:cNvPr id="24" name="Text 22"/>
          <p:cNvSpPr/>
          <p:nvPr/>
        </p:nvSpPr>
        <p:spPr>
          <a:xfrm>
            <a:off x="6473952" y="3730752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5B4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name is screened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92240" y="4096512"/>
            <a:ext cx="4901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4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matching vs OFAC/UN/EU/PEP + adverse media; auto-clear high-confidence non-matches, queue the rest.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10917936" y="3730752"/>
            <a:ext cx="512064" cy="274320"/>
          </a:xfrm>
          <a:prstGeom prst="roundRect">
            <a:avLst>
              <a:gd name="adj" fmla="val 16667"/>
            </a:avLst>
          </a:prstGeom>
          <a:solidFill>
            <a:srgbClr val="5B4FD6"/>
          </a:solidFill>
          <a:ln/>
        </p:spPr>
      </p:sp>
      <p:sp>
        <p:nvSpPr>
          <p:cNvPr id="27" name="Text 25"/>
          <p:cNvSpPr/>
          <p:nvPr/>
        </p:nvSpPr>
        <p:spPr>
          <a:xfrm>
            <a:off x="10917936" y="373075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6928" y="4992624"/>
            <a:ext cx="5449824" cy="1298448"/>
          </a:xfrm>
          <a:prstGeom prst="roundRect">
            <a:avLst>
              <a:gd name="adj" fmla="val 4930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6928" y="5120640"/>
            <a:ext cx="91440" cy="1042416"/>
          </a:xfrm>
          <a:prstGeom prst="rect">
            <a:avLst/>
          </a:prstGeom>
          <a:solidFill>
            <a:srgbClr val="D98324"/>
          </a:solidFill>
          <a:ln/>
        </p:spPr>
      </p:sp>
      <p:sp>
        <p:nvSpPr>
          <p:cNvPr id="30" name="Text 28"/>
          <p:cNvSpPr/>
          <p:nvPr/>
        </p:nvSpPr>
        <p:spPr>
          <a:xfrm>
            <a:off x="859536" y="5175504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D98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regulator publishes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77824" y="5541264"/>
            <a:ext cx="4901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4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summarizes what changed, the impact and the action; route to owners and log to RegUpdates.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5303520" y="5175504"/>
            <a:ext cx="512064" cy="274320"/>
          </a:xfrm>
          <a:prstGeom prst="roundRect">
            <a:avLst>
              <a:gd name="adj" fmla="val 16667"/>
            </a:avLst>
          </a:prstGeom>
          <a:solidFill>
            <a:srgbClr val="5B4FD6"/>
          </a:solidFill>
          <a:ln/>
        </p:spPr>
      </p:sp>
      <p:sp>
        <p:nvSpPr>
          <p:cNvPr id="33" name="Text 31"/>
          <p:cNvSpPr/>
          <p:nvPr/>
        </p:nvSpPr>
        <p:spPr>
          <a:xfrm>
            <a:off x="5303520" y="5175504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81344" y="4992624"/>
            <a:ext cx="5449824" cy="1298448"/>
          </a:xfrm>
          <a:prstGeom prst="roundRect">
            <a:avLst>
              <a:gd name="adj" fmla="val 4930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81344" y="5120640"/>
            <a:ext cx="91440" cy="1042416"/>
          </a:xfrm>
          <a:prstGeom prst="rect">
            <a:avLst/>
          </a:prstGeom>
          <a:solidFill>
            <a:srgbClr val="B5482F"/>
          </a:solidFill>
          <a:ln/>
        </p:spPr>
      </p:sp>
      <p:sp>
        <p:nvSpPr>
          <p:cNvPr id="36" name="Text 34"/>
          <p:cNvSpPr/>
          <p:nvPr/>
        </p:nvSpPr>
        <p:spPr>
          <a:xfrm>
            <a:off x="6473952" y="5175504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54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score ≥ threshold or escalated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492240" y="5541264"/>
            <a:ext cx="4901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4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case, assemble the evidence, notify the analyst; on confirmation, queue an STR for the MLRO.</a:t>
            </a:r>
            <a:endParaRPr lang="en-US" sz="1040" dirty="0"/>
          </a:p>
        </p:txBody>
      </p:sp>
      <p:sp>
        <p:nvSpPr>
          <p:cNvPr id="38" name="Text 36"/>
          <p:cNvSpPr/>
          <p:nvPr/>
        </p:nvSpPr>
        <p:spPr>
          <a:xfrm>
            <a:off x="566928" y="62727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8A9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triggers, four of them AI-assisted — the orchestration is the product; the models are interchangeable parts.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404518" cy="292608"/>
          </a:xfrm>
          <a:prstGeom prst="roundRect">
            <a:avLst>
              <a:gd name="adj" fmla="val 15625"/>
            </a:avLst>
          </a:prstGeom>
          <a:solidFill>
            <a:srgbClr val="1B8A9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14045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APIS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Plumbing Between Front &amp; Back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action and system trigger is an API call. Some are fired by users via the UI; others the back end calls itself.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39696"/>
          <a:ext cx="11064240" cy="301752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Called 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B548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/customers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5B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8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 a customer and trigger KYC/KYB scoring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B8A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/queue?status=awaiting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5B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8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the consolidated decision queue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B548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/transactions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8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 a transaction and fire the four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B548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/transactions/:id/screen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8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sanctions, PEP and adverse-media screening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B548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/transactions/:id/score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8A98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8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Fuse the agent outputs into one risk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B8A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/cases/:id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5B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8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a flagged case with evidence assembled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D983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/cases/:id/disposition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5B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8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a disposition with rationale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B548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/transactions/:id/decision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5B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8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Approve, escalate or release the payment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B548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/str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5B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8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a suspicious-transaction report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B8A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/dashboard/metrics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5B4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758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KPIs, SLA and backlog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2727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User-triggered vs system-triggered  —  </a:t>
            </a:r>
            <a:r>
              <a:rPr lang="en-US" sz="110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orchestration layer calls itself as often as people do.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291840"/>
            <a:ext cx="5852160" cy="5852160"/>
          </a:xfrm>
          <a:prstGeom prst="ellipse">
            <a:avLst/>
          </a:prstGeom>
          <a:solidFill>
            <a:srgbClr val="D98324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420624"/>
            <a:ext cx="1404518" cy="292608"/>
          </a:xfrm>
          <a:prstGeom prst="roundRect">
            <a:avLst>
              <a:gd name="adj" fmla="val 15625"/>
            </a:avLst>
          </a:prstGeom>
          <a:solidFill>
            <a:srgbClr val="D9832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20624"/>
            <a:ext cx="14045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76809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Intelligence Plugs In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TradePe builds none of the models. Seven external services deliver the AI and reference data — the orchestration that sequences them is what's owned.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139696"/>
            <a:ext cx="5440680" cy="969264"/>
          </a:xfrm>
          <a:prstGeom prst="roundRect">
            <a:avLst>
              <a:gd name="adj" fmla="val 6604"/>
            </a:avLst>
          </a:prstGeom>
          <a:solidFill>
            <a:srgbClr val="26385C"/>
          </a:solidFill>
          <a:ln w="12700">
            <a:solidFill>
              <a:srgbClr val="3A4E7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368296"/>
            <a:ext cx="512064" cy="512064"/>
          </a:xfrm>
          <a:prstGeom prst="ellipse">
            <a:avLst/>
          </a:prstGeom>
          <a:solidFill>
            <a:srgbClr val="5B4FD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49631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08176" y="224942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API (Claude / GPT)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408176" y="25054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20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narratives, UBO reasoning, reg summaries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1408176" y="279806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8F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case context + prompt      </a:t>
            </a:r>
            <a:r>
              <a:rPr lang="en-US" sz="860" dirty="0">
                <a:solidFill>
                  <a:srgbClr val="F2C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structured assessment</a:t>
            </a:r>
            <a:endParaRPr lang="en-US" sz="860" dirty="0"/>
          </a:p>
        </p:txBody>
      </p:sp>
      <p:sp>
        <p:nvSpPr>
          <p:cNvPr id="13" name="Shape 10"/>
          <p:cNvSpPr/>
          <p:nvPr/>
        </p:nvSpPr>
        <p:spPr>
          <a:xfrm>
            <a:off x="6190488" y="2139696"/>
            <a:ext cx="5440680" cy="969264"/>
          </a:xfrm>
          <a:prstGeom prst="roundRect">
            <a:avLst>
              <a:gd name="adj" fmla="val 6604"/>
            </a:avLst>
          </a:prstGeom>
          <a:solidFill>
            <a:srgbClr val="26385C"/>
          </a:solidFill>
          <a:ln w="12700">
            <a:solidFill>
              <a:srgbClr val="3A4E7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73368" y="2368296"/>
            <a:ext cx="512064" cy="512064"/>
          </a:xfrm>
          <a:prstGeom prst="ellipse">
            <a:avLst/>
          </a:prstGeom>
          <a:solidFill>
            <a:srgbClr val="1B8A9E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2496312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31736" y="224942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AI / OCR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7031736" y="25054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20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fields from invoice, BoL, LC, customs</a:t>
            </a:r>
            <a:endParaRPr lang="en-US" sz="920" dirty="0"/>
          </a:p>
        </p:txBody>
      </p:sp>
      <p:sp>
        <p:nvSpPr>
          <p:cNvPr id="18" name="Text 14"/>
          <p:cNvSpPr/>
          <p:nvPr/>
        </p:nvSpPr>
        <p:spPr>
          <a:xfrm>
            <a:off x="7031736" y="279806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8F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document image / PDF      </a:t>
            </a:r>
            <a:r>
              <a:rPr lang="en-US" sz="860" dirty="0">
                <a:solidFill>
                  <a:srgbClr val="F2C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fields + confidence</a:t>
            </a:r>
            <a:endParaRPr lang="en-US" sz="860" dirty="0"/>
          </a:p>
        </p:txBody>
      </p:sp>
      <p:sp>
        <p:nvSpPr>
          <p:cNvPr id="19" name="Shape 15"/>
          <p:cNvSpPr/>
          <p:nvPr/>
        </p:nvSpPr>
        <p:spPr>
          <a:xfrm>
            <a:off x="566928" y="3218688"/>
            <a:ext cx="5440680" cy="969264"/>
          </a:xfrm>
          <a:prstGeom prst="roundRect">
            <a:avLst>
              <a:gd name="adj" fmla="val 6604"/>
            </a:avLst>
          </a:prstGeom>
          <a:solidFill>
            <a:srgbClr val="26385C"/>
          </a:solidFill>
          <a:ln w="12700">
            <a:solidFill>
              <a:srgbClr val="3A4E7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3447288"/>
            <a:ext cx="512064" cy="512064"/>
          </a:xfrm>
          <a:prstGeom prst="ellipse">
            <a:avLst/>
          </a:prstGeom>
          <a:solidFill>
            <a:srgbClr val="D98324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3575304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08176" y="332841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Sanctions &amp; PEP data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408176" y="35844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20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OFAC / UN / EU + PEP (World-Check, ComplyAdvantage)</a:t>
            </a:r>
            <a:endParaRPr lang="en-US" sz="920" dirty="0"/>
          </a:p>
        </p:txBody>
      </p:sp>
      <p:sp>
        <p:nvSpPr>
          <p:cNvPr id="24" name="Text 19"/>
          <p:cNvSpPr/>
          <p:nvPr/>
        </p:nvSpPr>
        <p:spPr>
          <a:xfrm>
            <a:off x="1408176" y="387705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8F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name + identifiers      </a:t>
            </a:r>
            <a:r>
              <a:rPr lang="en-US" sz="860" dirty="0">
                <a:solidFill>
                  <a:srgbClr val="F2C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candidate matches</a:t>
            </a:r>
            <a:endParaRPr lang="en-US" sz="860" dirty="0"/>
          </a:p>
        </p:txBody>
      </p:sp>
      <p:sp>
        <p:nvSpPr>
          <p:cNvPr id="25" name="Shape 20"/>
          <p:cNvSpPr/>
          <p:nvPr/>
        </p:nvSpPr>
        <p:spPr>
          <a:xfrm>
            <a:off x="6190488" y="3218688"/>
            <a:ext cx="5440680" cy="969264"/>
          </a:xfrm>
          <a:prstGeom prst="roundRect">
            <a:avLst>
              <a:gd name="adj" fmla="val 6604"/>
            </a:avLst>
          </a:prstGeom>
          <a:solidFill>
            <a:srgbClr val="26385C"/>
          </a:solidFill>
          <a:ln w="12700">
            <a:solidFill>
              <a:srgbClr val="3A4E73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373368" y="3447288"/>
            <a:ext cx="512064" cy="512064"/>
          </a:xfrm>
          <a:prstGeom prst="ellipse">
            <a:avLst/>
          </a:prstGeom>
          <a:solidFill>
            <a:srgbClr val="B5482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1384" y="3575304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31736" y="332841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Adverse-media screening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7031736" y="35844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20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Negative-news search across sources</a:t>
            </a:r>
            <a:endParaRPr lang="en-US" sz="920" dirty="0"/>
          </a:p>
        </p:txBody>
      </p:sp>
      <p:sp>
        <p:nvSpPr>
          <p:cNvPr id="30" name="Text 24"/>
          <p:cNvSpPr/>
          <p:nvPr/>
        </p:nvSpPr>
        <p:spPr>
          <a:xfrm>
            <a:off x="7031736" y="387705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8F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entity name      </a:t>
            </a:r>
            <a:r>
              <a:rPr lang="en-US" sz="860" dirty="0">
                <a:solidFill>
                  <a:srgbClr val="F2C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ranked adverse hits</a:t>
            </a:r>
            <a:endParaRPr lang="en-US" sz="860" dirty="0"/>
          </a:p>
        </p:txBody>
      </p:sp>
      <p:sp>
        <p:nvSpPr>
          <p:cNvPr id="31" name="Shape 25"/>
          <p:cNvSpPr/>
          <p:nvPr/>
        </p:nvSpPr>
        <p:spPr>
          <a:xfrm>
            <a:off x="566928" y="4297680"/>
            <a:ext cx="5440680" cy="969264"/>
          </a:xfrm>
          <a:prstGeom prst="roundRect">
            <a:avLst>
              <a:gd name="adj" fmla="val 6604"/>
            </a:avLst>
          </a:prstGeom>
          <a:solidFill>
            <a:srgbClr val="26385C"/>
          </a:solidFill>
          <a:ln w="12700">
            <a:solidFill>
              <a:srgbClr val="3A4E73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49808" y="4526280"/>
            <a:ext cx="512064" cy="512064"/>
          </a:xfrm>
          <a:prstGeom prst="ellipse">
            <a:avLst/>
          </a:prstGeom>
          <a:solidFill>
            <a:srgbClr val="1F8B5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" y="4654296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408176" y="44074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registry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1408176" y="4663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20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/ DGFT entity &amp; ownership lookup</a:t>
            </a:r>
            <a:endParaRPr lang="en-US" sz="920" dirty="0"/>
          </a:p>
        </p:txBody>
      </p:sp>
      <p:sp>
        <p:nvSpPr>
          <p:cNvPr id="36" name="Text 29"/>
          <p:cNvSpPr/>
          <p:nvPr/>
        </p:nvSpPr>
        <p:spPr>
          <a:xfrm>
            <a:off x="1408176" y="495604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8F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IEC / CIN      </a:t>
            </a:r>
            <a:r>
              <a:rPr lang="en-US" sz="860" dirty="0">
                <a:solidFill>
                  <a:srgbClr val="F2C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entity + UBO layers</a:t>
            </a:r>
            <a:endParaRPr lang="en-US" sz="860" dirty="0"/>
          </a:p>
        </p:txBody>
      </p:sp>
      <p:sp>
        <p:nvSpPr>
          <p:cNvPr id="37" name="Shape 30"/>
          <p:cNvSpPr/>
          <p:nvPr/>
        </p:nvSpPr>
        <p:spPr>
          <a:xfrm>
            <a:off x="6190488" y="4297680"/>
            <a:ext cx="5440680" cy="969264"/>
          </a:xfrm>
          <a:prstGeom prst="roundRect">
            <a:avLst>
              <a:gd name="adj" fmla="val 6604"/>
            </a:avLst>
          </a:prstGeom>
          <a:solidFill>
            <a:srgbClr val="26385C"/>
          </a:solidFill>
          <a:ln w="12700">
            <a:solidFill>
              <a:srgbClr val="3A4E73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373368" y="4526280"/>
            <a:ext cx="512064" cy="512064"/>
          </a:xfrm>
          <a:prstGeom prst="ellipse">
            <a:avLst/>
          </a:prstGeom>
          <a:solidFill>
            <a:srgbClr val="D98324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1384" y="4654296"/>
            <a:ext cx="256032" cy="25603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031736" y="44074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feeds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7031736" y="4663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20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/ FEMA / DGFT / CBIC notifications</a:t>
            </a:r>
            <a:endParaRPr lang="en-US" sz="920" dirty="0"/>
          </a:p>
        </p:txBody>
      </p:sp>
      <p:sp>
        <p:nvSpPr>
          <p:cNvPr id="42" name="Text 34"/>
          <p:cNvSpPr/>
          <p:nvPr/>
        </p:nvSpPr>
        <p:spPr>
          <a:xfrm>
            <a:off x="7031736" y="495604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8F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source poll      </a:t>
            </a:r>
            <a:r>
              <a:rPr lang="en-US" sz="860" dirty="0">
                <a:solidFill>
                  <a:srgbClr val="F2C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change events</a:t>
            </a:r>
            <a:endParaRPr lang="en-US" sz="860" dirty="0"/>
          </a:p>
        </p:txBody>
      </p:sp>
      <p:sp>
        <p:nvSpPr>
          <p:cNvPr id="43" name="Shape 35"/>
          <p:cNvSpPr/>
          <p:nvPr/>
        </p:nvSpPr>
        <p:spPr>
          <a:xfrm>
            <a:off x="566928" y="5376672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2E4268"/>
          </a:solidFill>
          <a:ln w="12700">
            <a:solidFill>
              <a:srgbClr val="3A4E73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768096" y="5477256"/>
            <a:ext cx="512064" cy="512064"/>
          </a:xfrm>
          <a:prstGeom prst="ellipse">
            <a:avLst/>
          </a:prstGeom>
          <a:solidFill>
            <a:srgbClr val="1B8A9E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112" y="5605272"/>
            <a:ext cx="256032" cy="256032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426464" y="5486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banking / payments rail</a:t>
            </a:r>
            <a:endParaRPr lang="en-US" sz="1300" dirty="0"/>
          </a:p>
        </p:txBody>
      </p:sp>
      <p:sp>
        <p:nvSpPr>
          <p:cNvPr id="47" name="Text 38"/>
          <p:cNvSpPr/>
          <p:nvPr/>
        </p:nvSpPr>
        <p:spPr>
          <a:xfrm>
            <a:off x="1426464" y="5779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and settlement — the system of record the Copilot decisions act upon.</a:t>
            </a:r>
            <a:endParaRPr lang="en-US" sz="960" dirty="0"/>
          </a:p>
        </p:txBody>
      </p:sp>
      <p:sp>
        <p:nvSpPr>
          <p:cNvPr id="48" name="Text 39"/>
          <p:cNvSpPr/>
          <p:nvPr/>
        </p:nvSpPr>
        <p:spPr>
          <a:xfrm>
            <a:off x="7150608" y="5376672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payment instruction      </a:t>
            </a:r>
            <a:r>
              <a:rPr lang="en-US" sz="950" dirty="0">
                <a:solidFill>
                  <a:srgbClr val="F2C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settlement status</a:t>
            </a:r>
            <a:endParaRPr lang="en-US" sz="950" dirty="0"/>
          </a:p>
        </p:txBody>
      </p:sp>
      <p:sp>
        <p:nvSpPr>
          <p:cNvPr id="49" name="Text 40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FA1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lives outside. The orchestration — and the accountability — lives inside.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320394" cy="292608"/>
          </a:xfrm>
          <a:prstGeom prst="roundRect">
            <a:avLst>
              <a:gd name="adj" fmla="val 15625"/>
            </a:avLst>
          </a:prstGeom>
          <a:solidFill>
            <a:srgbClr val="5B4FD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13203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DEEP DIVE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Payment to Decision: The Agentic Pipeline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transaction's journey — six stages, four parallel agents, multiple external calls, one human sign-off, every step logged.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194560"/>
            <a:ext cx="3505200" cy="162763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194560"/>
            <a:ext cx="3505200" cy="4572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560320"/>
            <a:ext cx="3505200" cy="914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27685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276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19456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14928" y="2286000"/>
            <a:ext cx="274320" cy="274320"/>
          </a:xfrm>
          <a:prstGeom prst="ellipse">
            <a:avLst/>
          </a:prstGeom>
          <a:solidFill>
            <a:srgbClr val="1B2A4A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765" y="2351837"/>
            <a:ext cx="142646" cy="14264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68096" y="2779776"/>
            <a:ext cx="3102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+ documents arrive via API; customer and beneficiary enriched from records.</a:t>
            </a:r>
            <a:endParaRPr lang="en-US" sz="1030" dirty="0"/>
          </a:p>
        </p:txBody>
      </p:sp>
      <p:sp>
        <p:nvSpPr>
          <p:cNvPr id="15" name="Shape 12"/>
          <p:cNvSpPr/>
          <p:nvPr/>
        </p:nvSpPr>
        <p:spPr>
          <a:xfrm>
            <a:off x="4346448" y="2194560"/>
            <a:ext cx="3505200" cy="162763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46448" y="2194560"/>
            <a:ext cx="3505200" cy="457200"/>
          </a:xfrm>
          <a:prstGeom prst="roundRect">
            <a:avLst>
              <a:gd name="adj" fmla="val 12000"/>
            </a:avLst>
          </a:prstGeom>
          <a:solidFill>
            <a:srgbClr val="1B8A9E"/>
          </a:solidFill>
          <a:ln/>
        </p:spPr>
      </p:sp>
      <p:sp>
        <p:nvSpPr>
          <p:cNvPr id="17" name="Shape 14"/>
          <p:cNvSpPr/>
          <p:nvPr/>
        </p:nvSpPr>
        <p:spPr>
          <a:xfrm>
            <a:off x="4346448" y="2560320"/>
            <a:ext cx="3505200" cy="91440"/>
          </a:xfrm>
          <a:prstGeom prst="rect">
            <a:avLst/>
          </a:prstGeom>
          <a:solidFill>
            <a:srgbClr val="1B8A9E"/>
          </a:solidFill>
          <a:ln/>
        </p:spPr>
      </p:sp>
      <p:sp>
        <p:nvSpPr>
          <p:cNvPr id="18" name="Shape 15"/>
          <p:cNvSpPr/>
          <p:nvPr/>
        </p:nvSpPr>
        <p:spPr>
          <a:xfrm>
            <a:off x="4492752" y="227685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4492752" y="2276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8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76800" y="219456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SCREEN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394448" y="2286000"/>
            <a:ext cx="274320" cy="274320"/>
          </a:xfrm>
          <a:prstGeom prst="ellipse">
            <a:avLst/>
          </a:prstGeom>
          <a:solidFill>
            <a:srgbClr val="1B8A9E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0285" y="2351837"/>
            <a:ext cx="142646" cy="14264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547616" y="2779776"/>
            <a:ext cx="3102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AI reads the paperwork; names screened live against sanctions, PEP and adverse media.</a:t>
            </a:r>
            <a:endParaRPr lang="en-US" sz="1030" dirty="0"/>
          </a:p>
        </p:txBody>
      </p:sp>
      <p:sp>
        <p:nvSpPr>
          <p:cNvPr id="24" name="Shape 20"/>
          <p:cNvSpPr/>
          <p:nvPr/>
        </p:nvSpPr>
        <p:spPr>
          <a:xfrm>
            <a:off x="8125968" y="2194560"/>
            <a:ext cx="3505200" cy="162763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125968" y="2194560"/>
            <a:ext cx="3505200" cy="457200"/>
          </a:xfrm>
          <a:prstGeom prst="roundRect">
            <a:avLst>
              <a:gd name="adj" fmla="val 12000"/>
            </a:avLst>
          </a:prstGeom>
          <a:solidFill>
            <a:srgbClr val="5B4FD6"/>
          </a:solidFill>
          <a:ln/>
        </p:spPr>
      </p:sp>
      <p:sp>
        <p:nvSpPr>
          <p:cNvPr id="26" name="Shape 22"/>
          <p:cNvSpPr/>
          <p:nvPr/>
        </p:nvSpPr>
        <p:spPr>
          <a:xfrm>
            <a:off x="8125968" y="2560320"/>
            <a:ext cx="3505200" cy="91440"/>
          </a:xfrm>
          <a:prstGeom prst="rect">
            <a:avLst/>
          </a:prstGeom>
          <a:solidFill>
            <a:srgbClr val="5B4FD6"/>
          </a:solidFill>
          <a:ln/>
        </p:spPr>
      </p:sp>
      <p:sp>
        <p:nvSpPr>
          <p:cNvPr id="27" name="Shape 23"/>
          <p:cNvSpPr/>
          <p:nvPr/>
        </p:nvSpPr>
        <p:spPr>
          <a:xfrm>
            <a:off x="8272272" y="227685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4"/>
          <p:cNvSpPr/>
          <p:nvPr/>
        </p:nvSpPr>
        <p:spPr>
          <a:xfrm>
            <a:off x="8272272" y="2276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4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8656320" y="219456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11173968" y="2286000"/>
            <a:ext cx="274320" cy="274320"/>
          </a:xfrm>
          <a:prstGeom prst="ellipse">
            <a:avLst/>
          </a:prstGeom>
          <a:solidFill>
            <a:srgbClr val="5B4FD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9805" y="2351837"/>
            <a:ext cx="142646" cy="142646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327136" y="2779776"/>
            <a:ext cx="3102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agents assess in parallel: customer risk, AML pattern, sanctions, trade-doc consistency.</a:t>
            </a:r>
            <a:endParaRPr lang="en-US" sz="1030" dirty="0"/>
          </a:p>
        </p:txBody>
      </p:sp>
      <p:sp>
        <p:nvSpPr>
          <p:cNvPr id="33" name="Shape 28"/>
          <p:cNvSpPr/>
          <p:nvPr/>
        </p:nvSpPr>
        <p:spPr>
          <a:xfrm>
            <a:off x="566928" y="4389120"/>
            <a:ext cx="3505200" cy="162763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566928" y="4389120"/>
            <a:ext cx="3505200" cy="457200"/>
          </a:xfrm>
          <a:prstGeom prst="roundRect">
            <a:avLst>
              <a:gd name="adj" fmla="val 12000"/>
            </a:avLst>
          </a:prstGeom>
          <a:solidFill>
            <a:srgbClr val="D98324"/>
          </a:solidFill>
          <a:ln/>
        </p:spPr>
      </p:sp>
      <p:sp>
        <p:nvSpPr>
          <p:cNvPr id="35" name="Shape 30"/>
          <p:cNvSpPr/>
          <p:nvPr/>
        </p:nvSpPr>
        <p:spPr>
          <a:xfrm>
            <a:off x="566928" y="4754880"/>
            <a:ext cx="3505200" cy="91440"/>
          </a:xfrm>
          <a:prstGeom prst="rect">
            <a:avLst/>
          </a:prstGeom>
          <a:solidFill>
            <a:srgbClr val="D98324"/>
          </a:solidFill>
          <a:ln/>
        </p:spPr>
      </p:sp>
      <p:sp>
        <p:nvSpPr>
          <p:cNvPr id="36" name="Shape 31"/>
          <p:cNvSpPr/>
          <p:nvPr/>
        </p:nvSpPr>
        <p:spPr>
          <a:xfrm>
            <a:off x="713232" y="447141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2"/>
          <p:cNvSpPr/>
          <p:nvPr/>
        </p:nvSpPr>
        <p:spPr>
          <a:xfrm>
            <a:off x="713232" y="4471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8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Text 33"/>
          <p:cNvSpPr/>
          <p:nvPr/>
        </p:nvSpPr>
        <p:spPr>
          <a:xfrm>
            <a:off x="1097280" y="438912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</a:t>
            </a:r>
            <a:endParaRPr lang="en-US" sz="1150" dirty="0"/>
          </a:p>
        </p:txBody>
      </p:sp>
      <p:sp>
        <p:nvSpPr>
          <p:cNvPr id="39" name="Shape 34"/>
          <p:cNvSpPr/>
          <p:nvPr/>
        </p:nvSpPr>
        <p:spPr>
          <a:xfrm>
            <a:off x="3614928" y="4480560"/>
            <a:ext cx="274320" cy="274320"/>
          </a:xfrm>
          <a:prstGeom prst="ellipse">
            <a:avLst/>
          </a:prstGeom>
          <a:solidFill>
            <a:srgbClr val="D98324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0765" y="4546397"/>
            <a:ext cx="142646" cy="142646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768096" y="4974336"/>
            <a:ext cx="3102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fuses outputs into one score + recommendation against policy thresholds.</a:t>
            </a:r>
            <a:endParaRPr lang="en-US" sz="1030" dirty="0"/>
          </a:p>
        </p:txBody>
      </p:sp>
      <p:sp>
        <p:nvSpPr>
          <p:cNvPr id="42" name="Shape 36"/>
          <p:cNvSpPr/>
          <p:nvPr/>
        </p:nvSpPr>
        <p:spPr>
          <a:xfrm>
            <a:off x="4346448" y="4389120"/>
            <a:ext cx="3505200" cy="162763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4346448" y="4389120"/>
            <a:ext cx="3505200" cy="457200"/>
          </a:xfrm>
          <a:prstGeom prst="roundRect">
            <a:avLst>
              <a:gd name="adj" fmla="val 12000"/>
            </a:avLst>
          </a:prstGeom>
          <a:solidFill>
            <a:srgbClr val="1F8B5F"/>
          </a:solidFill>
          <a:ln/>
        </p:spPr>
      </p:sp>
      <p:sp>
        <p:nvSpPr>
          <p:cNvPr id="44" name="Shape 38"/>
          <p:cNvSpPr/>
          <p:nvPr/>
        </p:nvSpPr>
        <p:spPr>
          <a:xfrm>
            <a:off x="4346448" y="4754880"/>
            <a:ext cx="3505200" cy="91440"/>
          </a:xfrm>
          <a:prstGeom prst="rect">
            <a:avLst/>
          </a:prstGeom>
          <a:solidFill>
            <a:srgbClr val="1F8B5F"/>
          </a:solidFill>
          <a:ln/>
        </p:spPr>
      </p:sp>
      <p:sp>
        <p:nvSpPr>
          <p:cNvPr id="45" name="Shape 39"/>
          <p:cNvSpPr/>
          <p:nvPr/>
        </p:nvSpPr>
        <p:spPr>
          <a:xfrm>
            <a:off x="4492752" y="447141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6" name="Text 40"/>
          <p:cNvSpPr/>
          <p:nvPr/>
        </p:nvSpPr>
        <p:spPr>
          <a:xfrm>
            <a:off x="4492752" y="4471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8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47" name="Text 41"/>
          <p:cNvSpPr/>
          <p:nvPr/>
        </p:nvSpPr>
        <p:spPr>
          <a:xfrm>
            <a:off x="4876800" y="438912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150" dirty="0"/>
          </a:p>
        </p:txBody>
      </p:sp>
      <p:sp>
        <p:nvSpPr>
          <p:cNvPr id="48" name="Shape 42"/>
          <p:cNvSpPr/>
          <p:nvPr/>
        </p:nvSpPr>
        <p:spPr>
          <a:xfrm>
            <a:off x="7394448" y="4480560"/>
            <a:ext cx="274320" cy="274320"/>
          </a:xfrm>
          <a:prstGeom prst="ellipse">
            <a:avLst/>
          </a:prstGeom>
          <a:solidFill>
            <a:srgbClr val="1F8B5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0285" y="4546397"/>
            <a:ext cx="142646" cy="142646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4547616" y="4974336"/>
            <a:ext cx="3102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approves the clean case, or an analyst investigates and dispositions a flagged one.</a:t>
            </a:r>
            <a:endParaRPr lang="en-US" sz="1030" dirty="0"/>
          </a:p>
        </p:txBody>
      </p:sp>
      <p:sp>
        <p:nvSpPr>
          <p:cNvPr id="51" name="Shape 44"/>
          <p:cNvSpPr/>
          <p:nvPr/>
        </p:nvSpPr>
        <p:spPr>
          <a:xfrm>
            <a:off x="8125968" y="4389120"/>
            <a:ext cx="3505200" cy="162763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52" name="Shape 45"/>
          <p:cNvSpPr/>
          <p:nvPr/>
        </p:nvSpPr>
        <p:spPr>
          <a:xfrm>
            <a:off x="8125968" y="4389120"/>
            <a:ext cx="3505200" cy="457200"/>
          </a:xfrm>
          <a:prstGeom prst="roundRect">
            <a:avLst>
              <a:gd name="adj" fmla="val 12000"/>
            </a:avLst>
          </a:prstGeom>
          <a:solidFill>
            <a:srgbClr val="B5482F"/>
          </a:solidFill>
          <a:ln/>
        </p:spPr>
      </p:sp>
      <p:sp>
        <p:nvSpPr>
          <p:cNvPr id="53" name="Shape 46"/>
          <p:cNvSpPr/>
          <p:nvPr/>
        </p:nvSpPr>
        <p:spPr>
          <a:xfrm>
            <a:off x="8125968" y="4754880"/>
            <a:ext cx="3505200" cy="91440"/>
          </a:xfrm>
          <a:prstGeom prst="rect">
            <a:avLst/>
          </a:prstGeom>
          <a:solidFill>
            <a:srgbClr val="B5482F"/>
          </a:solidFill>
          <a:ln/>
        </p:spPr>
      </p:sp>
      <p:sp>
        <p:nvSpPr>
          <p:cNvPr id="54" name="Shape 47"/>
          <p:cNvSpPr/>
          <p:nvPr/>
        </p:nvSpPr>
        <p:spPr>
          <a:xfrm>
            <a:off x="8272272" y="447141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5" name="Text 48"/>
          <p:cNvSpPr/>
          <p:nvPr/>
        </p:nvSpPr>
        <p:spPr>
          <a:xfrm>
            <a:off x="8272272" y="4471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54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56" name="Text 49"/>
          <p:cNvSpPr/>
          <p:nvPr/>
        </p:nvSpPr>
        <p:spPr>
          <a:xfrm>
            <a:off x="8656320" y="438912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&amp; LOG</a:t>
            </a:r>
            <a:endParaRPr lang="en-US" sz="1150" dirty="0"/>
          </a:p>
        </p:txBody>
      </p:sp>
      <p:sp>
        <p:nvSpPr>
          <p:cNvPr id="57" name="Shape 50"/>
          <p:cNvSpPr/>
          <p:nvPr/>
        </p:nvSpPr>
        <p:spPr>
          <a:xfrm>
            <a:off x="11173968" y="4480560"/>
            <a:ext cx="274320" cy="274320"/>
          </a:xfrm>
          <a:prstGeom prst="ellipse">
            <a:avLst/>
          </a:prstGeom>
          <a:solidFill>
            <a:srgbClr val="B5482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5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39805" y="4546397"/>
            <a:ext cx="142646" cy="142646"/>
          </a:xfrm>
          <a:prstGeom prst="rect">
            <a:avLst/>
          </a:prstGeom>
        </p:spPr>
      </p:pic>
      <p:sp>
        <p:nvSpPr>
          <p:cNvPr id="59" name="Text 51"/>
          <p:cNvSpPr/>
          <p:nvPr/>
        </p:nvSpPr>
        <p:spPr>
          <a:xfrm>
            <a:off x="8327136" y="4974336"/>
            <a:ext cx="3102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released / escalated / STR filed — full rationale written to the audit trail.</a:t>
            </a:r>
            <a:endParaRPr lang="en-US" sz="1030" dirty="0"/>
          </a:p>
        </p:txBody>
      </p:sp>
      <p:sp>
        <p:nvSpPr>
          <p:cNvPr id="60" name="Text 52"/>
          <p:cNvSpPr/>
          <p:nvPr/>
        </p:nvSpPr>
        <p:spPr>
          <a:xfrm>
            <a:off x="4090416" y="2862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61" name="Text 53"/>
          <p:cNvSpPr/>
          <p:nvPr/>
        </p:nvSpPr>
        <p:spPr>
          <a:xfrm>
            <a:off x="7869936" y="2862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62" name="Text 54"/>
          <p:cNvSpPr/>
          <p:nvPr/>
        </p:nvSpPr>
        <p:spPr>
          <a:xfrm>
            <a:off x="4090416" y="50566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63" name="Text 55"/>
          <p:cNvSpPr/>
          <p:nvPr/>
        </p:nvSpPr>
        <p:spPr>
          <a:xfrm>
            <a:off x="7869936" y="50566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64" name="Text 56"/>
          <p:cNvSpPr/>
          <p:nvPr/>
        </p:nvSpPr>
        <p:spPr>
          <a:xfrm>
            <a:off x="8125968" y="3950208"/>
            <a:ext cx="350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500" dirty="0"/>
          </a:p>
        </p:txBody>
      </p:sp>
      <p:sp>
        <p:nvSpPr>
          <p:cNvPr id="65" name="Shape 57"/>
          <p:cNvSpPr/>
          <p:nvPr/>
        </p:nvSpPr>
        <p:spPr>
          <a:xfrm>
            <a:off x="566928" y="612648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ECEAFA"/>
          </a:solidFill>
          <a:ln/>
        </p:spPr>
      </p:sp>
      <p:sp>
        <p:nvSpPr>
          <p:cNvPr id="66" name="Text 58"/>
          <p:cNvSpPr/>
          <p:nvPr/>
        </p:nvSpPr>
        <p:spPr>
          <a:xfrm>
            <a:off x="859536" y="6126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manual workstreams, once run in series by hand, </a:t>
            </a:r>
            <a:r>
              <a:rPr lang="en-US" sz="1150" b="1" i="1" dirty="0">
                <a:solidFill>
                  <a:srgbClr val="5B4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in parallel in minutes — traceable at every stage.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909267" cy="292608"/>
          </a:xfrm>
          <a:prstGeom prst="roundRect">
            <a:avLst>
              <a:gd name="adj" fmla="val 15625"/>
            </a:avLst>
          </a:prstGeom>
          <a:solidFill>
            <a:srgbClr val="D9832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19092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Four Layers Connect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517904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50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transaction landing to a logged decision — the path across the front end, internal APIs, the back end, external AI, and the database.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139696"/>
            <a:ext cx="11064240" cy="950976"/>
          </a:xfrm>
          <a:prstGeom prst="roundRect">
            <a:avLst>
              <a:gd name="adj" fmla="val 5769"/>
            </a:avLst>
          </a:prstGeom>
          <a:solidFill>
            <a:srgbClr val="22355A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359152"/>
            <a:ext cx="512064" cy="512064"/>
          </a:xfrm>
          <a:prstGeom prst="ellipse">
            <a:avLst/>
          </a:prstGeom>
          <a:solidFill>
            <a:srgbClr val="1B2A4A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87168"/>
            <a:ext cx="256032" cy="256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417320" y="2313432"/>
            <a:ext cx="1517904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90472" y="231343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decision queue</a:t>
            </a:r>
            <a:endParaRPr lang="en-US" sz="860" dirty="0"/>
          </a:p>
        </p:txBody>
      </p:sp>
      <p:sp>
        <p:nvSpPr>
          <p:cNvPr id="11" name="Text 8"/>
          <p:cNvSpPr/>
          <p:nvPr/>
        </p:nvSpPr>
        <p:spPr>
          <a:xfrm>
            <a:off x="2916936" y="2313432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118104" y="2313432"/>
            <a:ext cx="1517904" cy="603504"/>
          </a:xfrm>
          <a:prstGeom prst="roundRect">
            <a:avLst>
              <a:gd name="adj" fmla="val 7576"/>
            </a:avLst>
          </a:prstGeom>
          <a:solidFill>
            <a:srgbClr val="D98324"/>
          </a:solidFill>
          <a:ln/>
        </p:spPr>
      </p:sp>
      <p:sp>
        <p:nvSpPr>
          <p:cNvPr id="13" name="Text 10"/>
          <p:cNvSpPr/>
          <p:nvPr/>
        </p:nvSpPr>
        <p:spPr>
          <a:xfrm>
            <a:off x="3191256" y="231343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/queue</a:t>
            </a:r>
            <a:endParaRPr lang="en-US" sz="860" dirty="0"/>
          </a:p>
        </p:txBody>
      </p:sp>
      <p:sp>
        <p:nvSpPr>
          <p:cNvPr id="14" name="Text 11"/>
          <p:cNvSpPr/>
          <p:nvPr/>
        </p:nvSpPr>
        <p:spPr>
          <a:xfrm>
            <a:off x="4617720" y="2313432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818888" y="2313432"/>
            <a:ext cx="1517904" cy="603504"/>
          </a:xfrm>
          <a:prstGeom prst="roundRect">
            <a:avLst>
              <a:gd name="adj" fmla="val 7576"/>
            </a:avLst>
          </a:prstGeom>
          <a:solidFill>
            <a:srgbClr val="1B8A9E"/>
          </a:solidFill>
          <a:ln/>
        </p:spPr>
      </p:sp>
      <p:sp>
        <p:nvSpPr>
          <p:cNvPr id="16" name="Text 13"/>
          <p:cNvSpPr/>
          <p:nvPr/>
        </p:nvSpPr>
        <p:spPr>
          <a:xfrm>
            <a:off x="4892040" y="231343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consolidated case</a:t>
            </a:r>
            <a:endParaRPr lang="en-US" sz="860" dirty="0"/>
          </a:p>
        </p:txBody>
      </p:sp>
      <p:sp>
        <p:nvSpPr>
          <p:cNvPr id="17" name="Text 14"/>
          <p:cNvSpPr/>
          <p:nvPr/>
        </p:nvSpPr>
        <p:spPr>
          <a:xfrm>
            <a:off x="6318504" y="2313432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519672" y="2313432"/>
            <a:ext cx="1517904" cy="603504"/>
          </a:xfrm>
          <a:prstGeom prst="roundRect">
            <a:avLst>
              <a:gd name="adj" fmla="val 7576"/>
            </a:avLst>
          </a:prstGeom>
          <a:solidFill>
            <a:srgbClr val="26385C"/>
          </a:solidFill>
          <a:ln w="12700">
            <a:solidFill>
              <a:srgbClr val="3A4E7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92824" y="231343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Decisions + AgentRuns</a:t>
            </a:r>
            <a:endParaRPr lang="en-US" sz="860" dirty="0"/>
          </a:p>
        </p:txBody>
      </p:sp>
      <p:sp>
        <p:nvSpPr>
          <p:cNvPr id="20" name="Text 17"/>
          <p:cNvSpPr/>
          <p:nvPr/>
        </p:nvSpPr>
        <p:spPr>
          <a:xfrm>
            <a:off x="8019288" y="2313432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220456" y="2313432"/>
            <a:ext cx="1517904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93608" y="231343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one recommendation</a:t>
            </a:r>
            <a:endParaRPr lang="en-US" sz="860" dirty="0"/>
          </a:p>
        </p:txBody>
      </p:sp>
      <p:sp>
        <p:nvSpPr>
          <p:cNvPr id="23" name="Text 20"/>
          <p:cNvSpPr/>
          <p:nvPr/>
        </p:nvSpPr>
        <p:spPr>
          <a:xfrm>
            <a:off x="9720072" y="2313432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9921240" y="2313432"/>
            <a:ext cx="1517904" cy="603504"/>
          </a:xfrm>
          <a:prstGeom prst="roundRect">
            <a:avLst>
              <a:gd name="adj" fmla="val 7576"/>
            </a:avLst>
          </a:prstGeom>
          <a:solidFill>
            <a:srgbClr val="D98324"/>
          </a:solidFill>
          <a:ln/>
        </p:spPr>
      </p:sp>
      <p:sp>
        <p:nvSpPr>
          <p:cNvPr id="25" name="Text 22"/>
          <p:cNvSpPr/>
          <p:nvPr/>
        </p:nvSpPr>
        <p:spPr>
          <a:xfrm>
            <a:off x="9994392" y="231343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/decision → approve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566928" y="3200400"/>
            <a:ext cx="11064240" cy="950976"/>
          </a:xfrm>
          <a:prstGeom prst="roundRect">
            <a:avLst>
              <a:gd name="adj" fmla="val 5769"/>
            </a:avLst>
          </a:prstGeom>
          <a:solidFill>
            <a:srgbClr val="1F3052"/>
          </a:solidFill>
          <a:ln/>
        </p:spPr>
      </p:sp>
      <p:sp>
        <p:nvSpPr>
          <p:cNvPr id="27" name="Shape 24"/>
          <p:cNvSpPr/>
          <p:nvPr/>
        </p:nvSpPr>
        <p:spPr>
          <a:xfrm>
            <a:off x="713232" y="3419856"/>
            <a:ext cx="512064" cy="512064"/>
          </a:xfrm>
          <a:prstGeom prst="ellipse">
            <a:avLst/>
          </a:prstGeom>
          <a:solidFill>
            <a:srgbClr val="1B8A9E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547872"/>
            <a:ext cx="256032" cy="256032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1417320" y="3374136"/>
            <a:ext cx="1517904" cy="603504"/>
          </a:xfrm>
          <a:prstGeom prst="roundRect">
            <a:avLst>
              <a:gd name="adj" fmla="val 7576"/>
            </a:avLst>
          </a:prstGeom>
          <a:solidFill>
            <a:srgbClr val="D98324"/>
          </a:solidFill>
          <a:ln/>
        </p:spPr>
      </p:sp>
      <p:sp>
        <p:nvSpPr>
          <p:cNvPr id="30" name="Text 26"/>
          <p:cNvSpPr/>
          <p:nvPr/>
        </p:nvSpPr>
        <p:spPr>
          <a:xfrm>
            <a:off x="1490472" y="3374136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 + docs ingested</a:t>
            </a:r>
            <a:endParaRPr lang="en-US" sz="860" dirty="0"/>
          </a:p>
        </p:txBody>
      </p:sp>
      <p:sp>
        <p:nvSpPr>
          <p:cNvPr id="31" name="Text 27"/>
          <p:cNvSpPr/>
          <p:nvPr/>
        </p:nvSpPr>
        <p:spPr>
          <a:xfrm>
            <a:off x="2916936" y="3374136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3118104" y="3374136"/>
            <a:ext cx="1517904" cy="603504"/>
          </a:xfrm>
          <a:prstGeom prst="roundRect">
            <a:avLst>
              <a:gd name="adj" fmla="val 7576"/>
            </a:avLst>
          </a:prstGeom>
          <a:solidFill>
            <a:srgbClr val="1B8A9E"/>
          </a:solidFill>
          <a:ln/>
        </p:spPr>
      </p:sp>
      <p:sp>
        <p:nvSpPr>
          <p:cNvPr id="33" name="Text 29"/>
          <p:cNvSpPr/>
          <p:nvPr/>
        </p:nvSpPr>
        <p:spPr>
          <a:xfrm>
            <a:off x="3191256" y="3374136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+ fire agents</a:t>
            </a:r>
            <a:endParaRPr lang="en-US" sz="860" dirty="0"/>
          </a:p>
        </p:txBody>
      </p:sp>
      <p:sp>
        <p:nvSpPr>
          <p:cNvPr id="34" name="Text 30"/>
          <p:cNvSpPr/>
          <p:nvPr/>
        </p:nvSpPr>
        <p:spPr>
          <a:xfrm>
            <a:off x="4617720" y="3374136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4818888" y="3374136"/>
            <a:ext cx="1517904" cy="603504"/>
          </a:xfrm>
          <a:prstGeom prst="roundRect">
            <a:avLst>
              <a:gd name="adj" fmla="val 7576"/>
            </a:avLst>
          </a:prstGeom>
          <a:solidFill>
            <a:srgbClr val="5B4FD6"/>
          </a:solidFill>
          <a:ln/>
        </p:spPr>
      </p:sp>
      <p:sp>
        <p:nvSpPr>
          <p:cNvPr id="36" name="Text 32"/>
          <p:cNvSpPr/>
          <p:nvPr/>
        </p:nvSpPr>
        <p:spPr>
          <a:xfrm>
            <a:off x="4892040" y="3374136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AI + screening</a:t>
            </a:r>
            <a:endParaRPr lang="en-US" sz="860" dirty="0"/>
          </a:p>
        </p:txBody>
      </p:sp>
      <p:sp>
        <p:nvSpPr>
          <p:cNvPr id="37" name="Text 33"/>
          <p:cNvSpPr/>
          <p:nvPr/>
        </p:nvSpPr>
        <p:spPr>
          <a:xfrm>
            <a:off x="6318504" y="3374136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8" name="Shape 34"/>
          <p:cNvSpPr/>
          <p:nvPr/>
        </p:nvSpPr>
        <p:spPr>
          <a:xfrm>
            <a:off x="6519672" y="3374136"/>
            <a:ext cx="1517904" cy="603504"/>
          </a:xfrm>
          <a:prstGeom prst="roundRect">
            <a:avLst>
              <a:gd name="adj" fmla="val 7576"/>
            </a:avLst>
          </a:prstGeom>
          <a:solidFill>
            <a:srgbClr val="5B4FD6"/>
          </a:solidFill>
          <a:ln/>
        </p:spPr>
      </p:sp>
      <p:sp>
        <p:nvSpPr>
          <p:cNvPr id="39" name="Text 35"/>
          <p:cNvSpPr/>
          <p:nvPr/>
        </p:nvSpPr>
        <p:spPr>
          <a:xfrm>
            <a:off x="6592824" y="3374136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risk scoring</a:t>
            </a:r>
            <a:endParaRPr lang="en-US" sz="860" dirty="0"/>
          </a:p>
        </p:txBody>
      </p:sp>
      <p:sp>
        <p:nvSpPr>
          <p:cNvPr id="40" name="Text 36"/>
          <p:cNvSpPr/>
          <p:nvPr/>
        </p:nvSpPr>
        <p:spPr>
          <a:xfrm>
            <a:off x="8019288" y="3374136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1" name="Shape 37"/>
          <p:cNvSpPr/>
          <p:nvPr/>
        </p:nvSpPr>
        <p:spPr>
          <a:xfrm>
            <a:off x="8220456" y="3374136"/>
            <a:ext cx="1517904" cy="603504"/>
          </a:xfrm>
          <a:prstGeom prst="roundRect">
            <a:avLst>
              <a:gd name="adj" fmla="val 7576"/>
            </a:avLst>
          </a:prstGeom>
          <a:solidFill>
            <a:srgbClr val="1B8A9E"/>
          </a:solidFill>
          <a:ln/>
        </p:spPr>
      </p:sp>
      <p:sp>
        <p:nvSpPr>
          <p:cNvPr id="42" name="Text 38"/>
          <p:cNvSpPr/>
          <p:nvPr/>
        </p:nvSpPr>
        <p:spPr>
          <a:xfrm>
            <a:off x="8293608" y="3374136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score</a:t>
            </a:r>
            <a:endParaRPr lang="en-US" sz="860" dirty="0"/>
          </a:p>
        </p:txBody>
      </p:sp>
      <p:sp>
        <p:nvSpPr>
          <p:cNvPr id="43" name="Text 39"/>
          <p:cNvSpPr/>
          <p:nvPr/>
        </p:nvSpPr>
        <p:spPr>
          <a:xfrm>
            <a:off x="9720072" y="3374136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4" name="Shape 40"/>
          <p:cNvSpPr/>
          <p:nvPr/>
        </p:nvSpPr>
        <p:spPr>
          <a:xfrm>
            <a:off x="9921240" y="3374136"/>
            <a:ext cx="1517904" cy="603504"/>
          </a:xfrm>
          <a:prstGeom prst="roundRect">
            <a:avLst>
              <a:gd name="adj" fmla="val 7576"/>
            </a:avLst>
          </a:prstGeom>
          <a:solidFill>
            <a:srgbClr val="26385C"/>
          </a:solidFill>
          <a:ln w="12700">
            <a:solidFill>
              <a:srgbClr val="3A4E73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9994392" y="3374136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Transactions</a:t>
            </a:r>
            <a:endParaRPr lang="en-US" sz="860" dirty="0"/>
          </a:p>
        </p:txBody>
      </p:sp>
      <p:sp>
        <p:nvSpPr>
          <p:cNvPr id="46" name="Shape 42"/>
          <p:cNvSpPr/>
          <p:nvPr/>
        </p:nvSpPr>
        <p:spPr>
          <a:xfrm>
            <a:off x="566928" y="4261104"/>
            <a:ext cx="11064240" cy="950976"/>
          </a:xfrm>
          <a:prstGeom prst="roundRect">
            <a:avLst>
              <a:gd name="adj" fmla="val 5769"/>
            </a:avLst>
          </a:prstGeom>
          <a:solidFill>
            <a:srgbClr val="22355A"/>
          </a:solidFill>
          <a:ln/>
        </p:spPr>
      </p:sp>
      <p:sp>
        <p:nvSpPr>
          <p:cNvPr id="47" name="Shape 43"/>
          <p:cNvSpPr/>
          <p:nvPr/>
        </p:nvSpPr>
        <p:spPr>
          <a:xfrm>
            <a:off x="713232" y="4480560"/>
            <a:ext cx="512064" cy="512064"/>
          </a:xfrm>
          <a:prstGeom prst="ellipse">
            <a:avLst/>
          </a:prstGeom>
          <a:solidFill>
            <a:srgbClr val="5B4FD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4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608576"/>
            <a:ext cx="256032" cy="256032"/>
          </a:xfrm>
          <a:prstGeom prst="rect">
            <a:avLst/>
          </a:prstGeom>
        </p:spPr>
      </p:pic>
      <p:sp>
        <p:nvSpPr>
          <p:cNvPr id="49" name="Shape 44"/>
          <p:cNvSpPr/>
          <p:nvPr/>
        </p:nvSpPr>
        <p:spPr>
          <a:xfrm>
            <a:off x="1417320" y="4434840"/>
            <a:ext cx="1517904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1490472" y="443484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dashboard</a:t>
            </a:r>
            <a:endParaRPr lang="en-US" sz="860" dirty="0"/>
          </a:p>
        </p:txBody>
      </p:sp>
      <p:sp>
        <p:nvSpPr>
          <p:cNvPr id="51" name="Text 46"/>
          <p:cNvSpPr/>
          <p:nvPr/>
        </p:nvSpPr>
        <p:spPr>
          <a:xfrm>
            <a:off x="2916936" y="4434840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52" name="Shape 47"/>
          <p:cNvSpPr/>
          <p:nvPr/>
        </p:nvSpPr>
        <p:spPr>
          <a:xfrm>
            <a:off x="3118104" y="4434840"/>
            <a:ext cx="1517904" cy="603504"/>
          </a:xfrm>
          <a:prstGeom prst="roundRect">
            <a:avLst>
              <a:gd name="adj" fmla="val 7576"/>
            </a:avLst>
          </a:prstGeom>
          <a:solidFill>
            <a:srgbClr val="D98324"/>
          </a:solidFill>
          <a:ln/>
        </p:spPr>
      </p:sp>
      <p:sp>
        <p:nvSpPr>
          <p:cNvPr id="53" name="Text 48"/>
          <p:cNvSpPr/>
          <p:nvPr/>
        </p:nvSpPr>
        <p:spPr>
          <a:xfrm>
            <a:off x="3191256" y="443484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/metrics</a:t>
            </a:r>
            <a:endParaRPr lang="en-US" sz="860" dirty="0"/>
          </a:p>
        </p:txBody>
      </p:sp>
      <p:sp>
        <p:nvSpPr>
          <p:cNvPr id="54" name="Text 49"/>
          <p:cNvSpPr/>
          <p:nvPr/>
        </p:nvSpPr>
        <p:spPr>
          <a:xfrm>
            <a:off x="4617720" y="4434840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55" name="Shape 50"/>
          <p:cNvSpPr/>
          <p:nvPr/>
        </p:nvSpPr>
        <p:spPr>
          <a:xfrm>
            <a:off x="4818888" y="4434840"/>
            <a:ext cx="1517904" cy="603504"/>
          </a:xfrm>
          <a:prstGeom prst="roundRect">
            <a:avLst>
              <a:gd name="adj" fmla="val 7576"/>
            </a:avLst>
          </a:prstGeom>
          <a:solidFill>
            <a:srgbClr val="1B8A9E"/>
          </a:solidFill>
          <a:ln/>
        </p:spPr>
      </p:sp>
      <p:sp>
        <p:nvSpPr>
          <p:cNvPr id="56" name="Text 51"/>
          <p:cNvSpPr/>
          <p:nvPr/>
        </p:nvSpPr>
        <p:spPr>
          <a:xfrm>
            <a:off x="4892040" y="443484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 queries DB</a:t>
            </a:r>
            <a:endParaRPr lang="en-US" sz="860" dirty="0"/>
          </a:p>
        </p:txBody>
      </p:sp>
      <p:sp>
        <p:nvSpPr>
          <p:cNvPr id="57" name="Text 52"/>
          <p:cNvSpPr/>
          <p:nvPr/>
        </p:nvSpPr>
        <p:spPr>
          <a:xfrm>
            <a:off x="6318504" y="4434840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58" name="Shape 53"/>
          <p:cNvSpPr/>
          <p:nvPr/>
        </p:nvSpPr>
        <p:spPr>
          <a:xfrm>
            <a:off x="6519672" y="4434840"/>
            <a:ext cx="1517904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6592824" y="443484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KPIs, SLA, backlog</a:t>
            </a:r>
            <a:endParaRPr lang="en-US" sz="860" dirty="0"/>
          </a:p>
        </p:txBody>
      </p:sp>
      <p:sp>
        <p:nvSpPr>
          <p:cNvPr id="60" name="Text 55"/>
          <p:cNvSpPr/>
          <p:nvPr/>
        </p:nvSpPr>
        <p:spPr>
          <a:xfrm>
            <a:off x="8019288" y="4434840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1" name="Shape 56"/>
          <p:cNvSpPr/>
          <p:nvPr/>
        </p:nvSpPr>
        <p:spPr>
          <a:xfrm>
            <a:off x="8220456" y="4434840"/>
            <a:ext cx="1517904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8293608" y="443484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STR if required</a:t>
            </a:r>
            <a:endParaRPr lang="en-US" sz="860" dirty="0"/>
          </a:p>
        </p:txBody>
      </p:sp>
      <p:sp>
        <p:nvSpPr>
          <p:cNvPr id="63" name="Text 58"/>
          <p:cNvSpPr/>
          <p:nvPr/>
        </p:nvSpPr>
        <p:spPr>
          <a:xfrm>
            <a:off x="9720072" y="4434840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A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4" name="Shape 59"/>
          <p:cNvSpPr/>
          <p:nvPr/>
        </p:nvSpPr>
        <p:spPr>
          <a:xfrm>
            <a:off x="9921240" y="4434840"/>
            <a:ext cx="1517904" cy="603504"/>
          </a:xfrm>
          <a:prstGeom prst="roundRect">
            <a:avLst>
              <a:gd name="adj" fmla="val 7576"/>
            </a:avLst>
          </a:prstGeom>
          <a:solidFill>
            <a:srgbClr val="26385C"/>
          </a:solidFill>
          <a:ln w="12700">
            <a:solidFill>
              <a:srgbClr val="3A4E73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9994392" y="443484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Audit-trail export</a:t>
            </a:r>
            <a:endParaRPr lang="en-US" sz="860" dirty="0"/>
          </a:p>
        </p:txBody>
      </p:sp>
      <p:sp>
        <p:nvSpPr>
          <p:cNvPr id="66" name="Shape 61"/>
          <p:cNvSpPr/>
          <p:nvPr/>
        </p:nvSpPr>
        <p:spPr>
          <a:xfrm>
            <a:off x="1417320" y="5449824"/>
            <a:ext cx="237744" cy="23774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1728216" y="54315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2900477" y="5449824"/>
            <a:ext cx="237744" cy="237744"/>
          </a:xfrm>
          <a:prstGeom prst="roundRect">
            <a:avLst>
              <a:gd name="adj" fmla="val 11538"/>
            </a:avLst>
          </a:prstGeom>
          <a:solidFill>
            <a:srgbClr val="D98324"/>
          </a:solidFill>
          <a:ln/>
        </p:spPr>
      </p:sp>
      <p:sp>
        <p:nvSpPr>
          <p:cNvPr id="69" name="Text 64"/>
          <p:cNvSpPr/>
          <p:nvPr/>
        </p:nvSpPr>
        <p:spPr>
          <a:xfrm>
            <a:off x="3211373" y="54315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API</a:t>
            </a:r>
            <a:endParaRPr lang="en-US" sz="1000" dirty="0"/>
          </a:p>
        </p:txBody>
      </p:sp>
      <p:sp>
        <p:nvSpPr>
          <p:cNvPr id="70" name="Shape 65"/>
          <p:cNvSpPr/>
          <p:nvPr/>
        </p:nvSpPr>
        <p:spPr>
          <a:xfrm>
            <a:off x="4597603" y="5449824"/>
            <a:ext cx="237744" cy="237744"/>
          </a:xfrm>
          <a:prstGeom prst="roundRect">
            <a:avLst>
              <a:gd name="adj" fmla="val 11538"/>
            </a:avLst>
          </a:prstGeom>
          <a:solidFill>
            <a:srgbClr val="1B8A9E"/>
          </a:solidFill>
          <a:ln/>
        </p:spPr>
      </p:sp>
      <p:sp>
        <p:nvSpPr>
          <p:cNvPr id="71" name="Text 66"/>
          <p:cNvSpPr/>
          <p:nvPr/>
        </p:nvSpPr>
        <p:spPr>
          <a:xfrm>
            <a:off x="4908499" y="54315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</a:t>
            </a:r>
            <a:endParaRPr lang="en-US" sz="1000" dirty="0"/>
          </a:p>
        </p:txBody>
      </p:sp>
      <p:sp>
        <p:nvSpPr>
          <p:cNvPr id="72" name="Shape 67"/>
          <p:cNvSpPr/>
          <p:nvPr/>
        </p:nvSpPr>
        <p:spPr>
          <a:xfrm>
            <a:off x="6009437" y="5449824"/>
            <a:ext cx="237744" cy="237744"/>
          </a:xfrm>
          <a:prstGeom prst="roundRect">
            <a:avLst>
              <a:gd name="adj" fmla="val 11538"/>
            </a:avLst>
          </a:prstGeom>
          <a:solidFill>
            <a:srgbClr val="5B4FD6"/>
          </a:solidFill>
          <a:ln/>
        </p:spPr>
      </p:sp>
      <p:sp>
        <p:nvSpPr>
          <p:cNvPr id="73" name="Text 68"/>
          <p:cNvSpPr/>
          <p:nvPr/>
        </p:nvSpPr>
        <p:spPr>
          <a:xfrm>
            <a:off x="6320333" y="54315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AI</a:t>
            </a:r>
            <a:endParaRPr lang="en-US" sz="1000" dirty="0"/>
          </a:p>
        </p:txBody>
      </p:sp>
      <p:sp>
        <p:nvSpPr>
          <p:cNvPr id="74" name="Shape 69"/>
          <p:cNvSpPr/>
          <p:nvPr/>
        </p:nvSpPr>
        <p:spPr>
          <a:xfrm>
            <a:off x="7635240" y="5449824"/>
            <a:ext cx="237744" cy="237744"/>
          </a:xfrm>
          <a:prstGeom prst="roundRect">
            <a:avLst>
              <a:gd name="adj" fmla="val 11538"/>
            </a:avLst>
          </a:prstGeom>
          <a:solidFill>
            <a:srgbClr val="26385C"/>
          </a:solidFill>
          <a:ln/>
        </p:spPr>
      </p:sp>
      <p:sp>
        <p:nvSpPr>
          <p:cNvPr id="75" name="Text 70"/>
          <p:cNvSpPr/>
          <p:nvPr/>
        </p:nvSpPr>
        <p:spPr>
          <a:xfrm>
            <a:off x="7946136" y="54315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320394" cy="292608"/>
          </a:xfrm>
          <a:prstGeom prst="roundRect">
            <a:avLst>
              <a:gd name="adj" fmla="val 15625"/>
            </a:avLst>
          </a:prstGeom>
          <a:solidFill>
            <a:srgbClr val="1F8B5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13203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Copilot Is Expected to Deliver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Consolidating KYC/KYB, AML, sanctions, trade-document validation and regulatory intelligence into one Copilot is the highest-leverage compliance investment for a business in TradePe’s position.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3200400" cy="1371600"/>
          </a:xfrm>
          <a:prstGeom prst="roundRect">
            <a:avLst>
              <a:gd name="adj" fmla="val 4667"/>
            </a:avLst>
          </a:prstGeom>
          <a:solidFill>
            <a:srgbClr val="F7ECE8"/>
          </a:solidFill>
          <a:ln/>
          <a:effectLst>
            <a:outerShdw blurRad="114300" dist="381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224942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B54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40–70%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29077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review effort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50208" y="2103120"/>
            <a:ext cx="3200400" cy="1371600"/>
          </a:xfrm>
          <a:prstGeom prst="roundRect">
            <a:avLst>
              <a:gd name="adj" fmla="val 4667"/>
            </a:avLst>
          </a:prstGeom>
          <a:solidFill>
            <a:srgbClr val="E7F2F4"/>
          </a:solidFill>
          <a:ln/>
          <a:effectLst>
            <a:outerShdw blurRad="114300" dist="381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87952" y="224942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8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→ Min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206240" y="29077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onboard standard-risk exporters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06640" y="2103120"/>
            <a:ext cx="4224528" cy="1938528"/>
          </a:xfrm>
          <a:prstGeom prst="roundRect">
            <a:avLst>
              <a:gd name="adj" fmla="val 3302"/>
            </a:avLst>
          </a:prstGeom>
          <a:solidFill>
            <a:srgbClr val="1B2A4A"/>
          </a:solidFill>
          <a:ln/>
          <a:effectLst>
            <a:outerShdw blurRad="1270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44384" y="2322576"/>
            <a:ext cx="530352" cy="530352"/>
          </a:xfrm>
          <a:prstGeom prst="ellipse">
            <a:avLst/>
          </a:prstGeom>
          <a:solidFill>
            <a:srgbClr val="B5482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2276" y="2460468"/>
            <a:ext cx="254569" cy="25456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321040" y="2286000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that scales with volume — not headcount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680960" y="3035808"/>
            <a:ext cx="36758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30" dirty="0">
                <a:solidFill>
                  <a:srgbClr val="C6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Freeing analyst time from disposition and document-matching lets compliance absorb transaction growth without a linear rise in hires — while faster regulatory translation shortens change-to-action.</a:t>
            </a:r>
            <a:endParaRPr lang="en-US" sz="1030" dirty="0"/>
          </a:p>
        </p:txBody>
      </p:sp>
      <p:sp>
        <p:nvSpPr>
          <p:cNvPr id="17" name="Shape 14"/>
          <p:cNvSpPr/>
          <p:nvPr/>
        </p:nvSpPr>
        <p:spPr>
          <a:xfrm>
            <a:off x="7406640" y="4187952"/>
            <a:ext cx="4224528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607808" y="4434840"/>
            <a:ext cx="530352" cy="530352"/>
          </a:xfrm>
          <a:prstGeom prst="ellipse">
            <a:avLst/>
          </a:prstGeom>
          <a:solidFill>
            <a:srgbClr val="5B4FD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5700" y="4572732"/>
            <a:ext cx="254569" cy="25456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284464" y="4334256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monitoring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8284464" y="4626864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&amp; adverse-media screening runs continuously, not point-in-time — closing a current gap.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7406640" y="5321808"/>
            <a:ext cx="4224528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607808" y="5568696"/>
            <a:ext cx="530352" cy="530352"/>
          </a:xfrm>
          <a:prstGeom prst="ellipse">
            <a:avLst/>
          </a:prstGeom>
          <a:solidFill>
            <a:srgbClr val="1F8B5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5700" y="5706588"/>
            <a:ext cx="254569" cy="254569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284464" y="5468112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Audit-ready by design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8284464" y="5760720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carries a consolidated, traceable rationale rather than free-text case notes.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66928" y="3712464"/>
            <a:ext cx="658368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841248" y="387705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effort &amp; cycle time — directional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841248" y="4169664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to today = 100. Illustrative of the 40–70% reduction target; calibrate against TradePe’s baselines during the pilot.</a:t>
            </a:r>
            <a:endParaRPr lang="en-US" sz="95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777240" y="4608576"/>
          <a:ext cx="6199632" cy="1627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825142" cy="292608"/>
          </a:xfrm>
          <a:prstGeom prst="roundRect">
            <a:avLst>
              <a:gd name="adj" fmla="val 15625"/>
            </a:avLst>
          </a:prstGeom>
          <a:solidFill>
            <a:srgbClr val="B5482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18251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GUARDRAILS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Must Be Managed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compliance system shifts — but does not remove — risk. Four areas need deliberate guardrails before and during production.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121408"/>
            <a:ext cx="5458968" cy="1773936"/>
          </a:xfrm>
          <a:prstGeom prst="roundRect">
            <a:avLst>
              <a:gd name="adj" fmla="val 3608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95728"/>
            <a:ext cx="640080" cy="640080"/>
          </a:xfrm>
          <a:prstGeom prst="ellipse">
            <a:avLst/>
          </a:prstGeom>
          <a:solidFill>
            <a:srgbClr val="B5482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55574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27632" y="2395728"/>
            <a:ext cx="4178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risk &amp; explainability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77824" y="3035808"/>
            <a:ext cx="48554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and auditors will expect a clear rationale behind every agent score or recommendation — not just a number. Explainability is a design requirement, not an afterthought.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72200" y="2121408"/>
            <a:ext cx="5458968" cy="1773936"/>
          </a:xfrm>
          <a:prstGeom prst="roundRect">
            <a:avLst>
              <a:gd name="adj" fmla="val 3608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395728"/>
            <a:ext cx="640080" cy="640080"/>
          </a:xfrm>
          <a:prstGeom prst="ellipse">
            <a:avLst/>
          </a:prstGeom>
          <a:solidFill>
            <a:srgbClr val="1B8A9E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52" y="255574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32904" y="2395728"/>
            <a:ext cx="4178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Data-quality dependency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83096" y="3035808"/>
            <a:ext cx="48554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output is bounded by the quality and completeness of the underlying customer, transaction and document data. Garbage in still means garbage out.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66928" y="4059936"/>
            <a:ext cx="5458968" cy="1773936"/>
          </a:xfrm>
          <a:prstGeom prst="roundRect">
            <a:avLst>
              <a:gd name="adj" fmla="val 3608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334256"/>
            <a:ext cx="640080" cy="640080"/>
          </a:xfrm>
          <a:prstGeom prst="ellipse">
            <a:avLst/>
          </a:prstGeom>
          <a:solidFill>
            <a:srgbClr val="5B4FD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494276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27632" y="4334256"/>
            <a:ext cx="4178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management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77824" y="4974336"/>
            <a:ext cx="48554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move from full manual investigation to review-and-override. That requires retraining, redefined roles, and clear escalation paths for edge cases.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172200" y="4059936"/>
            <a:ext cx="5458968" cy="1773936"/>
          </a:xfrm>
          <a:prstGeom prst="roundRect">
            <a:avLst>
              <a:gd name="adj" fmla="val 3608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28232" y="4334256"/>
            <a:ext cx="640080" cy="640080"/>
          </a:xfrm>
          <a:prstGeom prst="ellipse">
            <a:avLst/>
          </a:prstGeom>
          <a:solidFill>
            <a:srgbClr val="D98324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252" y="4494276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32904" y="4334256"/>
            <a:ext cx="4178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calibration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483096" y="4974336"/>
            <a:ext cx="48554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for mandatory human review must be set deliberately and revisited periodically — too low floods analysts, too high lets risk through.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66928" y="61996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assumption: the as-is process is a representative industry-standard model, not a verified extract of TradePe’s SOPs; existing tooling is assumed rule-based. If vendor tools (ComplyAdvantage, World-Check, LexisNexis, Moody’s) are already deployed, revise the current-state accordingly.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52144" cy="292608"/>
          </a:xfrm>
          <a:prstGeom prst="roundRect">
            <a:avLst>
              <a:gd name="adj" fmla="val 15625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Pilot-First Path to Rollout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model on one agent with the clearest near-term ROI, set the explainability and human-review standards, then scale to the full five-agent Copilot.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2628900" cy="3200400"/>
          </a:xfrm>
          <a:prstGeom prst="roundRect">
            <a:avLst>
              <a:gd name="adj" fmla="val 243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97330" y="2596896"/>
            <a:ext cx="768096" cy="768096"/>
          </a:xfrm>
          <a:prstGeom prst="ellipse">
            <a:avLst/>
          </a:prstGeom>
          <a:solidFill>
            <a:srgbClr val="1B8A9E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354" y="278892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3456432"/>
            <a:ext cx="2446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8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94944" y="3877056"/>
            <a:ext cx="23728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the map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68096" y="4297680"/>
            <a:ext cx="22265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6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this as-is process against TradePe’s actual SOPs, systems and tooling before anything is built or shared externally.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3378708" y="2286000"/>
            <a:ext cx="2628900" cy="3200400"/>
          </a:xfrm>
          <a:prstGeom prst="roundRect">
            <a:avLst>
              <a:gd name="adj" fmla="val 243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09110" y="2596896"/>
            <a:ext cx="768096" cy="768096"/>
          </a:xfrm>
          <a:prstGeom prst="ellipse">
            <a:avLst/>
          </a:prstGeom>
          <a:solidFill>
            <a:srgbClr val="B5482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134" y="278892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0148" y="3456432"/>
            <a:ext cx="2446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54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3506724" y="3877056"/>
            <a:ext cx="23728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one agent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579876" y="4297680"/>
            <a:ext cx="22265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6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clearest ROI — typically the Sanctions or Customer Risk Agent — to prove value before the full rollout.</a:t>
            </a:r>
            <a:endParaRPr lang="en-US" sz="1060" dirty="0"/>
          </a:p>
        </p:txBody>
      </p:sp>
      <p:sp>
        <p:nvSpPr>
          <p:cNvPr id="18" name="Shape 14"/>
          <p:cNvSpPr/>
          <p:nvPr/>
        </p:nvSpPr>
        <p:spPr>
          <a:xfrm>
            <a:off x="6190488" y="2286000"/>
            <a:ext cx="2628900" cy="3200400"/>
          </a:xfrm>
          <a:prstGeom prst="roundRect">
            <a:avLst>
              <a:gd name="adj" fmla="val 243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20890" y="2596896"/>
            <a:ext cx="768096" cy="768096"/>
          </a:xfrm>
          <a:prstGeom prst="ellipse">
            <a:avLst/>
          </a:prstGeom>
          <a:solidFill>
            <a:srgbClr val="5B4FD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2914" y="2788920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81928" y="3456432"/>
            <a:ext cx="2446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4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6318504" y="3877056"/>
            <a:ext cx="23728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the standard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391656" y="4297680"/>
            <a:ext cx="22265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6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audit-trail and explainability bar each agent must meet, and the human-review thresholds &amp; escalation rules.</a:t>
            </a:r>
            <a:endParaRPr lang="en-US" sz="1060" dirty="0"/>
          </a:p>
        </p:txBody>
      </p:sp>
      <p:sp>
        <p:nvSpPr>
          <p:cNvPr id="24" name="Shape 19"/>
          <p:cNvSpPr/>
          <p:nvPr/>
        </p:nvSpPr>
        <p:spPr>
          <a:xfrm>
            <a:off x="9002268" y="2286000"/>
            <a:ext cx="2628900" cy="3200400"/>
          </a:xfrm>
          <a:prstGeom prst="roundRect">
            <a:avLst>
              <a:gd name="adj" fmla="val 243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932670" y="2596896"/>
            <a:ext cx="768096" cy="768096"/>
          </a:xfrm>
          <a:prstGeom prst="ellipse">
            <a:avLst/>
          </a:prstGeom>
          <a:solidFill>
            <a:srgbClr val="1F8B5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4694" y="2788920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093708" y="3456432"/>
            <a:ext cx="2446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8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9130284" y="3877056"/>
            <a:ext cx="23728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to five agents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9203436" y="4297680"/>
            <a:ext cx="22265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6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the remaining agents under the orchestration layer, with the human-in-the-loop calibration reviewed as volume grows.</a:t>
            </a:r>
            <a:endParaRPr lang="en-US" sz="1060" dirty="0"/>
          </a:p>
        </p:txBody>
      </p:sp>
      <p:sp>
        <p:nvSpPr>
          <p:cNvPr id="30" name="Shape 24"/>
          <p:cNvSpPr/>
          <p:nvPr/>
        </p:nvSpPr>
        <p:spPr>
          <a:xfrm>
            <a:off x="566928" y="5742432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EAEEF4"/>
          </a:solidFill>
          <a:ln/>
        </p:spPr>
      </p:sp>
      <p:sp>
        <p:nvSpPr>
          <p:cNvPr id="31" name="Text 25"/>
          <p:cNvSpPr/>
          <p:nvPr/>
        </p:nvSpPr>
        <p:spPr>
          <a:xfrm>
            <a:off x="859536" y="5742432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i="1" dirty="0">
                <a:solidFill>
                  <a:srgbClr val="B54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the bet.  </a:t>
            </a:r>
            <a:r>
              <a:rPr lang="en-US" sz="120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in production, fully explainable and trusted by the team, de-risks the case for the other four far better than a big-bang launch.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B54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194560"/>
            <a:ext cx="7498080" cy="74980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2560320"/>
            <a:ext cx="5486400" cy="5486400"/>
          </a:xfrm>
          <a:prstGeom prst="ellipse">
            <a:avLst/>
          </a:prstGeom>
          <a:solidFill>
            <a:srgbClr val="1B2A4A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0350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40" dirty="0">
                <a:solidFill>
                  <a:srgbClr val="F6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3504" y="969264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TradePe doesn’t replace the compliance officer.</a:t>
            </a:r>
            <a:endParaRPr lang="en-US" sz="3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removes the manual investigation.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21792" y="23774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BE7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workstreams that ran in series, by hand, now run in parallel — and arrive at the officer as one decision.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3504" y="3127248"/>
            <a:ext cx="2606040" cy="2468880"/>
          </a:xfrm>
          <a:prstGeom prst="roundRect">
            <a:avLst>
              <a:gd name="adj" fmla="val 2593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3364992"/>
            <a:ext cx="603504" cy="603504"/>
          </a:xfrm>
          <a:prstGeom prst="ellipse">
            <a:avLst/>
          </a:prstGeom>
          <a:solidFill>
            <a:srgbClr val="1B2A4A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3515868"/>
            <a:ext cx="301752" cy="3017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407822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= Throughput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4645152"/>
            <a:ext cx="21854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60" dirty="0">
                <a:solidFill>
                  <a:srgbClr val="FC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workstreams run in parallel, not in series — capacity scales with volume, not headcount.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3392424" y="3127248"/>
            <a:ext cx="2606040" cy="2468880"/>
          </a:xfrm>
          <a:prstGeom prst="roundRect">
            <a:avLst>
              <a:gd name="adj" fmla="val 2593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3364992"/>
            <a:ext cx="603504" cy="603504"/>
          </a:xfrm>
          <a:prstGeom prst="ellipse">
            <a:avLst/>
          </a:prstGeom>
          <a:solidFill>
            <a:srgbClr val="1B2A4A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756" y="3515868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93592" y="407822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= Clarity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611880" y="4645152"/>
            <a:ext cx="21854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60" dirty="0">
                <a:solidFill>
                  <a:srgbClr val="FC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officer reviews one consolidated recommendation, not a queue of raw alerts and checks.</a:t>
            </a:r>
            <a:endParaRPr lang="en-US" sz="1060" dirty="0"/>
          </a:p>
        </p:txBody>
      </p:sp>
      <p:sp>
        <p:nvSpPr>
          <p:cNvPr id="17" name="Shape 13"/>
          <p:cNvSpPr/>
          <p:nvPr/>
        </p:nvSpPr>
        <p:spPr>
          <a:xfrm>
            <a:off x="6181344" y="3127248"/>
            <a:ext cx="2606040" cy="2468880"/>
          </a:xfrm>
          <a:prstGeom prst="roundRect">
            <a:avLst>
              <a:gd name="adj" fmla="val 2593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6400800" y="3364992"/>
            <a:ext cx="603504" cy="603504"/>
          </a:xfrm>
          <a:prstGeom prst="ellipse">
            <a:avLst/>
          </a:prstGeom>
          <a:solidFill>
            <a:srgbClr val="1B2A4A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1676" y="3515868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82512" y="407822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= Trust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00800" y="4645152"/>
            <a:ext cx="21854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60" dirty="0">
                <a:solidFill>
                  <a:srgbClr val="FC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carries a traceable rationale — the system is built to be audited, by design.</a:t>
            </a:r>
            <a:endParaRPr lang="en-US" sz="1060" dirty="0"/>
          </a:p>
        </p:txBody>
      </p:sp>
      <p:sp>
        <p:nvSpPr>
          <p:cNvPr id="22" name="Shape 17"/>
          <p:cNvSpPr/>
          <p:nvPr/>
        </p:nvSpPr>
        <p:spPr>
          <a:xfrm>
            <a:off x="8970264" y="3127248"/>
            <a:ext cx="2606040" cy="2468880"/>
          </a:xfrm>
          <a:prstGeom prst="roundRect">
            <a:avLst>
              <a:gd name="adj" fmla="val 2593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9189720" y="3364992"/>
            <a:ext cx="603504" cy="603504"/>
          </a:xfrm>
          <a:prstGeom prst="ellipse">
            <a:avLst/>
          </a:prstGeom>
          <a:solidFill>
            <a:srgbClr val="1B2A4A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0596" y="3515868"/>
            <a:ext cx="301752" cy="3017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71432" y="407822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Human-in-loop = Control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189720" y="4645152"/>
            <a:ext cx="21854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60" dirty="0">
                <a:solidFill>
                  <a:srgbClr val="FC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for mandatory human review is owned and tuned — never automated away.</a:t>
            </a:r>
            <a:endParaRPr lang="en-US" sz="1060" dirty="0"/>
          </a:p>
        </p:txBody>
      </p:sp>
      <p:sp>
        <p:nvSpPr>
          <p:cNvPr id="27" name="Text 21"/>
          <p:cNvSpPr/>
          <p:nvPr/>
        </p:nvSpPr>
        <p:spPr>
          <a:xfrm>
            <a:off x="603504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judgment stays human. The manual investigation does not.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52144" cy="292608"/>
          </a:xfrm>
          <a:prstGeom prst="roundRect">
            <a:avLst>
              <a:gd name="adj" fmla="val 15625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Regulatory References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Company-level specifics for TradePe should be validated internally. The regulatory and methodological foundations below are public and citable.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194560"/>
            <a:ext cx="3541776" cy="3383280"/>
          </a:xfrm>
          <a:prstGeom prst="roundRect">
            <a:avLst>
              <a:gd name="adj" fmla="val 1892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468880"/>
            <a:ext cx="640080" cy="640080"/>
          </a:xfrm>
          <a:prstGeom prst="ellipse">
            <a:avLst/>
          </a:prstGeom>
          <a:solidFill>
            <a:srgbClr val="B5482F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6289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9344" y="2505456"/>
            <a:ext cx="2353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Indian regulatory framework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59536" y="3291840"/>
            <a:ext cx="30297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06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Master Directions — KYC &amp; cross-border payments</a:t>
            </a:r>
            <a:endParaRPr lang="en-US" sz="1060" dirty="0"/>
          </a:p>
          <a:p>
            <a:pPr marL="177800" indent="-177800" algn="l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06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 1999 — foreign-exchange management</a:t>
            </a:r>
            <a:endParaRPr lang="en-US" sz="1060" dirty="0"/>
          </a:p>
          <a:p>
            <a:pPr marL="177800" indent="-177800" algn="l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06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DGFT / IEC — Foreign Trade Policy</a:t>
            </a:r>
            <a:endParaRPr lang="en-US" sz="1060" dirty="0"/>
          </a:p>
          <a:p>
            <a:pPr marL="177800" indent="-177800" algn="l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06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FIU-IND &amp; PMLA 2002 — AML reporting</a:t>
            </a:r>
            <a:endParaRPr lang="en-US" sz="1060" dirty="0"/>
          </a:p>
          <a:p>
            <a:pPr marL="177800" indent="-177800" algn="l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06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CBIC / Customs — trade documentation</a:t>
            </a:r>
            <a:endParaRPr lang="en-US" sz="1060" dirty="0"/>
          </a:p>
        </p:txBody>
      </p:sp>
      <p:sp>
        <p:nvSpPr>
          <p:cNvPr id="11" name="Shape 8"/>
          <p:cNvSpPr/>
          <p:nvPr/>
        </p:nvSpPr>
        <p:spPr>
          <a:xfrm>
            <a:off x="4328160" y="2194560"/>
            <a:ext cx="3541776" cy="3383280"/>
          </a:xfrm>
          <a:prstGeom prst="roundRect">
            <a:avLst>
              <a:gd name="adj" fmla="val 1892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84192" y="2468880"/>
            <a:ext cx="640080" cy="640080"/>
          </a:xfrm>
          <a:prstGeom prst="ellipse">
            <a:avLst/>
          </a:prstGeom>
          <a:solidFill>
            <a:srgbClr val="1B8A9E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212" y="26289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70576" y="2505456"/>
            <a:ext cx="2353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International standards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620768" y="3291840"/>
            <a:ext cx="30297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06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 Recommendations, incl. TBML guidance</a:t>
            </a:r>
            <a:endParaRPr lang="en-US" sz="1060" dirty="0"/>
          </a:p>
          <a:p>
            <a:pPr marL="177800" indent="-177800" algn="l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06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OFAC, UN Security Council &amp; EU sanctions lists</a:t>
            </a:r>
            <a:endParaRPr lang="en-US" sz="1060" dirty="0"/>
          </a:p>
          <a:p>
            <a:pPr marL="177800" indent="-177800" algn="l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06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&amp; adverse-media screening norms</a:t>
            </a:r>
            <a:endParaRPr lang="en-US" sz="1060" dirty="0"/>
          </a:p>
          <a:p>
            <a:pPr marL="177800" indent="-177800" algn="l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06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Wolfsberg Group AML principles</a:t>
            </a:r>
            <a:endParaRPr lang="en-US" sz="1060" dirty="0"/>
          </a:p>
          <a:p>
            <a:pPr marL="177800" indent="-177800" algn="l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06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 / FATF risk-based approach</a:t>
            </a:r>
            <a:endParaRPr lang="en-US" sz="1060" dirty="0"/>
          </a:p>
        </p:txBody>
      </p:sp>
      <p:sp>
        <p:nvSpPr>
          <p:cNvPr id="16" name="Shape 12"/>
          <p:cNvSpPr/>
          <p:nvPr/>
        </p:nvSpPr>
        <p:spPr>
          <a:xfrm>
            <a:off x="8089392" y="2194560"/>
            <a:ext cx="3541776" cy="3383280"/>
          </a:xfrm>
          <a:prstGeom prst="roundRect">
            <a:avLst>
              <a:gd name="adj" fmla="val 1892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45424" y="2468880"/>
            <a:ext cx="640080" cy="640080"/>
          </a:xfrm>
          <a:prstGeom prst="ellipse">
            <a:avLst/>
          </a:prstGeom>
          <a:solidFill>
            <a:srgbClr val="5B4FD6"/>
          </a:solidFill>
          <a:ln/>
          <a:effectLst>
            <a:outerShdw blurRad="88900" dist="25400" dir="5400000" algn="bl" rotWithShape="0">
              <a:srgbClr val="1B2A4A">
                <a:alpha val="10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5444" y="262890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31808" y="2505456"/>
            <a:ext cx="2353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industry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382000" y="3291840"/>
            <a:ext cx="30297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06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cross-border trade-finance practice</a:t>
            </a:r>
            <a:endParaRPr lang="en-US" sz="1060" dirty="0"/>
          </a:p>
          <a:p>
            <a:pPr marL="177800" indent="-177800" algn="l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06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AML typologies — structuring, layering</a:t>
            </a:r>
            <a:endParaRPr lang="en-US" sz="1060" dirty="0"/>
          </a:p>
          <a:p>
            <a:pPr marL="177800" indent="-177800" algn="l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06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TBML patterns — over/under-invoicing</a:t>
            </a:r>
            <a:endParaRPr lang="en-US" sz="1060" dirty="0"/>
          </a:p>
          <a:p>
            <a:pPr marL="177800" indent="-177800" algn="l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06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references (tooling examples): World-Check,</a:t>
            </a:r>
            <a:endParaRPr lang="en-US" sz="1060" dirty="0"/>
          </a:p>
          <a:p>
            <a:pPr marL="177800" indent="-177800" algn="l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060" dirty="0">
                <a:solidFill>
                  <a:srgbClr val="47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ComplyAdvantage, LexisNexis, Moody's Analytics</a:t>
            </a:r>
            <a:endParaRPr lang="en-US" sz="1060" dirty="0"/>
          </a:p>
        </p:txBody>
      </p:sp>
      <p:sp>
        <p:nvSpPr>
          <p:cNvPr id="21" name="Text 16"/>
          <p:cNvSpPr/>
          <p:nvPr/>
        </p:nvSpPr>
        <p:spPr>
          <a:xfrm>
            <a:off x="566928" y="58704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i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note: prepared without access to TradePe's internal SOPs, systems or website; the as-is process is a representative industry-standard model. Validate roles, tools and timelines against TradePe's actual documentation before external use.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4069</Words>
  <Application>Microsoft Office PowerPoint</Application>
  <PresentationFormat>Widescreen</PresentationFormat>
  <Paragraphs>594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TradePe — AI Compliance Copilot</dc:title>
  <dc:subject>PptxGenJS Presentation</dc:subject>
  <dc:creator>Compliance &amp; Product</dc:creator>
  <cp:lastModifiedBy>dell</cp:lastModifiedBy>
  <cp:revision>1</cp:revision>
  <dcterms:created xsi:type="dcterms:W3CDTF">2026-06-28T08:31:14Z</dcterms:created>
  <dcterms:modified xsi:type="dcterms:W3CDTF">2026-06-28T08:40:30Z</dcterms:modified>
</cp:coreProperties>
</file>