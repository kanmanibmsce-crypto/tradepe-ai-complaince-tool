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237744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2377440"/>
          </a:xfrm>
          <a:prstGeom prst="rect">
            <a:avLst/>
          </a:prstGeom>
          <a:solidFill>
            <a:srgbClr val="00C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256032"/>
            <a:ext cx="10972800" cy="320040"/>
          </a:xfrm>
          <a:prstGeom prst="rect">
            <a:avLst/>
          </a:prstGeom>
          <a:noFill/>
        </p:spPr>
        <p:txBody>
          <a:bodyPr wrap="square">
            <a:spAutoFit/>
          </a:bodyPr>
          <a:lstStyle/>
          <a:p>
            <a:pPr algn="l"/>
            <a:r>
              <a:rPr sz="1050" b="0">
                <a:solidFill>
                  <a:srgbClr val="94A3B8"/>
                </a:solidFill>
              </a:rPr>
              <a:t>IITM Product Design and Management  ·  Group 6  ·  Capstone Project</a:t>
            </a:r>
          </a:p>
        </p:txBody>
      </p:sp>
      <p:sp>
        <p:nvSpPr>
          <p:cNvPr id="5" name="TextBox 4"/>
          <p:cNvSpPr txBox="1"/>
          <p:nvPr/>
        </p:nvSpPr>
        <p:spPr>
          <a:xfrm>
            <a:off x="411480" y="621792"/>
            <a:ext cx="10972800" cy="960120"/>
          </a:xfrm>
          <a:prstGeom prst="rect">
            <a:avLst/>
          </a:prstGeom>
          <a:noFill/>
        </p:spPr>
        <p:txBody>
          <a:bodyPr wrap="square">
            <a:spAutoFit/>
          </a:bodyPr>
          <a:lstStyle/>
          <a:p>
            <a:pPr algn="l"/>
            <a:r>
              <a:rPr sz="4000" b="1">
                <a:solidFill>
                  <a:srgbClr val="FFFFFF"/>
                </a:solidFill>
              </a:rPr>
              <a:t>TradePe / ScreenDesk</a:t>
            </a:r>
          </a:p>
        </p:txBody>
      </p:sp>
      <p:sp>
        <p:nvSpPr>
          <p:cNvPr id="6" name="TextBox 5"/>
          <p:cNvSpPr txBox="1"/>
          <p:nvPr/>
        </p:nvSpPr>
        <p:spPr>
          <a:xfrm>
            <a:off x="411480" y="1664208"/>
            <a:ext cx="10972800" cy="457200"/>
          </a:xfrm>
          <a:prstGeom prst="rect">
            <a:avLst/>
          </a:prstGeom>
          <a:noFill/>
        </p:spPr>
        <p:txBody>
          <a:bodyPr wrap="square">
            <a:spAutoFit/>
          </a:bodyPr>
          <a:lstStyle/>
          <a:p>
            <a:pPr algn="l"/>
            <a:r>
              <a:rPr sz="1700" b="1">
                <a:solidFill>
                  <a:srgbClr val="00C2A8"/>
                </a:solidFill>
              </a:rPr>
              <a:t>AI-Assisted Compliance Copilot for Cross-Border Trade Payments</a:t>
            </a:r>
          </a:p>
        </p:txBody>
      </p:sp>
      <p:sp>
        <p:nvSpPr>
          <p:cNvPr id="7" name="TextBox 6"/>
          <p:cNvSpPr txBox="1"/>
          <p:nvPr/>
        </p:nvSpPr>
        <p:spPr>
          <a:xfrm>
            <a:off x="411480" y="2578608"/>
            <a:ext cx="4114800" cy="274320"/>
          </a:xfrm>
          <a:prstGeom prst="rect">
            <a:avLst/>
          </a:prstGeom>
          <a:noFill/>
        </p:spPr>
        <p:txBody>
          <a:bodyPr wrap="square">
            <a:spAutoFit/>
          </a:bodyPr>
          <a:lstStyle/>
          <a:p>
            <a:pPr algn="l"/>
            <a:r>
              <a:rPr sz="900" b="1">
                <a:solidFill>
                  <a:srgbClr val="00A890"/>
                </a:solidFill>
              </a:rPr>
              <a:t>WHAT WAS BUILT</a:t>
            </a:r>
          </a:p>
        </p:txBody>
      </p:sp>
      <p:sp>
        <p:nvSpPr>
          <p:cNvPr id="8" name="Rectangle 7"/>
          <p:cNvSpPr/>
          <p:nvPr/>
        </p:nvSpPr>
        <p:spPr>
          <a:xfrm>
            <a:off x="411480" y="2907792"/>
            <a:ext cx="11430000" cy="12700"/>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999232"/>
            <a:ext cx="6583680" cy="320040"/>
          </a:xfrm>
          <a:prstGeom prst="rect">
            <a:avLst/>
          </a:prstGeom>
          <a:noFill/>
        </p:spPr>
        <p:txBody>
          <a:bodyPr wrap="square">
            <a:spAutoFit/>
          </a:bodyPr>
          <a:lstStyle/>
          <a:p>
            <a:pPr algn="l"/>
            <a:r>
              <a:rPr sz="1050" b="0">
                <a:solidFill>
                  <a:srgbClr val="1E293B"/>
                </a:solidFill>
              </a:rPr>
              <a:t>▶  Working Flask + SQLite application with 5 specialist AI agents</a:t>
            </a:r>
          </a:p>
        </p:txBody>
      </p:sp>
      <p:sp>
        <p:nvSpPr>
          <p:cNvPr id="10" name="TextBox 9"/>
          <p:cNvSpPr txBox="1"/>
          <p:nvPr/>
        </p:nvSpPr>
        <p:spPr>
          <a:xfrm>
            <a:off x="502920" y="3346703"/>
            <a:ext cx="6583680" cy="320040"/>
          </a:xfrm>
          <a:prstGeom prst="rect">
            <a:avLst/>
          </a:prstGeom>
          <a:noFill/>
        </p:spPr>
        <p:txBody>
          <a:bodyPr wrap="square">
            <a:spAutoFit/>
          </a:bodyPr>
          <a:lstStyle/>
          <a:p>
            <a:pPr algn="l"/>
            <a:r>
              <a:rPr sz="1050" b="0">
                <a:solidFill>
                  <a:srgbClr val="1E293B"/>
                </a:solidFill>
              </a:rPr>
              <a:t>▶  Two-level orchestration: Level A weighted scoring + Level B hard-stop rules</a:t>
            </a:r>
          </a:p>
        </p:txBody>
      </p:sp>
      <p:sp>
        <p:nvSpPr>
          <p:cNvPr id="11" name="TextBox 10"/>
          <p:cNvSpPr txBox="1"/>
          <p:nvPr/>
        </p:nvSpPr>
        <p:spPr>
          <a:xfrm>
            <a:off x="502920" y="3694176"/>
            <a:ext cx="6583680" cy="320040"/>
          </a:xfrm>
          <a:prstGeom prst="rect">
            <a:avLst/>
          </a:prstGeom>
          <a:noFill/>
        </p:spPr>
        <p:txBody>
          <a:bodyPr wrap="square">
            <a:spAutoFit/>
          </a:bodyPr>
          <a:lstStyle/>
          <a:p>
            <a:pPr algn="l"/>
            <a:r>
              <a:rPr sz="1050" b="0">
                <a:solidFill>
                  <a:srgbClr val="1E293B"/>
                </a:solidFill>
              </a:rPr>
              <a:t>▶  155 automated tests  ·  10 verified demo scenarios  ·  Append-only audit trail</a:t>
            </a:r>
          </a:p>
        </p:txBody>
      </p:sp>
      <p:sp>
        <p:nvSpPr>
          <p:cNvPr id="12" name="TextBox 11"/>
          <p:cNvSpPr txBox="1"/>
          <p:nvPr/>
        </p:nvSpPr>
        <p:spPr>
          <a:xfrm>
            <a:off x="502920" y="4041648"/>
            <a:ext cx="6583680" cy="320040"/>
          </a:xfrm>
          <a:prstGeom prst="rect">
            <a:avLst/>
          </a:prstGeom>
          <a:noFill/>
        </p:spPr>
        <p:txBody>
          <a:bodyPr wrap="square">
            <a:spAutoFit/>
          </a:bodyPr>
          <a:lstStyle/>
          <a:p>
            <a:pPr algn="l"/>
            <a:r>
              <a:rPr sz="1050" b="0">
                <a:solidFill>
                  <a:srgbClr val="1E293B"/>
                </a:solidFill>
              </a:rPr>
              <a:t>▶  Human-in-the-loop decision layer: analyst reviews, decides, and signs every outcome</a:t>
            </a:r>
          </a:p>
        </p:txBody>
      </p:sp>
      <p:sp>
        <p:nvSpPr>
          <p:cNvPr id="13" name="Rectangle 12"/>
          <p:cNvSpPr/>
          <p:nvPr/>
        </p:nvSpPr>
        <p:spPr>
          <a:xfrm>
            <a:off x="7589520" y="2514600"/>
            <a:ext cx="1417320" cy="1691640"/>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62672" y="2670048"/>
            <a:ext cx="1298448" cy="621792"/>
          </a:xfrm>
          <a:prstGeom prst="rect">
            <a:avLst/>
          </a:prstGeom>
          <a:noFill/>
        </p:spPr>
        <p:txBody>
          <a:bodyPr wrap="square">
            <a:spAutoFit/>
          </a:bodyPr>
          <a:lstStyle/>
          <a:p>
            <a:pPr algn="ctr"/>
            <a:r>
              <a:rPr sz="2800" b="1">
                <a:solidFill>
                  <a:srgbClr val="00A890"/>
                </a:solidFill>
              </a:rPr>
              <a:t>5</a:t>
            </a:r>
          </a:p>
        </p:txBody>
      </p:sp>
      <p:sp>
        <p:nvSpPr>
          <p:cNvPr id="15" name="TextBox 14"/>
          <p:cNvSpPr txBox="1"/>
          <p:nvPr/>
        </p:nvSpPr>
        <p:spPr>
          <a:xfrm>
            <a:off x="7644384" y="3310128"/>
            <a:ext cx="1316736" cy="438912"/>
          </a:xfrm>
          <a:prstGeom prst="rect">
            <a:avLst/>
          </a:prstGeom>
          <a:noFill/>
        </p:spPr>
        <p:txBody>
          <a:bodyPr wrap="square">
            <a:spAutoFit/>
          </a:bodyPr>
          <a:lstStyle/>
          <a:p>
            <a:pPr algn="ctr"/>
            <a:r>
              <a:rPr sz="900" b="0">
                <a:solidFill>
                  <a:srgbClr val="475569"/>
                </a:solidFill>
              </a:rPr>
              <a:t>Specialist AI
Agents</a:t>
            </a:r>
          </a:p>
        </p:txBody>
      </p:sp>
      <p:sp>
        <p:nvSpPr>
          <p:cNvPr id="16" name="Rectangle 15"/>
          <p:cNvSpPr/>
          <p:nvPr/>
        </p:nvSpPr>
        <p:spPr>
          <a:xfrm>
            <a:off x="9098280" y="2514600"/>
            <a:ext cx="1417320" cy="1691640"/>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71432" y="2670048"/>
            <a:ext cx="1298448" cy="621792"/>
          </a:xfrm>
          <a:prstGeom prst="rect">
            <a:avLst/>
          </a:prstGeom>
          <a:noFill/>
        </p:spPr>
        <p:txBody>
          <a:bodyPr wrap="square">
            <a:spAutoFit/>
          </a:bodyPr>
          <a:lstStyle/>
          <a:p>
            <a:pPr algn="ctr"/>
            <a:r>
              <a:rPr sz="2800" b="1">
                <a:solidFill>
                  <a:srgbClr val="058C69"/>
                </a:solidFill>
              </a:rPr>
              <a:t>155</a:t>
            </a:r>
          </a:p>
        </p:txBody>
      </p:sp>
      <p:sp>
        <p:nvSpPr>
          <p:cNvPr id="18" name="TextBox 17"/>
          <p:cNvSpPr txBox="1"/>
          <p:nvPr/>
        </p:nvSpPr>
        <p:spPr>
          <a:xfrm>
            <a:off x="9153144" y="3310128"/>
            <a:ext cx="1316736" cy="438912"/>
          </a:xfrm>
          <a:prstGeom prst="rect">
            <a:avLst/>
          </a:prstGeom>
          <a:noFill/>
        </p:spPr>
        <p:txBody>
          <a:bodyPr wrap="square">
            <a:spAutoFit/>
          </a:bodyPr>
          <a:lstStyle/>
          <a:p>
            <a:pPr algn="ctr"/>
            <a:r>
              <a:rPr sz="900" b="0">
                <a:solidFill>
                  <a:srgbClr val="475569"/>
                </a:solidFill>
              </a:rPr>
              <a:t>Automated
Tests</a:t>
            </a:r>
          </a:p>
        </p:txBody>
      </p:sp>
      <p:sp>
        <p:nvSpPr>
          <p:cNvPr id="19" name="Rectangle 18"/>
          <p:cNvSpPr/>
          <p:nvPr/>
        </p:nvSpPr>
        <p:spPr>
          <a:xfrm>
            <a:off x="10607040" y="2514600"/>
            <a:ext cx="1417320" cy="1691640"/>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80192" y="2670048"/>
            <a:ext cx="1298448" cy="621792"/>
          </a:xfrm>
          <a:prstGeom prst="rect">
            <a:avLst/>
          </a:prstGeom>
          <a:noFill/>
        </p:spPr>
        <p:txBody>
          <a:bodyPr wrap="square">
            <a:spAutoFit/>
          </a:bodyPr>
          <a:lstStyle/>
          <a:p>
            <a:pPr algn="ctr"/>
            <a:r>
              <a:rPr sz="2800" b="1">
                <a:solidFill>
                  <a:srgbClr val="B45B09"/>
                </a:solidFill>
              </a:rPr>
              <a:t>100%</a:t>
            </a:r>
          </a:p>
        </p:txBody>
      </p:sp>
      <p:sp>
        <p:nvSpPr>
          <p:cNvPr id="21" name="TextBox 20"/>
          <p:cNvSpPr txBox="1"/>
          <p:nvPr/>
        </p:nvSpPr>
        <p:spPr>
          <a:xfrm>
            <a:off x="10661904" y="3310128"/>
            <a:ext cx="1316736" cy="438912"/>
          </a:xfrm>
          <a:prstGeom prst="rect">
            <a:avLst/>
          </a:prstGeom>
          <a:noFill/>
        </p:spPr>
        <p:txBody>
          <a:bodyPr wrap="square">
            <a:spAutoFit/>
          </a:bodyPr>
          <a:lstStyle/>
          <a:p>
            <a:pPr algn="ctr"/>
            <a:r>
              <a:rPr sz="900" b="0">
                <a:solidFill>
                  <a:srgbClr val="475569"/>
                </a:solidFill>
              </a:rPr>
              <a:t>Rationale
Coverage</a:t>
            </a:r>
          </a:p>
        </p:txBody>
      </p:sp>
      <p:sp>
        <p:nvSpPr>
          <p:cNvPr id="22" name="Rectangle 21"/>
          <p:cNvSpPr/>
          <p:nvPr/>
        </p:nvSpPr>
        <p:spPr>
          <a:xfrm>
            <a:off x="411480" y="4681728"/>
            <a:ext cx="11384280" cy="1270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4800600"/>
            <a:ext cx="11430000" cy="274320"/>
          </a:xfrm>
          <a:prstGeom prst="rect">
            <a:avLst/>
          </a:prstGeom>
          <a:noFill/>
        </p:spPr>
        <p:txBody>
          <a:bodyPr wrap="square">
            <a:spAutoFit/>
          </a:bodyPr>
          <a:lstStyle/>
          <a:p>
            <a:pPr algn="l"/>
            <a:r>
              <a:rPr sz="1300" b="1">
                <a:solidFill>
                  <a:srgbClr val="0F2140"/>
                </a:solidFill>
              </a:rPr>
              <a:t>"The AI drafts.  The analyst decides.  The audit trail is automatic."</a:t>
            </a:r>
          </a:p>
        </p:txBody>
      </p:sp>
      <p:sp>
        <p:nvSpPr>
          <p:cNvPr id="24" name="TextBox 23"/>
          <p:cNvSpPr txBox="1"/>
          <p:nvPr/>
        </p:nvSpPr>
        <p:spPr>
          <a:xfrm>
            <a:off x="411480" y="5166360"/>
            <a:ext cx="11430000" cy="256032"/>
          </a:xfrm>
          <a:prstGeom prst="rect">
            <a:avLst/>
          </a:prstGeom>
          <a:noFill/>
        </p:spPr>
        <p:txBody>
          <a:bodyPr wrap="square">
            <a:spAutoFit/>
          </a:bodyPr>
          <a:lstStyle/>
          <a:p>
            <a:pPr algn="l"/>
            <a:r>
              <a:rPr sz="950" b="0">
                <a:solidFill>
                  <a:srgbClr val="475569"/>
                </a:solidFill>
              </a:rPr>
              <a:t>AI-assisted end to end: Claude Code built the product  ·  Claude API powers rationale drafting  ·  AI supported research, requirements &amp; GTM strategy</a:t>
            </a:r>
          </a:p>
        </p:txBody>
      </p:sp>
      <p:sp>
        <p:nvSpPr>
          <p:cNvPr id="25" name="Rectangle 24"/>
          <p:cNvSpPr/>
          <p:nvPr/>
        </p:nvSpPr>
        <p:spPr>
          <a:xfrm>
            <a:off x="274320" y="5715000"/>
            <a:ext cx="11640312"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00" b="0">
                <a:solidFill>
                  <a:srgbClr val="475569"/>
                </a:solidFill>
              </a:rP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Agenda</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What we will cover across 24 slides</a:t>
            </a:r>
          </a:p>
        </p:txBody>
      </p:sp>
      <p:sp>
        <p:nvSpPr>
          <p:cNvPr id="6" name="Rectangle 5"/>
          <p:cNvSpPr/>
          <p:nvPr/>
        </p:nvSpPr>
        <p:spPr>
          <a:xfrm>
            <a:off x="274320" y="1024128"/>
            <a:ext cx="5577840" cy="8046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24128"/>
            <a:ext cx="54864" cy="80467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097280"/>
            <a:ext cx="548640" cy="347472"/>
          </a:xfrm>
          <a:prstGeom prst="rect">
            <a:avLst/>
          </a:prstGeom>
          <a:noFill/>
        </p:spPr>
        <p:txBody>
          <a:bodyPr wrap="square">
            <a:spAutoFit/>
          </a:bodyPr>
          <a:lstStyle/>
          <a:p>
            <a:pPr algn="l"/>
            <a:r>
              <a:rPr sz="1800" b="1">
                <a:solidFill>
                  <a:srgbClr val="00A890"/>
                </a:solidFill>
              </a:rPr>
              <a:t>01</a:t>
            </a:r>
          </a:p>
        </p:txBody>
      </p:sp>
      <p:sp>
        <p:nvSpPr>
          <p:cNvPr id="9" name="TextBox 8"/>
          <p:cNvSpPr txBox="1"/>
          <p:nvPr/>
        </p:nvSpPr>
        <p:spPr>
          <a:xfrm>
            <a:off x="1051560" y="1115568"/>
            <a:ext cx="4663440" cy="274320"/>
          </a:xfrm>
          <a:prstGeom prst="rect">
            <a:avLst/>
          </a:prstGeom>
          <a:noFill/>
        </p:spPr>
        <p:txBody>
          <a:bodyPr wrap="square">
            <a:spAutoFit/>
          </a:bodyPr>
          <a:lstStyle/>
          <a:p>
            <a:pPr algn="l"/>
            <a:r>
              <a:rPr sz="1100" b="1">
                <a:solidFill>
                  <a:srgbClr val="0F2140"/>
                </a:solidFill>
              </a:rPr>
              <a:t>Market Opportunity &amp; Regulatory Context</a:t>
            </a:r>
          </a:p>
        </p:txBody>
      </p:sp>
      <p:sp>
        <p:nvSpPr>
          <p:cNvPr id="10" name="TextBox 9"/>
          <p:cNvSpPr txBox="1"/>
          <p:nvPr/>
        </p:nvSpPr>
        <p:spPr>
          <a:xfrm>
            <a:off x="1051560" y="1463040"/>
            <a:ext cx="4663440" cy="256032"/>
          </a:xfrm>
          <a:prstGeom prst="rect">
            <a:avLst/>
          </a:prstGeom>
          <a:noFill/>
        </p:spPr>
        <p:txBody>
          <a:bodyPr wrap="square">
            <a:spAutoFit/>
          </a:bodyPr>
          <a:lstStyle/>
          <a:p>
            <a:pPr algn="l"/>
            <a:r>
              <a:rPr sz="900" b="0">
                <a:solidFill>
                  <a:srgbClr val="94A3B8"/>
                </a:solidFill>
              </a:rPr>
              <a:t>Slides 3–4</a:t>
            </a:r>
          </a:p>
        </p:txBody>
      </p:sp>
      <p:sp>
        <p:nvSpPr>
          <p:cNvPr id="11" name="Rectangle 10"/>
          <p:cNvSpPr/>
          <p:nvPr/>
        </p:nvSpPr>
        <p:spPr>
          <a:xfrm>
            <a:off x="274320" y="1956816"/>
            <a:ext cx="55778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1956816"/>
            <a:ext cx="54864" cy="80467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029968"/>
            <a:ext cx="548640" cy="347472"/>
          </a:xfrm>
          <a:prstGeom prst="rect">
            <a:avLst/>
          </a:prstGeom>
          <a:noFill/>
        </p:spPr>
        <p:txBody>
          <a:bodyPr wrap="square">
            <a:spAutoFit/>
          </a:bodyPr>
          <a:lstStyle/>
          <a:p>
            <a:pPr algn="l"/>
            <a:r>
              <a:rPr sz="1800" b="1">
                <a:solidFill>
                  <a:srgbClr val="00A890"/>
                </a:solidFill>
              </a:rPr>
              <a:t>02</a:t>
            </a:r>
          </a:p>
        </p:txBody>
      </p:sp>
      <p:sp>
        <p:nvSpPr>
          <p:cNvPr id="14" name="TextBox 13"/>
          <p:cNvSpPr txBox="1"/>
          <p:nvPr/>
        </p:nvSpPr>
        <p:spPr>
          <a:xfrm>
            <a:off x="1051560" y="2048256"/>
            <a:ext cx="4663440" cy="274320"/>
          </a:xfrm>
          <a:prstGeom prst="rect">
            <a:avLst/>
          </a:prstGeom>
          <a:noFill/>
        </p:spPr>
        <p:txBody>
          <a:bodyPr wrap="square">
            <a:spAutoFit/>
          </a:bodyPr>
          <a:lstStyle/>
          <a:p>
            <a:pPr algn="l"/>
            <a:r>
              <a:rPr sz="1100" b="1">
                <a:solidFill>
                  <a:srgbClr val="0F2140"/>
                </a:solidFill>
              </a:rPr>
              <a:t>User Research &amp; Need Analysis</a:t>
            </a:r>
          </a:p>
        </p:txBody>
      </p:sp>
      <p:sp>
        <p:nvSpPr>
          <p:cNvPr id="15" name="TextBox 14"/>
          <p:cNvSpPr txBox="1"/>
          <p:nvPr/>
        </p:nvSpPr>
        <p:spPr>
          <a:xfrm>
            <a:off x="1051560" y="2395728"/>
            <a:ext cx="4663440" cy="256032"/>
          </a:xfrm>
          <a:prstGeom prst="rect">
            <a:avLst/>
          </a:prstGeom>
          <a:noFill/>
        </p:spPr>
        <p:txBody>
          <a:bodyPr wrap="square">
            <a:spAutoFit/>
          </a:bodyPr>
          <a:lstStyle/>
          <a:p>
            <a:pPr algn="l"/>
            <a:r>
              <a:rPr sz="900" b="0">
                <a:solidFill>
                  <a:srgbClr val="94A3B8"/>
                </a:solidFill>
              </a:rPr>
              <a:t>Slides 5–6</a:t>
            </a:r>
          </a:p>
        </p:txBody>
      </p:sp>
      <p:sp>
        <p:nvSpPr>
          <p:cNvPr id="16" name="Rectangle 15"/>
          <p:cNvSpPr/>
          <p:nvPr/>
        </p:nvSpPr>
        <p:spPr>
          <a:xfrm>
            <a:off x="274320" y="2889504"/>
            <a:ext cx="5577840" cy="8046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2889504"/>
            <a:ext cx="54864" cy="80467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2962656"/>
            <a:ext cx="548640" cy="347472"/>
          </a:xfrm>
          <a:prstGeom prst="rect">
            <a:avLst/>
          </a:prstGeom>
          <a:noFill/>
        </p:spPr>
        <p:txBody>
          <a:bodyPr wrap="square">
            <a:spAutoFit/>
          </a:bodyPr>
          <a:lstStyle/>
          <a:p>
            <a:pPr algn="l"/>
            <a:r>
              <a:rPr sz="1800" b="1">
                <a:solidFill>
                  <a:srgbClr val="00A890"/>
                </a:solidFill>
              </a:rPr>
              <a:t>03</a:t>
            </a:r>
          </a:p>
        </p:txBody>
      </p:sp>
      <p:sp>
        <p:nvSpPr>
          <p:cNvPr id="19" name="TextBox 18"/>
          <p:cNvSpPr txBox="1"/>
          <p:nvPr/>
        </p:nvSpPr>
        <p:spPr>
          <a:xfrm>
            <a:off x="1051560" y="2980944"/>
            <a:ext cx="4663440" cy="274320"/>
          </a:xfrm>
          <a:prstGeom prst="rect">
            <a:avLst/>
          </a:prstGeom>
          <a:noFill/>
        </p:spPr>
        <p:txBody>
          <a:bodyPr wrap="square">
            <a:spAutoFit/>
          </a:bodyPr>
          <a:lstStyle/>
          <a:p>
            <a:pPr algn="l"/>
            <a:r>
              <a:rPr sz="1100" b="1">
                <a:solidFill>
                  <a:srgbClr val="0F2140"/>
                </a:solidFill>
              </a:rPr>
              <a:t>Value Proposition &amp; Differentiation</a:t>
            </a:r>
          </a:p>
        </p:txBody>
      </p:sp>
      <p:sp>
        <p:nvSpPr>
          <p:cNvPr id="20" name="TextBox 19"/>
          <p:cNvSpPr txBox="1"/>
          <p:nvPr/>
        </p:nvSpPr>
        <p:spPr>
          <a:xfrm>
            <a:off x="1051560" y="3328416"/>
            <a:ext cx="4663440" cy="256032"/>
          </a:xfrm>
          <a:prstGeom prst="rect">
            <a:avLst/>
          </a:prstGeom>
          <a:noFill/>
        </p:spPr>
        <p:txBody>
          <a:bodyPr wrap="square">
            <a:spAutoFit/>
          </a:bodyPr>
          <a:lstStyle/>
          <a:p>
            <a:pPr algn="l"/>
            <a:r>
              <a:rPr sz="900" b="0">
                <a:solidFill>
                  <a:srgbClr val="94A3B8"/>
                </a:solidFill>
              </a:rPr>
              <a:t>Slide 7</a:t>
            </a:r>
          </a:p>
        </p:txBody>
      </p:sp>
      <p:sp>
        <p:nvSpPr>
          <p:cNvPr id="21" name="Rectangle 20"/>
          <p:cNvSpPr/>
          <p:nvPr/>
        </p:nvSpPr>
        <p:spPr>
          <a:xfrm>
            <a:off x="274320" y="3822191"/>
            <a:ext cx="55778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74320" y="3822191"/>
            <a:ext cx="54864" cy="80467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 y="3895344"/>
            <a:ext cx="548640" cy="347472"/>
          </a:xfrm>
          <a:prstGeom prst="rect">
            <a:avLst/>
          </a:prstGeom>
          <a:noFill/>
        </p:spPr>
        <p:txBody>
          <a:bodyPr wrap="square">
            <a:spAutoFit/>
          </a:bodyPr>
          <a:lstStyle/>
          <a:p>
            <a:pPr algn="l"/>
            <a:r>
              <a:rPr sz="1800" b="1">
                <a:solidFill>
                  <a:srgbClr val="00A890"/>
                </a:solidFill>
              </a:rPr>
              <a:t>04</a:t>
            </a:r>
          </a:p>
        </p:txBody>
      </p:sp>
      <p:sp>
        <p:nvSpPr>
          <p:cNvPr id="24" name="TextBox 23"/>
          <p:cNvSpPr txBox="1"/>
          <p:nvPr/>
        </p:nvSpPr>
        <p:spPr>
          <a:xfrm>
            <a:off x="1051560" y="3913631"/>
            <a:ext cx="4663440" cy="274320"/>
          </a:xfrm>
          <a:prstGeom prst="rect">
            <a:avLst/>
          </a:prstGeom>
          <a:noFill/>
        </p:spPr>
        <p:txBody>
          <a:bodyPr wrap="square">
            <a:spAutoFit/>
          </a:bodyPr>
          <a:lstStyle/>
          <a:p>
            <a:pPr algn="l"/>
            <a:r>
              <a:rPr sz="1100" b="1">
                <a:solidFill>
                  <a:srgbClr val="0F2140"/>
                </a:solidFill>
              </a:rPr>
              <a:t>Product Architecture &amp; Key Decisions</a:t>
            </a:r>
          </a:p>
        </p:txBody>
      </p:sp>
      <p:sp>
        <p:nvSpPr>
          <p:cNvPr id="25" name="TextBox 24"/>
          <p:cNvSpPr txBox="1"/>
          <p:nvPr/>
        </p:nvSpPr>
        <p:spPr>
          <a:xfrm>
            <a:off x="1051560" y="4261104"/>
            <a:ext cx="4663440" cy="256032"/>
          </a:xfrm>
          <a:prstGeom prst="rect">
            <a:avLst/>
          </a:prstGeom>
          <a:noFill/>
        </p:spPr>
        <p:txBody>
          <a:bodyPr wrap="square">
            <a:spAutoFit/>
          </a:bodyPr>
          <a:lstStyle/>
          <a:p>
            <a:pPr algn="l"/>
            <a:r>
              <a:rPr sz="900" b="0">
                <a:solidFill>
                  <a:srgbClr val="94A3B8"/>
                </a:solidFill>
              </a:rPr>
              <a:t>Slides 8–10</a:t>
            </a:r>
          </a:p>
        </p:txBody>
      </p:sp>
      <p:sp>
        <p:nvSpPr>
          <p:cNvPr id="26" name="Rectangle 25"/>
          <p:cNvSpPr/>
          <p:nvPr/>
        </p:nvSpPr>
        <p:spPr>
          <a:xfrm>
            <a:off x="274320" y="4754880"/>
            <a:ext cx="5577840" cy="8046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4754880"/>
            <a:ext cx="54864" cy="80467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 y="4828032"/>
            <a:ext cx="548640" cy="347472"/>
          </a:xfrm>
          <a:prstGeom prst="rect">
            <a:avLst/>
          </a:prstGeom>
          <a:noFill/>
        </p:spPr>
        <p:txBody>
          <a:bodyPr wrap="square">
            <a:spAutoFit/>
          </a:bodyPr>
          <a:lstStyle/>
          <a:p>
            <a:pPr algn="l"/>
            <a:r>
              <a:rPr sz="1800" b="1">
                <a:solidFill>
                  <a:srgbClr val="00A890"/>
                </a:solidFill>
              </a:rPr>
              <a:t>05</a:t>
            </a:r>
          </a:p>
        </p:txBody>
      </p:sp>
      <p:sp>
        <p:nvSpPr>
          <p:cNvPr id="29" name="TextBox 28"/>
          <p:cNvSpPr txBox="1"/>
          <p:nvPr/>
        </p:nvSpPr>
        <p:spPr>
          <a:xfrm>
            <a:off x="1051560" y="4846320"/>
            <a:ext cx="4663440" cy="274320"/>
          </a:xfrm>
          <a:prstGeom prst="rect">
            <a:avLst/>
          </a:prstGeom>
          <a:noFill/>
        </p:spPr>
        <p:txBody>
          <a:bodyPr wrap="square">
            <a:spAutoFit/>
          </a:bodyPr>
          <a:lstStyle/>
          <a:p>
            <a:pPr algn="l"/>
            <a:r>
              <a:rPr sz="1100" b="1">
                <a:solidFill>
                  <a:srgbClr val="0F2140"/>
                </a:solidFill>
              </a:rPr>
              <a:t>How AI Was Used — Product &amp; Research</a:t>
            </a:r>
          </a:p>
        </p:txBody>
      </p:sp>
      <p:sp>
        <p:nvSpPr>
          <p:cNvPr id="30" name="TextBox 29"/>
          <p:cNvSpPr txBox="1"/>
          <p:nvPr/>
        </p:nvSpPr>
        <p:spPr>
          <a:xfrm>
            <a:off x="1051560" y="5193792"/>
            <a:ext cx="4663440" cy="256032"/>
          </a:xfrm>
          <a:prstGeom prst="rect">
            <a:avLst/>
          </a:prstGeom>
          <a:noFill/>
        </p:spPr>
        <p:txBody>
          <a:bodyPr wrap="square">
            <a:spAutoFit/>
          </a:bodyPr>
          <a:lstStyle/>
          <a:p>
            <a:pPr algn="l"/>
            <a:r>
              <a:rPr sz="900" b="0">
                <a:solidFill>
                  <a:srgbClr val="94A3B8"/>
                </a:solidFill>
              </a:rPr>
              <a:t>Slides 11–12</a:t>
            </a:r>
          </a:p>
        </p:txBody>
      </p:sp>
      <p:sp>
        <p:nvSpPr>
          <p:cNvPr id="31" name="Rectangle 30"/>
          <p:cNvSpPr/>
          <p:nvPr/>
        </p:nvSpPr>
        <p:spPr>
          <a:xfrm>
            <a:off x="274320" y="5687568"/>
            <a:ext cx="55778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4320" y="5687568"/>
            <a:ext cx="54864" cy="80467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5760720"/>
            <a:ext cx="548640" cy="347472"/>
          </a:xfrm>
          <a:prstGeom prst="rect">
            <a:avLst/>
          </a:prstGeom>
          <a:noFill/>
        </p:spPr>
        <p:txBody>
          <a:bodyPr wrap="square">
            <a:spAutoFit/>
          </a:bodyPr>
          <a:lstStyle/>
          <a:p>
            <a:pPr algn="l"/>
            <a:r>
              <a:rPr sz="1800" b="1">
                <a:solidFill>
                  <a:srgbClr val="00A890"/>
                </a:solidFill>
              </a:rPr>
              <a:t>06</a:t>
            </a:r>
          </a:p>
        </p:txBody>
      </p:sp>
      <p:sp>
        <p:nvSpPr>
          <p:cNvPr id="34" name="TextBox 33"/>
          <p:cNvSpPr txBox="1"/>
          <p:nvPr/>
        </p:nvSpPr>
        <p:spPr>
          <a:xfrm>
            <a:off x="1051560" y="5779007"/>
            <a:ext cx="4663440" cy="274320"/>
          </a:xfrm>
          <a:prstGeom prst="rect">
            <a:avLst/>
          </a:prstGeom>
          <a:noFill/>
        </p:spPr>
        <p:txBody>
          <a:bodyPr wrap="square">
            <a:spAutoFit/>
          </a:bodyPr>
          <a:lstStyle/>
          <a:p>
            <a:pPr algn="l"/>
            <a:r>
              <a:rPr sz="1100" b="1">
                <a:solidFill>
                  <a:srgbClr val="0F2140"/>
                </a:solidFill>
              </a:rPr>
              <a:t>Go-To-Market Strategy</a:t>
            </a:r>
          </a:p>
        </p:txBody>
      </p:sp>
      <p:sp>
        <p:nvSpPr>
          <p:cNvPr id="35" name="TextBox 34"/>
          <p:cNvSpPr txBox="1"/>
          <p:nvPr/>
        </p:nvSpPr>
        <p:spPr>
          <a:xfrm>
            <a:off x="1051560" y="6126479"/>
            <a:ext cx="4663440" cy="256032"/>
          </a:xfrm>
          <a:prstGeom prst="rect">
            <a:avLst/>
          </a:prstGeom>
          <a:noFill/>
        </p:spPr>
        <p:txBody>
          <a:bodyPr wrap="square">
            <a:spAutoFit/>
          </a:bodyPr>
          <a:lstStyle/>
          <a:p>
            <a:pPr algn="l"/>
            <a:r>
              <a:rPr sz="900" b="0">
                <a:solidFill>
                  <a:srgbClr val="94A3B8"/>
                </a:solidFill>
              </a:rPr>
              <a:t>Slide 13</a:t>
            </a:r>
          </a:p>
        </p:txBody>
      </p:sp>
      <p:sp>
        <p:nvSpPr>
          <p:cNvPr id="36" name="Rectangle 35"/>
          <p:cNvSpPr/>
          <p:nvPr/>
        </p:nvSpPr>
        <p:spPr>
          <a:xfrm>
            <a:off x="6263640" y="1024128"/>
            <a:ext cx="5650992" cy="8046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63640" y="1024128"/>
            <a:ext cx="54864" cy="80467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64808" y="1097280"/>
            <a:ext cx="548640" cy="347472"/>
          </a:xfrm>
          <a:prstGeom prst="rect">
            <a:avLst/>
          </a:prstGeom>
          <a:noFill/>
        </p:spPr>
        <p:txBody>
          <a:bodyPr wrap="square">
            <a:spAutoFit/>
          </a:bodyPr>
          <a:lstStyle/>
          <a:p>
            <a:pPr algn="l"/>
            <a:r>
              <a:rPr sz="1800" b="1">
                <a:solidFill>
                  <a:srgbClr val="00A890"/>
                </a:solidFill>
              </a:rPr>
              <a:t>07</a:t>
            </a:r>
          </a:p>
        </p:txBody>
      </p:sp>
      <p:sp>
        <p:nvSpPr>
          <p:cNvPr id="39" name="TextBox 38"/>
          <p:cNvSpPr txBox="1"/>
          <p:nvPr/>
        </p:nvSpPr>
        <p:spPr>
          <a:xfrm>
            <a:off x="7040880" y="1115568"/>
            <a:ext cx="4754880" cy="274320"/>
          </a:xfrm>
          <a:prstGeom prst="rect">
            <a:avLst/>
          </a:prstGeom>
          <a:noFill/>
        </p:spPr>
        <p:txBody>
          <a:bodyPr wrap="square">
            <a:spAutoFit/>
          </a:bodyPr>
          <a:lstStyle/>
          <a:p>
            <a:pPr algn="l"/>
            <a:r>
              <a:rPr sz="1100" b="1">
                <a:solidFill>
                  <a:srgbClr val="0F2140"/>
                </a:solidFill>
              </a:rPr>
              <a:t>Pricing &amp; Packaging</a:t>
            </a:r>
          </a:p>
        </p:txBody>
      </p:sp>
      <p:sp>
        <p:nvSpPr>
          <p:cNvPr id="40" name="TextBox 39"/>
          <p:cNvSpPr txBox="1"/>
          <p:nvPr/>
        </p:nvSpPr>
        <p:spPr>
          <a:xfrm>
            <a:off x="7040880" y="1463040"/>
            <a:ext cx="4754880" cy="256032"/>
          </a:xfrm>
          <a:prstGeom prst="rect">
            <a:avLst/>
          </a:prstGeom>
          <a:noFill/>
        </p:spPr>
        <p:txBody>
          <a:bodyPr wrap="square">
            <a:spAutoFit/>
          </a:bodyPr>
          <a:lstStyle/>
          <a:p>
            <a:pPr algn="l"/>
            <a:r>
              <a:rPr sz="900" b="0">
                <a:solidFill>
                  <a:srgbClr val="94A3B8"/>
                </a:solidFill>
              </a:rPr>
              <a:t>Slide 14</a:t>
            </a:r>
          </a:p>
        </p:txBody>
      </p:sp>
      <p:sp>
        <p:nvSpPr>
          <p:cNvPr id="41" name="Rectangle 40"/>
          <p:cNvSpPr/>
          <p:nvPr/>
        </p:nvSpPr>
        <p:spPr>
          <a:xfrm>
            <a:off x="6263640" y="1956816"/>
            <a:ext cx="5650992"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63640" y="1956816"/>
            <a:ext cx="54864" cy="80467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64808" y="2029968"/>
            <a:ext cx="548640" cy="347472"/>
          </a:xfrm>
          <a:prstGeom prst="rect">
            <a:avLst/>
          </a:prstGeom>
          <a:noFill/>
        </p:spPr>
        <p:txBody>
          <a:bodyPr wrap="square">
            <a:spAutoFit/>
          </a:bodyPr>
          <a:lstStyle/>
          <a:p>
            <a:pPr algn="l"/>
            <a:r>
              <a:rPr sz="1800" b="1">
                <a:solidFill>
                  <a:srgbClr val="00A890"/>
                </a:solidFill>
              </a:rPr>
              <a:t>08</a:t>
            </a:r>
          </a:p>
        </p:txBody>
      </p:sp>
      <p:sp>
        <p:nvSpPr>
          <p:cNvPr id="44" name="TextBox 43"/>
          <p:cNvSpPr txBox="1"/>
          <p:nvPr/>
        </p:nvSpPr>
        <p:spPr>
          <a:xfrm>
            <a:off x="7040880" y="2048256"/>
            <a:ext cx="4754880" cy="274320"/>
          </a:xfrm>
          <a:prstGeom prst="rect">
            <a:avLst/>
          </a:prstGeom>
          <a:noFill/>
        </p:spPr>
        <p:txBody>
          <a:bodyPr wrap="square">
            <a:spAutoFit/>
          </a:bodyPr>
          <a:lstStyle/>
          <a:p>
            <a:pPr algn="l"/>
            <a:r>
              <a:rPr sz="1100" b="1">
                <a:solidFill>
                  <a:srgbClr val="0F2140"/>
                </a:solidFill>
              </a:rPr>
              <a:t>Metrics Framework</a:t>
            </a:r>
          </a:p>
        </p:txBody>
      </p:sp>
      <p:sp>
        <p:nvSpPr>
          <p:cNvPr id="45" name="TextBox 44"/>
          <p:cNvSpPr txBox="1"/>
          <p:nvPr/>
        </p:nvSpPr>
        <p:spPr>
          <a:xfrm>
            <a:off x="7040880" y="2395728"/>
            <a:ext cx="4754880" cy="256032"/>
          </a:xfrm>
          <a:prstGeom prst="rect">
            <a:avLst/>
          </a:prstGeom>
          <a:noFill/>
        </p:spPr>
        <p:txBody>
          <a:bodyPr wrap="square">
            <a:spAutoFit/>
          </a:bodyPr>
          <a:lstStyle/>
          <a:p>
            <a:pPr algn="l"/>
            <a:r>
              <a:rPr sz="900" b="0">
                <a:solidFill>
                  <a:srgbClr val="94A3B8"/>
                </a:solidFill>
              </a:rPr>
              <a:t>Slide 15</a:t>
            </a:r>
          </a:p>
        </p:txBody>
      </p:sp>
      <p:sp>
        <p:nvSpPr>
          <p:cNvPr id="46" name="Rectangle 45"/>
          <p:cNvSpPr/>
          <p:nvPr/>
        </p:nvSpPr>
        <p:spPr>
          <a:xfrm>
            <a:off x="6263640" y="2889504"/>
            <a:ext cx="5650992" cy="8046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63640" y="2889504"/>
            <a:ext cx="54864" cy="80467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64808" y="2962656"/>
            <a:ext cx="548640" cy="347472"/>
          </a:xfrm>
          <a:prstGeom prst="rect">
            <a:avLst/>
          </a:prstGeom>
          <a:noFill/>
        </p:spPr>
        <p:txBody>
          <a:bodyPr wrap="square">
            <a:spAutoFit/>
          </a:bodyPr>
          <a:lstStyle/>
          <a:p>
            <a:pPr algn="l"/>
            <a:r>
              <a:rPr sz="1800" b="1">
                <a:solidFill>
                  <a:srgbClr val="00A890"/>
                </a:solidFill>
              </a:rPr>
              <a:t>09</a:t>
            </a:r>
          </a:p>
        </p:txBody>
      </p:sp>
      <p:sp>
        <p:nvSpPr>
          <p:cNvPr id="49" name="TextBox 48"/>
          <p:cNvSpPr txBox="1"/>
          <p:nvPr/>
        </p:nvSpPr>
        <p:spPr>
          <a:xfrm>
            <a:off x="7040880" y="2980944"/>
            <a:ext cx="4754880" cy="274320"/>
          </a:xfrm>
          <a:prstGeom prst="rect">
            <a:avLst/>
          </a:prstGeom>
          <a:noFill/>
        </p:spPr>
        <p:txBody>
          <a:bodyPr wrap="square">
            <a:spAutoFit/>
          </a:bodyPr>
          <a:lstStyle/>
          <a:p>
            <a:pPr algn="l"/>
            <a:r>
              <a:rPr sz="1100" b="1">
                <a:solidFill>
                  <a:srgbClr val="0F2140"/>
                </a:solidFill>
              </a:rPr>
              <a:t>Channel Plan</a:t>
            </a:r>
          </a:p>
        </p:txBody>
      </p:sp>
      <p:sp>
        <p:nvSpPr>
          <p:cNvPr id="50" name="TextBox 49"/>
          <p:cNvSpPr txBox="1"/>
          <p:nvPr/>
        </p:nvSpPr>
        <p:spPr>
          <a:xfrm>
            <a:off x="7040880" y="3328416"/>
            <a:ext cx="4754880" cy="256032"/>
          </a:xfrm>
          <a:prstGeom prst="rect">
            <a:avLst/>
          </a:prstGeom>
          <a:noFill/>
        </p:spPr>
        <p:txBody>
          <a:bodyPr wrap="square">
            <a:spAutoFit/>
          </a:bodyPr>
          <a:lstStyle/>
          <a:p>
            <a:pPr algn="l"/>
            <a:r>
              <a:rPr sz="900" b="0">
                <a:solidFill>
                  <a:srgbClr val="94A3B8"/>
                </a:solidFill>
              </a:rPr>
              <a:t>Slide 16</a:t>
            </a:r>
          </a:p>
        </p:txBody>
      </p:sp>
      <p:sp>
        <p:nvSpPr>
          <p:cNvPr id="51" name="Rectangle 50"/>
          <p:cNvSpPr/>
          <p:nvPr/>
        </p:nvSpPr>
        <p:spPr>
          <a:xfrm>
            <a:off x="6263640" y="3822191"/>
            <a:ext cx="5650992"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263640" y="3822191"/>
            <a:ext cx="54864" cy="80467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64808" y="3895344"/>
            <a:ext cx="548640" cy="347472"/>
          </a:xfrm>
          <a:prstGeom prst="rect">
            <a:avLst/>
          </a:prstGeom>
          <a:noFill/>
        </p:spPr>
        <p:txBody>
          <a:bodyPr wrap="square">
            <a:spAutoFit/>
          </a:bodyPr>
          <a:lstStyle/>
          <a:p>
            <a:pPr algn="l"/>
            <a:r>
              <a:rPr sz="1800" b="1">
                <a:solidFill>
                  <a:srgbClr val="00A890"/>
                </a:solidFill>
              </a:rPr>
              <a:t>10</a:t>
            </a:r>
          </a:p>
        </p:txBody>
      </p:sp>
      <p:sp>
        <p:nvSpPr>
          <p:cNvPr id="54" name="TextBox 53"/>
          <p:cNvSpPr txBox="1"/>
          <p:nvPr/>
        </p:nvSpPr>
        <p:spPr>
          <a:xfrm>
            <a:off x="7040880" y="3913631"/>
            <a:ext cx="4754880" cy="274320"/>
          </a:xfrm>
          <a:prstGeom prst="rect">
            <a:avLst/>
          </a:prstGeom>
          <a:noFill/>
        </p:spPr>
        <p:txBody>
          <a:bodyPr wrap="square">
            <a:spAutoFit/>
          </a:bodyPr>
          <a:lstStyle/>
          <a:p>
            <a:pPr algn="l"/>
            <a:r>
              <a:rPr sz="1100" b="1">
                <a:solidFill>
                  <a:srgbClr val="0F2140"/>
                </a:solidFill>
              </a:rPr>
              <a:t>Launch Plan</a:t>
            </a:r>
          </a:p>
        </p:txBody>
      </p:sp>
      <p:sp>
        <p:nvSpPr>
          <p:cNvPr id="55" name="TextBox 54"/>
          <p:cNvSpPr txBox="1"/>
          <p:nvPr/>
        </p:nvSpPr>
        <p:spPr>
          <a:xfrm>
            <a:off x="7040880" y="4261104"/>
            <a:ext cx="4754880" cy="256032"/>
          </a:xfrm>
          <a:prstGeom prst="rect">
            <a:avLst/>
          </a:prstGeom>
          <a:noFill/>
        </p:spPr>
        <p:txBody>
          <a:bodyPr wrap="square">
            <a:spAutoFit/>
          </a:bodyPr>
          <a:lstStyle/>
          <a:p>
            <a:pPr algn="l"/>
            <a:r>
              <a:rPr sz="900" b="0">
                <a:solidFill>
                  <a:srgbClr val="94A3B8"/>
                </a:solidFill>
              </a:rPr>
              <a:t>Slide 17</a:t>
            </a:r>
          </a:p>
        </p:txBody>
      </p:sp>
      <p:sp>
        <p:nvSpPr>
          <p:cNvPr id="56" name="Rectangle 55"/>
          <p:cNvSpPr/>
          <p:nvPr/>
        </p:nvSpPr>
        <p:spPr>
          <a:xfrm>
            <a:off x="6263640" y="4754880"/>
            <a:ext cx="5650992" cy="8046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263640" y="4754880"/>
            <a:ext cx="54864" cy="80467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64808" y="4828032"/>
            <a:ext cx="548640" cy="347472"/>
          </a:xfrm>
          <a:prstGeom prst="rect">
            <a:avLst/>
          </a:prstGeom>
          <a:noFill/>
        </p:spPr>
        <p:txBody>
          <a:bodyPr wrap="square">
            <a:spAutoFit/>
          </a:bodyPr>
          <a:lstStyle/>
          <a:p>
            <a:pPr algn="l"/>
            <a:r>
              <a:rPr sz="1800" b="1">
                <a:solidFill>
                  <a:srgbClr val="00A890"/>
                </a:solidFill>
              </a:rPr>
              <a:t>11</a:t>
            </a:r>
          </a:p>
        </p:txBody>
      </p:sp>
      <p:sp>
        <p:nvSpPr>
          <p:cNvPr id="59" name="TextBox 58"/>
          <p:cNvSpPr txBox="1"/>
          <p:nvPr/>
        </p:nvSpPr>
        <p:spPr>
          <a:xfrm>
            <a:off x="7040880" y="4846320"/>
            <a:ext cx="4754880" cy="274320"/>
          </a:xfrm>
          <a:prstGeom prst="rect">
            <a:avLst/>
          </a:prstGeom>
          <a:noFill/>
        </p:spPr>
        <p:txBody>
          <a:bodyPr wrap="square">
            <a:spAutoFit/>
          </a:bodyPr>
          <a:lstStyle/>
          <a:p>
            <a:pPr algn="l"/>
            <a:r>
              <a:rPr sz="1100" b="1">
                <a:solidFill>
                  <a:srgbClr val="0F2140"/>
                </a:solidFill>
              </a:rPr>
              <a:t>Risks &amp; Mitigations</a:t>
            </a:r>
          </a:p>
        </p:txBody>
      </p:sp>
      <p:sp>
        <p:nvSpPr>
          <p:cNvPr id="60" name="TextBox 59"/>
          <p:cNvSpPr txBox="1"/>
          <p:nvPr/>
        </p:nvSpPr>
        <p:spPr>
          <a:xfrm>
            <a:off x="7040880" y="5193792"/>
            <a:ext cx="4754880" cy="256032"/>
          </a:xfrm>
          <a:prstGeom prst="rect">
            <a:avLst/>
          </a:prstGeom>
          <a:noFill/>
        </p:spPr>
        <p:txBody>
          <a:bodyPr wrap="square">
            <a:spAutoFit/>
          </a:bodyPr>
          <a:lstStyle/>
          <a:p>
            <a:pPr algn="l"/>
            <a:r>
              <a:rPr sz="900" b="0">
                <a:solidFill>
                  <a:srgbClr val="94A3B8"/>
                </a:solidFill>
              </a:rPr>
              <a:t>Slides 18–19</a:t>
            </a:r>
          </a:p>
        </p:txBody>
      </p:sp>
      <p:sp>
        <p:nvSpPr>
          <p:cNvPr id="61" name="Rectangle 60"/>
          <p:cNvSpPr/>
          <p:nvPr/>
        </p:nvSpPr>
        <p:spPr>
          <a:xfrm>
            <a:off x="6263640" y="5687568"/>
            <a:ext cx="5650992"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63640" y="5687568"/>
            <a:ext cx="54864" cy="80467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64808" y="5760720"/>
            <a:ext cx="548640" cy="347472"/>
          </a:xfrm>
          <a:prstGeom prst="rect">
            <a:avLst/>
          </a:prstGeom>
          <a:noFill/>
        </p:spPr>
        <p:txBody>
          <a:bodyPr wrap="square">
            <a:spAutoFit/>
          </a:bodyPr>
          <a:lstStyle/>
          <a:p>
            <a:pPr algn="l"/>
            <a:r>
              <a:rPr sz="1800" b="1">
                <a:solidFill>
                  <a:srgbClr val="00A890"/>
                </a:solidFill>
              </a:rPr>
              <a:t>12</a:t>
            </a:r>
          </a:p>
        </p:txBody>
      </p:sp>
      <p:sp>
        <p:nvSpPr>
          <p:cNvPr id="64" name="TextBox 63"/>
          <p:cNvSpPr txBox="1"/>
          <p:nvPr/>
        </p:nvSpPr>
        <p:spPr>
          <a:xfrm>
            <a:off x="7040880" y="5779007"/>
            <a:ext cx="4754880" cy="274320"/>
          </a:xfrm>
          <a:prstGeom prst="rect">
            <a:avLst/>
          </a:prstGeom>
          <a:noFill/>
        </p:spPr>
        <p:txBody>
          <a:bodyPr wrap="square">
            <a:spAutoFit/>
          </a:bodyPr>
          <a:lstStyle/>
          <a:p>
            <a:pPr algn="l"/>
            <a:r>
              <a:rPr sz="1100" b="1">
                <a:solidFill>
                  <a:srgbClr val="0F2140"/>
                </a:solidFill>
              </a:rPr>
              <a:t>Roadmap &amp; Conclusion</a:t>
            </a:r>
          </a:p>
        </p:txBody>
      </p:sp>
      <p:sp>
        <p:nvSpPr>
          <p:cNvPr id="65" name="TextBox 64"/>
          <p:cNvSpPr txBox="1"/>
          <p:nvPr/>
        </p:nvSpPr>
        <p:spPr>
          <a:xfrm>
            <a:off x="7040880" y="6126479"/>
            <a:ext cx="4754880" cy="256032"/>
          </a:xfrm>
          <a:prstGeom prst="rect">
            <a:avLst/>
          </a:prstGeom>
          <a:noFill/>
        </p:spPr>
        <p:txBody>
          <a:bodyPr wrap="square">
            <a:spAutoFit/>
          </a:bodyPr>
          <a:lstStyle/>
          <a:p>
            <a:pPr algn="l"/>
            <a:r>
              <a:rPr sz="900" b="0">
                <a:solidFill>
                  <a:srgbClr val="94A3B8"/>
                </a:solidFill>
              </a:rPr>
              <a:t>Slides 20–22</a:t>
            </a:r>
          </a:p>
        </p:txBody>
      </p:sp>
      <p:sp>
        <p:nvSpPr>
          <p:cNvPr id="66" name="TextBox 65"/>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01</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Market Opportunity</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India's cross-border trade: a compliance crisis at scale</a:t>
            </a:r>
          </a:p>
        </p:txBody>
      </p:sp>
      <p:sp>
        <p:nvSpPr>
          <p:cNvPr id="6" name="Rectangle 5"/>
          <p:cNvSpPr/>
          <p:nvPr/>
        </p:nvSpPr>
        <p:spPr>
          <a:xfrm>
            <a:off x="45720" y="1024128"/>
            <a:ext cx="2346350" cy="804672"/>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 y="1024128"/>
            <a:ext cx="45720" cy="80467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 y="1069848"/>
            <a:ext cx="2209190" cy="402336"/>
          </a:xfrm>
          <a:prstGeom prst="rect">
            <a:avLst/>
          </a:prstGeom>
          <a:noFill/>
        </p:spPr>
        <p:txBody>
          <a:bodyPr wrap="square">
            <a:spAutoFit/>
          </a:bodyPr>
          <a:lstStyle/>
          <a:p>
            <a:pPr algn="ctr"/>
            <a:r>
              <a:rPr sz="2200" b="1">
                <a:solidFill>
                  <a:srgbClr val="00A890"/>
                </a:solidFill>
              </a:rPr>
              <a:t>USD 2.8T</a:t>
            </a:r>
          </a:p>
        </p:txBody>
      </p:sp>
      <p:sp>
        <p:nvSpPr>
          <p:cNvPr id="9" name="TextBox 8"/>
          <p:cNvSpPr txBox="1"/>
          <p:nvPr/>
        </p:nvSpPr>
        <p:spPr>
          <a:xfrm>
            <a:off x="109728" y="1517904"/>
            <a:ext cx="2236622" cy="256032"/>
          </a:xfrm>
          <a:prstGeom prst="rect">
            <a:avLst/>
          </a:prstGeom>
          <a:noFill/>
        </p:spPr>
        <p:txBody>
          <a:bodyPr wrap="square">
            <a:spAutoFit/>
          </a:bodyPr>
          <a:lstStyle/>
          <a:p>
            <a:pPr algn="ctr"/>
            <a:r>
              <a:rPr sz="850" b="0">
                <a:solidFill>
                  <a:srgbClr val="475569"/>
                </a:solidFill>
              </a:rPr>
              <a:t>India cross-border trade FY25</a:t>
            </a:r>
          </a:p>
        </p:txBody>
      </p:sp>
      <p:sp>
        <p:nvSpPr>
          <p:cNvPr id="10" name="Rectangle 9"/>
          <p:cNvSpPr/>
          <p:nvPr/>
        </p:nvSpPr>
        <p:spPr>
          <a:xfrm>
            <a:off x="2483510" y="1024128"/>
            <a:ext cx="2346350" cy="804672"/>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483510" y="1024128"/>
            <a:ext cx="45720" cy="804672"/>
          </a:xfrm>
          <a:prstGeom prst="rect">
            <a:avLst/>
          </a:prstGeom>
          <a:solidFill>
            <a:srgbClr val="B45B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02382" y="1069848"/>
            <a:ext cx="2209190" cy="402336"/>
          </a:xfrm>
          <a:prstGeom prst="rect">
            <a:avLst/>
          </a:prstGeom>
          <a:noFill/>
        </p:spPr>
        <p:txBody>
          <a:bodyPr wrap="square">
            <a:spAutoFit/>
          </a:bodyPr>
          <a:lstStyle/>
          <a:p>
            <a:pPr algn="ctr"/>
            <a:r>
              <a:rPr sz="2200" b="1">
                <a:solidFill>
                  <a:srgbClr val="B45B09"/>
                </a:solidFill>
              </a:rPr>
              <a:t>3,000+</a:t>
            </a:r>
          </a:p>
        </p:txBody>
      </p:sp>
      <p:sp>
        <p:nvSpPr>
          <p:cNvPr id="13" name="TextBox 12"/>
          <p:cNvSpPr txBox="1"/>
          <p:nvPr/>
        </p:nvSpPr>
        <p:spPr>
          <a:xfrm>
            <a:off x="2547518" y="1517904"/>
            <a:ext cx="2236622" cy="256032"/>
          </a:xfrm>
          <a:prstGeom prst="rect">
            <a:avLst/>
          </a:prstGeom>
          <a:noFill/>
        </p:spPr>
        <p:txBody>
          <a:bodyPr wrap="square">
            <a:spAutoFit/>
          </a:bodyPr>
          <a:lstStyle/>
          <a:p>
            <a:pPr algn="ctr"/>
            <a:r>
              <a:rPr sz="850" b="0">
                <a:solidFill>
                  <a:srgbClr val="475569"/>
                </a:solidFill>
              </a:rPr>
              <a:t>PA / AD licences to screen</a:t>
            </a:r>
          </a:p>
        </p:txBody>
      </p:sp>
      <p:sp>
        <p:nvSpPr>
          <p:cNvPr id="14" name="Rectangle 13"/>
          <p:cNvSpPr/>
          <p:nvPr/>
        </p:nvSpPr>
        <p:spPr>
          <a:xfrm>
            <a:off x="4921300" y="1024128"/>
            <a:ext cx="2346350" cy="804672"/>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921300" y="1024128"/>
            <a:ext cx="45720" cy="80467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40172" y="1069848"/>
            <a:ext cx="2209190" cy="402336"/>
          </a:xfrm>
          <a:prstGeom prst="rect">
            <a:avLst/>
          </a:prstGeom>
          <a:noFill/>
        </p:spPr>
        <p:txBody>
          <a:bodyPr wrap="square">
            <a:spAutoFit/>
          </a:bodyPr>
          <a:lstStyle/>
          <a:p>
            <a:pPr algn="ctr"/>
            <a:r>
              <a:rPr sz="2200" b="1">
                <a:solidFill>
                  <a:srgbClr val="DC2626"/>
                </a:solidFill>
              </a:rPr>
              <a:t>40+</a:t>
            </a:r>
          </a:p>
        </p:txBody>
      </p:sp>
      <p:sp>
        <p:nvSpPr>
          <p:cNvPr id="17" name="TextBox 16"/>
          <p:cNvSpPr txBox="1"/>
          <p:nvPr/>
        </p:nvSpPr>
        <p:spPr>
          <a:xfrm>
            <a:off x="4985308" y="1517904"/>
            <a:ext cx="2236622" cy="256032"/>
          </a:xfrm>
          <a:prstGeom prst="rect">
            <a:avLst/>
          </a:prstGeom>
          <a:noFill/>
        </p:spPr>
        <p:txBody>
          <a:bodyPr wrap="square">
            <a:spAutoFit/>
          </a:bodyPr>
          <a:lstStyle/>
          <a:p>
            <a:pPr algn="ctr"/>
            <a:r>
              <a:rPr sz="850" b="0">
                <a:solidFill>
                  <a:srgbClr val="475569"/>
                </a:solidFill>
              </a:rPr>
              <a:t>Alerts per analyst per day</a:t>
            </a:r>
          </a:p>
        </p:txBody>
      </p:sp>
      <p:sp>
        <p:nvSpPr>
          <p:cNvPr id="18" name="Rectangle 17"/>
          <p:cNvSpPr/>
          <p:nvPr/>
        </p:nvSpPr>
        <p:spPr>
          <a:xfrm>
            <a:off x="7359091" y="1024128"/>
            <a:ext cx="2346350" cy="804672"/>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59091" y="1024128"/>
            <a:ext cx="45720" cy="80467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77963" y="1069848"/>
            <a:ext cx="2209190" cy="402336"/>
          </a:xfrm>
          <a:prstGeom prst="rect">
            <a:avLst/>
          </a:prstGeom>
          <a:noFill/>
        </p:spPr>
        <p:txBody>
          <a:bodyPr wrap="square">
            <a:spAutoFit/>
          </a:bodyPr>
          <a:lstStyle/>
          <a:p>
            <a:pPr algn="ctr"/>
            <a:r>
              <a:rPr sz="2200" b="1">
                <a:solidFill>
                  <a:srgbClr val="6D28D9"/>
                </a:solidFill>
              </a:rPr>
              <a:t>8–12 min</a:t>
            </a:r>
          </a:p>
        </p:txBody>
      </p:sp>
      <p:sp>
        <p:nvSpPr>
          <p:cNvPr id="21" name="TextBox 20"/>
          <p:cNvSpPr txBox="1"/>
          <p:nvPr/>
        </p:nvSpPr>
        <p:spPr>
          <a:xfrm>
            <a:off x="7423099" y="1517904"/>
            <a:ext cx="2236622" cy="256032"/>
          </a:xfrm>
          <a:prstGeom prst="rect">
            <a:avLst/>
          </a:prstGeom>
          <a:noFill/>
        </p:spPr>
        <p:txBody>
          <a:bodyPr wrap="square">
            <a:spAutoFit/>
          </a:bodyPr>
          <a:lstStyle/>
          <a:p>
            <a:pPr algn="ctr"/>
            <a:r>
              <a:rPr sz="850" b="0">
                <a:solidFill>
                  <a:srgbClr val="475569"/>
                </a:solidFill>
              </a:rPr>
              <a:t>Current mean time-to-decision</a:t>
            </a:r>
          </a:p>
        </p:txBody>
      </p:sp>
      <p:sp>
        <p:nvSpPr>
          <p:cNvPr id="22" name="Rectangle 21"/>
          <p:cNvSpPr/>
          <p:nvPr/>
        </p:nvSpPr>
        <p:spPr>
          <a:xfrm>
            <a:off x="9796881" y="1024128"/>
            <a:ext cx="2346350" cy="804672"/>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796881" y="1024128"/>
            <a:ext cx="45720" cy="80467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15753" y="1069848"/>
            <a:ext cx="2209190" cy="402336"/>
          </a:xfrm>
          <a:prstGeom prst="rect">
            <a:avLst/>
          </a:prstGeom>
          <a:noFill/>
        </p:spPr>
        <p:txBody>
          <a:bodyPr wrap="square">
            <a:spAutoFit/>
          </a:bodyPr>
          <a:lstStyle/>
          <a:p>
            <a:pPr algn="ctr"/>
            <a:r>
              <a:rPr sz="2200" b="1">
                <a:solidFill>
                  <a:srgbClr val="475569"/>
                </a:solidFill>
              </a:rPr>
              <a:t>~40%</a:t>
            </a:r>
          </a:p>
        </p:txBody>
      </p:sp>
      <p:sp>
        <p:nvSpPr>
          <p:cNvPr id="25" name="TextBox 24"/>
          <p:cNvSpPr txBox="1"/>
          <p:nvPr/>
        </p:nvSpPr>
        <p:spPr>
          <a:xfrm>
            <a:off x="9860889" y="1517904"/>
            <a:ext cx="2236622" cy="256032"/>
          </a:xfrm>
          <a:prstGeom prst="rect">
            <a:avLst/>
          </a:prstGeom>
          <a:noFill/>
        </p:spPr>
        <p:txBody>
          <a:bodyPr wrap="square">
            <a:spAutoFit/>
          </a:bodyPr>
          <a:lstStyle/>
          <a:p>
            <a:pPr algn="ctr"/>
            <a:r>
              <a:rPr sz="850" b="0">
                <a:solidFill>
                  <a:srgbClr val="475569"/>
                </a:solidFill>
              </a:rPr>
              <a:t>Decisions with written rationale</a:t>
            </a:r>
          </a:p>
        </p:txBody>
      </p:sp>
      <p:graphicFrame>
        <p:nvGraphicFramePr>
          <p:cNvPr id="26" name="Table 25"/>
          <p:cNvGraphicFramePr>
            <a:graphicFrameLocks noGrp="1"/>
          </p:cNvGraphicFramePr>
          <p:nvPr/>
        </p:nvGraphicFramePr>
        <p:xfrm>
          <a:off x="274320" y="2011680"/>
          <a:ext cx="11612880" cy="2697480"/>
        </p:xfrm>
        <a:graphic>
          <a:graphicData uri="http://schemas.openxmlformats.org/drawingml/2006/table">
            <a:tbl>
              <a:tblPr firstRow="1" bandRow="1">
                <a:tableStyleId>{5C22544A-7EE6-4342-B048-85BDC9FD1C3A}</a:tableStyleId>
              </a:tblPr>
              <a:tblGrid>
                <a:gridCol w="1664208"/>
                <a:gridCol w="1600200"/>
                <a:gridCol w="2148840"/>
                <a:gridCol w="6199632"/>
              </a:tblGrid>
              <a:tr h="449580">
                <a:tc>
                  <a:txBody>
                    <a:bodyPr lIns="73152" rIns="73152"/>
                    <a:lstStyle/>
                    <a:p>
                      <a:pPr algn="l"/>
                      <a:r>
                        <a:rPr sz="950" b="1">
                          <a:solidFill>
                            <a:srgbClr val="FFFFFF"/>
                          </a:solidFill>
                        </a:rPr>
                        <a:t>Corridor</a:t>
                      </a:r>
                    </a:p>
                  </a:txBody>
                  <a:tcPr>
                    <a:solidFill>
                      <a:srgbClr val="0F2140"/>
                    </a:solidFill>
                  </a:tcPr>
                </a:tc>
                <a:tc>
                  <a:txBody>
                    <a:bodyPr lIns="73152" rIns="73152"/>
                    <a:lstStyle/>
                    <a:p>
                      <a:pPr algn="l"/>
                      <a:r>
                        <a:rPr sz="950" b="1">
                          <a:solidFill>
                            <a:srgbClr val="FFFFFF"/>
                          </a:solidFill>
                        </a:rPr>
                        <a:t>India Export Volume</a:t>
                      </a:r>
                    </a:p>
                  </a:txBody>
                  <a:tcPr>
                    <a:solidFill>
                      <a:srgbClr val="0F2140"/>
                    </a:solidFill>
                  </a:tcPr>
                </a:tc>
                <a:tc>
                  <a:txBody>
                    <a:bodyPr lIns="73152" rIns="73152"/>
                    <a:lstStyle/>
                    <a:p>
                      <a:pPr algn="l"/>
                      <a:r>
                        <a:rPr sz="950" b="1">
                          <a:solidFill>
                            <a:srgbClr val="FFFFFF"/>
                          </a:solidFill>
                        </a:rPr>
                        <a:t>Key Regulator</a:t>
                      </a:r>
                    </a:p>
                  </a:txBody>
                  <a:tcPr>
                    <a:solidFill>
                      <a:srgbClr val="0F2140"/>
                    </a:solidFill>
                  </a:tcPr>
                </a:tc>
                <a:tc>
                  <a:txBody>
                    <a:bodyPr lIns="73152" rIns="73152"/>
                    <a:lstStyle/>
                    <a:p>
                      <a:pPr algn="l"/>
                      <a:r>
                        <a:rPr sz="950" b="1">
                          <a:solidFill>
                            <a:srgbClr val="FFFFFF"/>
                          </a:solidFill>
                        </a:rPr>
                        <a:t>Primary Compliance Risk</a:t>
                      </a:r>
                    </a:p>
                  </a:txBody>
                  <a:tcPr>
                    <a:solidFill>
                      <a:srgbClr val="0F2140"/>
                    </a:solidFill>
                  </a:tcPr>
                </a:tc>
              </a:tr>
              <a:tr h="449580">
                <a:tc>
                  <a:txBody>
                    <a:bodyPr lIns="73152" rIns="73152"/>
                    <a:lstStyle/>
                    <a:p>
                      <a:pPr algn="l"/>
                      <a:r>
                        <a:rPr sz="900" b="1">
                          <a:solidFill>
                            <a:srgbClr val="0F2140"/>
                          </a:solidFill>
                        </a:rPr>
                        <a:t>India → UAE</a:t>
                      </a:r>
                    </a:p>
                  </a:txBody>
                  <a:tcPr>
                    <a:solidFill>
                      <a:srgbClr val="F0F7FF"/>
                    </a:solidFill>
                  </a:tcPr>
                </a:tc>
                <a:tc>
                  <a:txBody>
                    <a:bodyPr lIns="73152" rIns="73152"/>
                    <a:lstStyle/>
                    <a:p>
                      <a:pPr algn="l"/>
                      <a:r>
                        <a:rPr sz="900" b="0">
                          <a:solidFill>
                            <a:srgbClr val="1E293B"/>
                          </a:solidFill>
                        </a:rPr>
                        <a:t>USD 31B+</a:t>
                      </a:r>
                    </a:p>
                  </a:txBody>
                  <a:tcPr>
                    <a:solidFill>
                      <a:srgbClr val="F0F7FF"/>
                    </a:solidFill>
                  </a:tcPr>
                </a:tc>
                <a:tc>
                  <a:txBody>
                    <a:bodyPr lIns="73152" rIns="73152"/>
                    <a:lstStyle/>
                    <a:p>
                      <a:pPr algn="l"/>
                      <a:r>
                        <a:rPr sz="900" b="0">
                          <a:solidFill>
                            <a:srgbClr val="1E293B"/>
                          </a:solidFill>
                        </a:rPr>
                        <a:t>RBI / FIU-IND / CBUAE</a:t>
                      </a:r>
                    </a:p>
                  </a:txBody>
                  <a:tcPr>
                    <a:solidFill>
                      <a:srgbClr val="F0F7FF"/>
                    </a:solidFill>
                  </a:tcPr>
                </a:tc>
                <a:tc>
                  <a:txBody>
                    <a:bodyPr lIns="73152" rIns="73152"/>
                    <a:lstStyle/>
                    <a:p>
                      <a:pPr algn="l"/>
                      <a:r>
                        <a:rPr sz="900" b="0">
                          <a:solidFill>
                            <a:srgbClr val="1E293B"/>
                          </a:solidFill>
                        </a:rPr>
                        <a:t>FATF grey-list history; PEP exposure; PMLA reporting obligations</a:t>
                      </a:r>
                    </a:p>
                  </a:txBody>
                  <a:tcPr>
                    <a:solidFill>
                      <a:srgbClr val="F0F7FF"/>
                    </a:solidFill>
                  </a:tcPr>
                </a:tc>
              </a:tr>
              <a:tr h="449580">
                <a:tc>
                  <a:txBody>
                    <a:bodyPr lIns="73152" rIns="73152"/>
                    <a:lstStyle/>
                    <a:p>
                      <a:pPr algn="l"/>
                      <a:r>
                        <a:rPr sz="900" b="1">
                          <a:solidFill>
                            <a:srgbClr val="0F2140"/>
                          </a:solidFill>
                        </a:rPr>
                        <a:t>India → Singapore</a:t>
                      </a:r>
                    </a:p>
                  </a:txBody>
                  <a:tcPr>
                    <a:solidFill>
                      <a:srgbClr val="FFFFFF"/>
                    </a:solidFill>
                  </a:tcPr>
                </a:tc>
                <a:tc>
                  <a:txBody>
                    <a:bodyPr lIns="73152" rIns="73152"/>
                    <a:lstStyle/>
                    <a:p>
                      <a:pPr algn="l"/>
                      <a:r>
                        <a:rPr sz="900" b="0">
                          <a:solidFill>
                            <a:srgbClr val="1E293B"/>
                          </a:solidFill>
                        </a:rPr>
                        <a:t>USD 18B+</a:t>
                      </a:r>
                    </a:p>
                  </a:txBody>
                  <a:tcPr>
                    <a:solidFill>
                      <a:srgbClr val="FFFFFF"/>
                    </a:solidFill>
                  </a:tcPr>
                </a:tc>
                <a:tc>
                  <a:txBody>
                    <a:bodyPr lIns="73152" rIns="73152"/>
                    <a:lstStyle/>
                    <a:p>
                      <a:pPr algn="l"/>
                      <a:r>
                        <a:rPr sz="900" b="0">
                          <a:solidFill>
                            <a:srgbClr val="1E293B"/>
                          </a:solidFill>
                        </a:rPr>
                        <a:t>RBI / FIU-IND / MAS</a:t>
                      </a:r>
                    </a:p>
                  </a:txBody>
                  <a:tcPr>
                    <a:solidFill>
                      <a:srgbClr val="FFFFFF"/>
                    </a:solidFill>
                  </a:tcPr>
                </a:tc>
                <a:tc>
                  <a:txBody>
                    <a:bodyPr lIns="73152" rIns="73152"/>
                    <a:lstStyle/>
                    <a:p>
                      <a:pPr algn="l"/>
                      <a:r>
                        <a:rPr sz="900" b="0">
                          <a:solidFill>
                            <a:srgbClr val="1E293B"/>
                          </a:solidFill>
                        </a:rPr>
                        <a:t>MAS ACIP framework; high-value remittance structuring patterns</a:t>
                      </a:r>
                    </a:p>
                  </a:txBody>
                  <a:tcPr>
                    <a:solidFill>
                      <a:srgbClr val="FFFFFF"/>
                    </a:solidFill>
                  </a:tcPr>
                </a:tc>
              </a:tr>
              <a:tr h="449580">
                <a:tc>
                  <a:txBody>
                    <a:bodyPr lIns="73152" rIns="73152"/>
                    <a:lstStyle/>
                    <a:p>
                      <a:pPr algn="l"/>
                      <a:r>
                        <a:rPr sz="900" b="1">
                          <a:solidFill>
                            <a:srgbClr val="0F2140"/>
                          </a:solidFill>
                        </a:rPr>
                        <a:t>India → USA</a:t>
                      </a:r>
                    </a:p>
                  </a:txBody>
                  <a:tcPr>
                    <a:solidFill>
                      <a:srgbClr val="F0F7FF"/>
                    </a:solidFill>
                  </a:tcPr>
                </a:tc>
                <a:tc>
                  <a:txBody>
                    <a:bodyPr lIns="73152" rIns="73152"/>
                    <a:lstStyle/>
                    <a:p>
                      <a:pPr algn="l"/>
                      <a:r>
                        <a:rPr sz="900" b="0">
                          <a:solidFill>
                            <a:srgbClr val="1E293B"/>
                          </a:solidFill>
                        </a:rPr>
                        <a:t>USD 77B+</a:t>
                      </a:r>
                    </a:p>
                  </a:txBody>
                  <a:tcPr>
                    <a:solidFill>
                      <a:srgbClr val="F0F7FF"/>
                    </a:solidFill>
                  </a:tcPr>
                </a:tc>
                <a:tc>
                  <a:txBody>
                    <a:bodyPr lIns="73152" rIns="73152"/>
                    <a:lstStyle/>
                    <a:p>
                      <a:pPr algn="l"/>
                      <a:r>
                        <a:rPr sz="900" b="0">
                          <a:solidFill>
                            <a:srgbClr val="1E293B"/>
                          </a:solidFill>
                        </a:rPr>
                        <a:t>RBI / OFAC / FinCEN</a:t>
                      </a:r>
                    </a:p>
                  </a:txBody>
                  <a:tcPr>
                    <a:solidFill>
                      <a:srgbClr val="F0F7FF"/>
                    </a:solidFill>
                  </a:tcPr>
                </a:tc>
                <a:tc>
                  <a:txBody>
                    <a:bodyPr lIns="73152" rIns="73152"/>
                    <a:lstStyle/>
                    <a:p>
                      <a:pPr algn="l"/>
                      <a:r>
                        <a:rPr sz="900" b="0">
                          <a:solidFill>
                            <a:srgbClr val="1E293B"/>
                          </a:solidFill>
                        </a:rPr>
                        <a:t>OFAC SDN primary + secondary sanctions; BIS export controls</a:t>
                      </a:r>
                    </a:p>
                  </a:txBody>
                  <a:tcPr>
                    <a:solidFill>
                      <a:srgbClr val="F0F7FF"/>
                    </a:solidFill>
                  </a:tcPr>
                </a:tc>
              </a:tr>
              <a:tr h="449580">
                <a:tc>
                  <a:txBody>
                    <a:bodyPr lIns="73152" rIns="73152"/>
                    <a:lstStyle/>
                    <a:p>
                      <a:pPr algn="l"/>
                      <a:r>
                        <a:rPr sz="900" b="1">
                          <a:solidFill>
                            <a:srgbClr val="0F2140"/>
                          </a:solidFill>
                        </a:rPr>
                        <a:t>India → Europe</a:t>
                      </a:r>
                    </a:p>
                  </a:txBody>
                  <a:tcPr>
                    <a:solidFill>
                      <a:srgbClr val="FFFFFF"/>
                    </a:solidFill>
                  </a:tcPr>
                </a:tc>
                <a:tc>
                  <a:txBody>
                    <a:bodyPr lIns="73152" rIns="73152"/>
                    <a:lstStyle/>
                    <a:p>
                      <a:pPr algn="l"/>
                      <a:r>
                        <a:rPr sz="900" b="0">
                          <a:solidFill>
                            <a:srgbClr val="1E293B"/>
                          </a:solidFill>
                        </a:rPr>
                        <a:t>USD 58B+</a:t>
                      </a:r>
                    </a:p>
                  </a:txBody>
                  <a:tcPr>
                    <a:solidFill>
                      <a:srgbClr val="FFFFFF"/>
                    </a:solidFill>
                  </a:tcPr>
                </a:tc>
                <a:tc>
                  <a:txBody>
                    <a:bodyPr lIns="73152" rIns="73152"/>
                    <a:lstStyle/>
                    <a:p>
                      <a:pPr algn="l"/>
                      <a:r>
                        <a:rPr sz="900" b="0">
                          <a:solidFill>
                            <a:srgbClr val="1E293B"/>
                          </a:solidFill>
                        </a:rPr>
                        <a:t>RBI / ECB / EBA</a:t>
                      </a:r>
                    </a:p>
                  </a:txBody>
                  <a:tcPr>
                    <a:solidFill>
                      <a:srgbClr val="FFFFFF"/>
                    </a:solidFill>
                  </a:tcPr>
                </a:tc>
                <a:tc>
                  <a:txBody>
                    <a:bodyPr lIns="73152" rIns="73152"/>
                    <a:lstStyle/>
                    <a:p>
                      <a:pPr algn="l"/>
                      <a:r>
                        <a:rPr sz="900" b="0">
                          <a:solidFill>
                            <a:srgbClr val="1E293B"/>
                          </a:solidFill>
                        </a:rPr>
                        <a:t>EU Financial Sanctions Regulation; EBA AML guidelines</a:t>
                      </a:r>
                    </a:p>
                  </a:txBody>
                  <a:tcPr>
                    <a:solidFill>
                      <a:srgbClr val="FFFFFF"/>
                    </a:solidFill>
                  </a:tcPr>
                </a:tc>
              </a:tr>
              <a:tr h="449580">
                <a:tc>
                  <a:txBody>
                    <a:bodyPr lIns="73152" rIns="73152"/>
                    <a:lstStyle/>
                    <a:p>
                      <a:pPr algn="l"/>
                      <a:r>
                        <a:rPr sz="900" b="1">
                          <a:solidFill>
                            <a:srgbClr val="0F2140"/>
                          </a:solidFill>
                        </a:rPr>
                        <a:t>India → China</a:t>
                      </a:r>
                    </a:p>
                  </a:txBody>
                  <a:tcPr>
                    <a:solidFill>
                      <a:srgbClr val="F0F7FF"/>
                    </a:solidFill>
                  </a:tcPr>
                </a:tc>
                <a:tc>
                  <a:txBody>
                    <a:bodyPr lIns="73152" rIns="73152"/>
                    <a:lstStyle/>
                    <a:p>
                      <a:pPr algn="l"/>
                      <a:r>
                        <a:rPr sz="900" b="0">
                          <a:solidFill>
                            <a:srgbClr val="1E293B"/>
                          </a:solidFill>
                        </a:rPr>
                        <a:t>USD 118B+</a:t>
                      </a:r>
                    </a:p>
                  </a:txBody>
                  <a:tcPr>
                    <a:solidFill>
                      <a:srgbClr val="F0F7FF"/>
                    </a:solidFill>
                  </a:tcPr>
                </a:tc>
                <a:tc>
                  <a:txBody>
                    <a:bodyPr lIns="73152" rIns="73152"/>
                    <a:lstStyle/>
                    <a:p>
                      <a:pPr algn="l"/>
                      <a:r>
                        <a:rPr sz="900" b="0">
                          <a:solidFill>
                            <a:srgbClr val="1E293B"/>
                          </a:solidFill>
                        </a:rPr>
                        <a:t>RBI / DGFT / OFAC</a:t>
                      </a:r>
                    </a:p>
                  </a:txBody>
                  <a:tcPr>
                    <a:solidFill>
                      <a:srgbClr val="F0F7FF"/>
                    </a:solidFill>
                  </a:tcPr>
                </a:tc>
                <a:tc>
                  <a:txBody>
                    <a:bodyPr lIns="73152" rIns="73152"/>
                    <a:lstStyle/>
                    <a:p>
                      <a:pPr algn="l"/>
                      <a:r>
                        <a:rPr sz="900" b="0">
                          <a:solidFill>
                            <a:srgbClr val="1E293B"/>
                          </a:solidFill>
                        </a:rPr>
                        <a:t>OFAC secondary risk; DGFT dual-use goods; SCOMET controls</a:t>
                      </a:r>
                    </a:p>
                  </a:txBody>
                  <a:tcPr>
                    <a:solidFill>
                      <a:srgbClr val="F0F7FF"/>
                    </a:solidFill>
                  </a:tcPr>
                </a:tc>
              </a:tr>
            </a:tbl>
          </a:graphicData>
        </a:graphic>
      </p:graphicFrame>
      <p:sp>
        <p:nvSpPr>
          <p:cNvPr id="27" name="Rectangle 26"/>
          <p:cNvSpPr/>
          <p:nvPr/>
        </p:nvSpPr>
        <p:spPr>
          <a:xfrm>
            <a:off x="274320" y="4846320"/>
            <a:ext cx="64008" cy="62179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4846320"/>
            <a:ext cx="11521440" cy="621792"/>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050">
                <a:solidFill>
                  <a:srgbClr val="1E293B"/>
                </a:solidFill>
              </a:rPr>
              <a:t>The compliance bottleneck is not data — it is the analyst workflow. Sanctions lists are public and free from OFAC, UN, and EU. The bottleneck is five disconnected tools, rationale in email threads, and no consolidated audit trail.</a:t>
            </a:r>
          </a:p>
        </p:txBody>
      </p:sp>
      <p:sp>
        <p:nvSpPr>
          <p:cNvPr id="29" name="TextBox 28"/>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01</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Regulatory Landscape &amp; Competitive Gap</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Regulation is tightening. Tooling is not keeping up.</a:t>
            </a:r>
          </a:p>
        </p:txBody>
      </p:sp>
      <p:graphicFrame>
        <p:nvGraphicFramePr>
          <p:cNvPr id="6" name="Table 5"/>
          <p:cNvGraphicFramePr>
            <a:graphicFrameLocks noGrp="1"/>
          </p:cNvGraphicFramePr>
          <p:nvPr/>
        </p:nvGraphicFramePr>
        <p:xfrm>
          <a:off x="274320" y="1051560"/>
          <a:ext cx="5559552" cy="3017520"/>
        </p:xfrm>
        <a:graphic>
          <a:graphicData uri="http://schemas.openxmlformats.org/drawingml/2006/table">
            <a:tbl>
              <a:tblPr firstRow="1" bandRow="1">
                <a:tableStyleId>{5C22544A-7EE6-4342-B048-85BDC9FD1C3A}</a:tableStyleId>
              </a:tblPr>
              <a:tblGrid>
                <a:gridCol w="804672"/>
                <a:gridCol w="1938528"/>
                <a:gridCol w="2816352"/>
              </a:tblGrid>
              <a:tr h="502920">
                <a:tc>
                  <a:txBody>
                    <a:bodyPr lIns="73152" rIns="73152"/>
                    <a:lstStyle/>
                    <a:p>
                      <a:pPr algn="l"/>
                      <a:r>
                        <a:rPr sz="950" b="1">
                          <a:solidFill>
                            <a:srgbClr val="FFFFFF"/>
                          </a:solidFill>
                        </a:rPr>
                        <a:t>Regulator</a:t>
                      </a:r>
                    </a:p>
                  </a:txBody>
                  <a:tcPr>
                    <a:solidFill>
                      <a:srgbClr val="0F2140"/>
                    </a:solidFill>
                  </a:tcPr>
                </a:tc>
                <a:tc>
                  <a:txBody>
                    <a:bodyPr lIns="73152" rIns="73152"/>
                    <a:lstStyle/>
                    <a:p>
                      <a:pPr algn="l"/>
                      <a:r>
                        <a:rPr sz="950" b="1">
                          <a:solidFill>
                            <a:srgbClr val="FFFFFF"/>
                          </a:solidFill>
                        </a:rPr>
                        <a:t>Key Instrument</a:t>
                      </a:r>
                    </a:p>
                  </a:txBody>
                  <a:tcPr>
                    <a:solidFill>
                      <a:srgbClr val="0F2140"/>
                    </a:solidFill>
                  </a:tcPr>
                </a:tc>
                <a:tc>
                  <a:txBody>
                    <a:bodyPr lIns="73152" rIns="73152"/>
                    <a:lstStyle/>
                    <a:p>
                      <a:pPr algn="l"/>
                      <a:r>
                        <a:rPr sz="950" b="1">
                          <a:solidFill>
                            <a:srgbClr val="FFFFFF"/>
                          </a:solidFill>
                        </a:rPr>
                        <a:t>Obligation</a:t>
                      </a:r>
                    </a:p>
                  </a:txBody>
                  <a:tcPr>
                    <a:solidFill>
                      <a:srgbClr val="0F2140"/>
                    </a:solidFill>
                  </a:tcPr>
                </a:tc>
              </a:tr>
              <a:tr h="502920">
                <a:tc>
                  <a:txBody>
                    <a:bodyPr lIns="73152" rIns="73152"/>
                    <a:lstStyle/>
                    <a:p>
                      <a:pPr algn="l"/>
                      <a:r>
                        <a:rPr sz="900" b="1">
                          <a:solidFill>
                            <a:srgbClr val="0F2140"/>
                          </a:solidFill>
                        </a:rPr>
                        <a:t>RBI</a:t>
                      </a:r>
                    </a:p>
                  </a:txBody>
                  <a:tcPr>
                    <a:solidFill>
                      <a:srgbClr val="F0F7FF"/>
                    </a:solidFill>
                  </a:tcPr>
                </a:tc>
                <a:tc>
                  <a:txBody>
                    <a:bodyPr lIns="73152" rIns="73152"/>
                    <a:lstStyle/>
                    <a:p>
                      <a:pPr algn="l"/>
                      <a:r>
                        <a:rPr sz="900" b="0">
                          <a:solidFill>
                            <a:srgbClr val="1E293B"/>
                          </a:solidFill>
                        </a:rPr>
                        <a:t>KYC Master Circular 2024; PA Licence</a:t>
                      </a:r>
                    </a:p>
                  </a:txBody>
                  <a:tcPr>
                    <a:solidFill>
                      <a:srgbClr val="F0F7FF"/>
                    </a:solidFill>
                  </a:tcPr>
                </a:tc>
                <a:tc>
                  <a:txBody>
                    <a:bodyPr lIns="73152" rIns="73152"/>
                    <a:lstStyle/>
                    <a:p>
                      <a:pPr algn="l"/>
                      <a:r>
                        <a:rPr sz="900" b="0">
                          <a:solidFill>
                            <a:srgbClr val="1E293B"/>
                          </a:solidFill>
                        </a:rPr>
                        <a:t>Counterparty screening; KYC docs; periodic re-screening</a:t>
                      </a:r>
                    </a:p>
                  </a:txBody>
                  <a:tcPr>
                    <a:solidFill>
                      <a:srgbClr val="F0F7FF"/>
                    </a:solidFill>
                  </a:tcPr>
                </a:tc>
              </a:tr>
              <a:tr h="502920">
                <a:tc>
                  <a:txBody>
                    <a:bodyPr lIns="73152" rIns="73152"/>
                    <a:lstStyle/>
                    <a:p>
                      <a:pPr algn="l"/>
                      <a:r>
                        <a:rPr sz="900" b="1">
                          <a:solidFill>
                            <a:srgbClr val="0F2140"/>
                          </a:solidFill>
                        </a:rPr>
                        <a:t>FIU-IND</a:t>
                      </a:r>
                    </a:p>
                  </a:txBody>
                  <a:tcPr>
                    <a:solidFill>
                      <a:srgbClr val="FFFFFF"/>
                    </a:solidFill>
                  </a:tcPr>
                </a:tc>
                <a:tc>
                  <a:txBody>
                    <a:bodyPr lIns="73152" rIns="73152"/>
                    <a:lstStyle/>
                    <a:p>
                      <a:pPr algn="l"/>
                      <a:r>
                        <a:rPr sz="900" b="0">
                          <a:solidFill>
                            <a:srgbClr val="1E293B"/>
                          </a:solidFill>
                        </a:rPr>
                        <a:t>PMLA 2002; Prevention of ML Rules</a:t>
                      </a:r>
                    </a:p>
                  </a:txBody>
                  <a:tcPr>
                    <a:solidFill>
                      <a:srgbClr val="FFFFFF"/>
                    </a:solidFill>
                  </a:tcPr>
                </a:tc>
                <a:tc>
                  <a:txBody>
                    <a:bodyPr lIns="73152" rIns="73152"/>
                    <a:lstStyle/>
                    <a:p>
                      <a:pPr algn="l"/>
                      <a:r>
                        <a:rPr sz="900" b="0">
                          <a:solidFill>
                            <a:srgbClr val="1E293B"/>
                          </a:solidFill>
                        </a:rPr>
                        <a:t>STRs; CTRs; 10-year record retention; programme governance</a:t>
                      </a:r>
                    </a:p>
                  </a:txBody>
                  <a:tcPr>
                    <a:solidFill>
                      <a:srgbClr val="FFFFFF"/>
                    </a:solidFill>
                  </a:tcPr>
                </a:tc>
              </a:tr>
              <a:tr h="502920">
                <a:tc>
                  <a:txBody>
                    <a:bodyPr lIns="73152" rIns="73152"/>
                    <a:lstStyle/>
                    <a:p>
                      <a:pPr algn="l"/>
                      <a:r>
                        <a:rPr sz="900" b="1">
                          <a:solidFill>
                            <a:srgbClr val="0F2140"/>
                          </a:solidFill>
                        </a:rPr>
                        <a:t>FEMA</a:t>
                      </a:r>
                    </a:p>
                  </a:txBody>
                  <a:tcPr>
                    <a:solidFill>
                      <a:srgbClr val="F0F7FF"/>
                    </a:solidFill>
                  </a:tcPr>
                </a:tc>
                <a:tc>
                  <a:txBody>
                    <a:bodyPr lIns="73152" rIns="73152"/>
                    <a:lstStyle/>
                    <a:p>
                      <a:pPr algn="l"/>
                      <a:r>
                        <a:rPr sz="900" b="0">
                          <a:solidFill>
                            <a:srgbClr val="1E293B"/>
                          </a:solidFill>
                        </a:rPr>
                        <a:t>FEMA 1999; outward remittance rules</a:t>
                      </a:r>
                    </a:p>
                  </a:txBody>
                  <a:tcPr>
                    <a:solidFill>
                      <a:srgbClr val="F0F7FF"/>
                    </a:solidFill>
                  </a:tcPr>
                </a:tc>
                <a:tc>
                  <a:txBody>
                    <a:bodyPr lIns="73152" rIns="73152"/>
                    <a:lstStyle/>
                    <a:p>
                      <a:pPr algn="l"/>
                      <a:r>
                        <a:rPr sz="900" b="0">
                          <a:solidFill>
                            <a:srgbClr val="1E293B"/>
                          </a:solidFill>
                        </a:rPr>
                        <a:t>Purpose code validation; counterparty documentation</a:t>
                      </a:r>
                    </a:p>
                  </a:txBody>
                  <a:tcPr>
                    <a:solidFill>
                      <a:srgbClr val="F0F7FF"/>
                    </a:solidFill>
                  </a:tcPr>
                </a:tc>
              </a:tr>
              <a:tr h="502920">
                <a:tc>
                  <a:txBody>
                    <a:bodyPr lIns="73152" rIns="73152"/>
                    <a:lstStyle/>
                    <a:p>
                      <a:pPr algn="l"/>
                      <a:r>
                        <a:rPr sz="900" b="1">
                          <a:solidFill>
                            <a:srgbClr val="0F2140"/>
                          </a:solidFill>
                        </a:rPr>
                        <a:t>DGFT</a:t>
                      </a:r>
                    </a:p>
                  </a:txBody>
                  <a:tcPr>
                    <a:solidFill>
                      <a:srgbClr val="FFFFFF"/>
                    </a:solidFill>
                  </a:tcPr>
                </a:tc>
                <a:tc>
                  <a:txBody>
                    <a:bodyPr lIns="73152" rIns="73152"/>
                    <a:lstStyle/>
                    <a:p>
                      <a:pPr algn="l"/>
                      <a:r>
                        <a:rPr sz="900" b="0">
                          <a:solidFill>
                            <a:srgbClr val="1E293B"/>
                          </a:solidFill>
                        </a:rPr>
                        <a:t>Foreign Trade Policy 2023-28</a:t>
                      </a:r>
                    </a:p>
                  </a:txBody>
                  <a:tcPr>
                    <a:solidFill>
                      <a:srgbClr val="FFFFFF"/>
                    </a:solidFill>
                  </a:tcPr>
                </a:tc>
                <a:tc>
                  <a:txBody>
                    <a:bodyPr lIns="73152" rIns="73152"/>
                    <a:lstStyle/>
                    <a:p>
                      <a:pPr algn="l"/>
                      <a:r>
                        <a:rPr sz="900" b="0">
                          <a:solidFill>
                            <a:srgbClr val="1E293B"/>
                          </a:solidFill>
                        </a:rPr>
                        <a:t>IEC verification; restricted goods; SCOMET controls</a:t>
                      </a:r>
                    </a:p>
                  </a:txBody>
                  <a:tcPr>
                    <a:solidFill>
                      <a:srgbClr val="FFFFFF"/>
                    </a:solidFill>
                  </a:tcPr>
                </a:tc>
              </a:tr>
              <a:tr h="502920">
                <a:tc>
                  <a:txBody>
                    <a:bodyPr lIns="73152" rIns="73152"/>
                    <a:lstStyle/>
                    <a:p>
                      <a:pPr algn="l"/>
                      <a:r>
                        <a:rPr sz="900" b="1">
                          <a:solidFill>
                            <a:srgbClr val="0F2140"/>
                          </a:solidFill>
                        </a:rPr>
                        <a:t>FATF</a:t>
                      </a:r>
                    </a:p>
                  </a:txBody>
                  <a:tcPr>
                    <a:solidFill>
                      <a:srgbClr val="F0F7FF"/>
                    </a:solidFill>
                  </a:tcPr>
                </a:tc>
                <a:tc>
                  <a:txBody>
                    <a:bodyPr lIns="73152" rIns="73152"/>
                    <a:lstStyle/>
                    <a:p>
                      <a:pPr algn="l"/>
                      <a:r>
                        <a:rPr sz="900" b="0">
                          <a:solidFill>
                            <a:srgbClr val="1E293B"/>
                          </a:solidFill>
                        </a:rPr>
                        <a:t>FATF Recommendations; MER findings</a:t>
                      </a:r>
                    </a:p>
                  </a:txBody>
                  <a:tcPr>
                    <a:solidFill>
                      <a:srgbClr val="F0F7FF"/>
                    </a:solidFill>
                  </a:tcPr>
                </a:tc>
                <a:tc>
                  <a:txBody>
                    <a:bodyPr lIns="73152" rIns="73152"/>
                    <a:lstStyle/>
                    <a:p>
                      <a:pPr algn="l"/>
                      <a:r>
                        <a:rPr sz="900" b="0">
                          <a:solidFill>
                            <a:srgbClr val="1E293B"/>
                          </a:solidFill>
                        </a:rPr>
                        <a:t>Risk-based approach; wire transfer rule; beneficial ownership</a:t>
                      </a:r>
                    </a:p>
                  </a:txBody>
                  <a:tcPr>
                    <a:solidFill>
                      <a:srgbClr val="F0F7FF"/>
                    </a:solidFill>
                  </a:tcPr>
                </a:tc>
              </a:tr>
            </a:tbl>
          </a:graphicData>
        </a:graphic>
      </p:graphicFrame>
      <p:graphicFrame>
        <p:nvGraphicFramePr>
          <p:cNvPr id="7" name="Table 6"/>
          <p:cNvGraphicFramePr>
            <a:graphicFrameLocks noGrp="1"/>
          </p:cNvGraphicFramePr>
          <p:nvPr/>
        </p:nvGraphicFramePr>
        <p:xfrm>
          <a:off x="6126480" y="1051560"/>
          <a:ext cx="5760720" cy="3017520"/>
        </p:xfrm>
        <a:graphic>
          <a:graphicData uri="http://schemas.openxmlformats.org/drawingml/2006/table">
            <a:tbl>
              <a:tblPr firstRow="1" bandRow="1">
                <a:tableStyleId>{5C22544A-7EE6-4342-B048-85BDC9FD1C3A}</a:tableStyleId>
              </a:tblPr>
              <a:tblGrid>
                <a:gridCol w="1664208"/>
                <a:gridCol w="1298448"/>
                <a:gridCol w="2798064"/>
              </a:tblGrid>
              <a:tr h="502920">
                <a:tc>
                  <a:txBody>
                    <a:bodyPr lIns="73152" rIns="73152"/>
                    <a:lstStyle/>
                    <a:p>
                      <a:pPr algn="l"/>
                      <a:r>
                        <a:rPr sz="950" b="1">
                          <a:solidFill>
                            <a:srgbClr val="FFFFFF"/>
                          </a:solidFill>
                        </a:rPr>
                        <a:t>Competitor</a:t>
                      </a:r>
                    </a:p>
                  </a:txBody>
                  <a:tcPr>
                    <a:solidFill>
                      <a:srgbClr val="0F2140"/>
                    </a:solidFill>
                  </a:tcPr>
                </a:tc>
                <a:tc>
                  <a:txBody>
                    <a:bodyPr lIns="73152" rIns="73152"/>
                    <a:lstStyle/>
                    <a:p>
                      <a:pPr algn="l"/>
                      <a:r>
                        <a:rPr sz="950" b="1">
                          <a:solidFill>
                            <a:srgbClr val="FFFFFF"/>
                          </a:solidFill>
                        </a:rPr>
                        <a:t>Category</a:t>
                      </a:r>
                    </a:p>
                  </a:txBody>
                  <a:tcPr>
                    <a:solidFill>
                      <a:srgbClr val="0F2140"/>
                    </a:solidFill>
                  </a:tcPr>
                </a:tc>
                <a:tc>
                  <a:txBody>
                    <a:bodyPr lIns="73152" rIns="73152"/>
                    <a:lstStyle/>
                    <a:p>
                      <a:pPr algn="l"/>
                      <a:r>
                        <a:rPr sz="950" b="1">
                          <a:solidFill>
                            <a:srgbClr val="FFFFFF"/>
                          </a:solidFill>
                        </a:rPr>
                        <a:t>Gap for 1-5 Analyst Team</a:t>
                      </a:r>
                    </a:p>
                  </a:txBody>
                  <a:tcPr>
                    <a:solidFill>
                      <a:srgbClr val="0F2140"/>
                    </a:solidFill>
                  </a:tcPr>
                </a:tc>
              </a:tr>
              <a:tr h="502920">
                <a:tc>
                  <a:txBody>
                    <a:bodyPr lIns="73152" rIns="73152"/>
                    <a:lstStyle/>
                    <a:p>
                      <a:pPr algn="l"/>
                      <a:r>
                        <a:rPr sz="900" b="1">
                          <a:solidFill>
                            <a:srgbClr val="0F2140"/>
                          </a:solidFill>
                        </a:rPr>
                        <a:t>Refinitiv World-Check</a:t>
                      </a:r>
                    </a:p>
                  </a:txBody>
                  <a:tcPr>
                    <a:solidFill>
                      <a:srgbClr val="F0F7FF"/>
                    </a:solidFill>
                  </a:tcPr>
                </a:tc>
                <a:tc>
                  <a:txBody>
                    <a:bodyPr lIns="73152" rIns="73152"/>
                    <a:lstStyle/>
                    <a:p>
                      <a:pPr algn="l"/>
                      <a:r>
                        <a:rPr sz="900" b="0">
                          <a:solidFill>
                            <a:srgbClr val="1E293B"/>
                          </a:solidFill>
                        </a:rPr>
                        <a:t>Watchlist database</a:t>
                      </a:r>
                    </a:p>
                  </a:txBody>
                  <a:tcPr>
                    <a:solidFill>
                      <a:srgbClr val="F0F7FF"/>
                    </a:solidFill>
                  </a:tcPr>
                </a:tc>
                <a:tc>
                  <a:txBody>
                    <a:bodyPr lIns="73152" rIns="73152"/>
                    <a:lstStyle/>
                    <a:p>
                      <a:pPr algn="l"/>
                      <a:r>
                        <a:rPr sz="900" b="0">
                          <a:solidFill>
                            <a:srgbClr val="1E293B"/>
                          </a:solidFill>
                        </a:rPr>
                        <a:t>No workflow, no audit trail, no rationale drafting</a:t>
                      </a:r>
                    </a:p>
                  </a:txBody>
                  <a:tcPr>
                    <a:solidFill>
                      <a:srgbClr val="F0F7FF"/>
                    </a:solidFill>
                  </a:tcPr>
                </a:tc>
              </a:tr>
              <a:tr h="502920">
                <a:tc>
                  <a:txBody>
                    <a:bodyPr lIns="73152" rIns="73152"/>
                    <a:lstStyle/>
                    <a:p>
                      <a:pPr algn="l"/>
                      <a:r>
                        <a:rPr sz="900" b="1">
                          <a:solidFill>
                            <a:srgbClr val="0F2140"/>
                          </a:solidFill>
                        </a:rPr>
                        <a:t>ComplyAdvantage</a:t>
                      </a:r>
                    </a:p>
                  </a:txBody>
                  <a:tcPr>
                    <a:solidFill>
                      <a:srgbClr val="FFFFFF"/>
                    </a:solidFill>
                  </a:tcPr>
                </a:tc>
                <a:tc>
                  <a:txBody>
                    <a:bodyPr lIns="73152" rIns="73152"/>
                    <a:lstStyle/>
                    <a:p>
                      <a:pPr algn="l"/>
                      <a:r>
                        <a:rPr sz="900" b="0">
                          <a:solidFill>
                            <a:srgbClr val="1E293B"/>
                          </a:solidFill>
                        </a:rPr>
                        <a:t>AI AML data</a:t>
                      </a:r>
                    </a:p>
                  </a:txBody>
                  <a:tcPr>
                    <a:solidFill>
                      <a:srgbClr val="FFFFFF"/>
                    </a:solidFill>
                  </a:tcPr>
                </a:tc>
                <a:tc>
                  <a:txBody>
                    <a:bodyPr lIns="73152" rIns="73152"/>
                    <a:lstStyle/>
                    <a:p>
                      <a:pPr algn="l"/>
                      <a:r>
                        <a:rPr sz="900" b="0">
                          <a:solidFill>
                            <a:srgbClr val="1E293B"/>
                          </a:solidFill>
                        </a:rPr>
                        <a:t>No analyst workbench; no India-native workflow depth</a:t>
                      </a:r>
                    </a:p>
                  </a:txBody>
                  <a:tcPr>
                    <a:solidFill>
                      <a:srgbClr val="FFFFFF"/>
                    </a:solidFill>
                  </a:tcPr>
                </a:tc>
              </a:tr>
              <a:tr h="502920">
                <a:tc>
                  <a:txBody>
                    <a:bodyPr lIns="73152" rIns="73152"/>
                    <a:lstStyle/>
                    <a:p>
                      <a:pPr algn="l"/>
                      <a:r>
                        <a:rPr sz="900" b="1">
                          <a:solidFill>
                            <a:srgbClr val="0F2140"/>
                          </a:solidFill>
                        </a:rPr>
                        <a:t>Oracle FCCM</a:t>
                      </a:r>
                    </a:p>
                  </a:txBody>
                  <a:tcPr>
                    <a:solidFill>
                      <a:srgbClr val="F0F7FF"/>
                    </a:solidFill>
                  </a:tcPr>
                </a:tc>
                <a:tc>
                  <a:txBody>
                    <a:bodyPr lIns="73152" rIns="73152"/>
                    <a:lstStyle/>
                    <a:p>
                      <a:pPr algn="l"/>
                      <a:r>
                        <a:rPr sz="900" b="0">
                          <a:solidFill>
                            <a:srgbClr val="1E293B"/>
                          </a:solidFill>
                        </a:rPr>
                        <a:t>Enterprise AML suite</a:t>
                      </a:r>
                    </a:p>
                  </a:txBody>
                  <a:tcPr>
                    <a:solidFill>
                      <a:srgbClr val="F0F7FF"/>
                    </a:solidFill>
                  </a:tcPr>
                </a:tc>
                <a:tc>
                  <a:txBody>
                    <a:bodyPr lIns="73152" rIns="73152"/>
                    <a:lstStyle/>
                    <a:p>
                      <a:pPr algn="l"/>
                      <a:r>
                        <a:rPr sz="900" b="0">
                          <a:solidFill>
                            <a:srgbClr val="1E293B"/>
                          </a:solidFill>
                        </a:rPr>
                        <a:t>6–12 month implementation; priced for banks, not fintechs</a:t>
                      </a:r>
                    </a:p>
                  </a:txBody>
                  <a:tcPr>
                    <a:solidFill>
                      <a:srgbClr val="F0F7FF"/>
                    </a:solidFill>
                  </a:tcPr>
                </a:tc>
              </a:tr>
              <a:tr h="502920">
                <a:tc>
                  <a:txBody>
                    <a:bodyPr lIns="73152" rIns="73152"/>
                    <a:lstStyle/>
                    <a:p>
                      <a:pPr algn="l"/>
                      <a:r>
                        <a:rPr sz="900" b="1">
                          <a:solidFill>
                            <a:srgbClr val="0F2140"/>
                          </a:solidFill>
                        </a:rPr>
                        <a:t>Napier / Acuris</a:t>
                      </a:r>
                    </a:p>
                  </a:txBody>
                  <a:tcPr>
                    <a:solidFill>
                      <a:srgbClr val="FFFFFF"/>
                    </a:solidFill>
                  </a:tcPr>
                </a:tc>
                <a:tc>
                  <a:txBody>
                    <a:bodyPr lIns="73152" rIns="73152"/>
                    <a:lstStyle/>
                    <a:p>
                      <a:pPr algn="l"/>
                      <a:r>
                        <a:rPr sz="900" b="0">
                          <a:solidFill>
                            <a:srgbClr val="1E293B"/>
                          </a:solidFill>
                        </a:rPr>
                        <a:t>Mid-market AML</a:t>
                      </a:r>
                    </a:p>
                  </a:txBody>
                  <a:tcPr>
                    <a:solidFill>
                      <a:srgbClr val="FFFFFF"/>
                    </a:solidFill>
                  </a:tcPr>
                </a:tc>
                <a:tc>
                  <a:txBody>
                    <a:bodyPr lIns="73152" rIns="73152"/>
                    <a:lstStyle/>
                    <a:p>
                      <a:pPr algn="l"/>
                      <a:r>
                        <a:rPr sz="900" b="0">
                          <a:solidFill>
                            <a:srgbClr val="1E293B"/>
                          </a:solidFill>
                        </a:rPr>
                        <a:t>Limited RBI / FEMA workflow knowledge</a:t>
                      </a:r>
                    </a:p>
                  </a:txBody>
                  <a:tcPr>
                    <a:solidFill>
                      <a:srgbClr val="FFFFFF"/>
                    </a:solidFill>
                  </a:tcPr>
                </a:tc>
              </a:tr>
              <a:tr h="502920">
                <a:tc>
                  <a:txBody>
                    <a:bodyPr lIns="73152" rIns="73152"/>
                    <a:lstStyle/>
                    <a:p>
                      <a:pPr algn="l"/>
                      <a:r>
                        <a:rPr sz="900" b="1">
                          <a:solidFill>
                            <a:srgbClr val="0F2140"/>
                          </a:solidFill>
                        </a:rPr>
                        <a:t>Excel + Email</a:t>
                      </a:r>
                    </a:p>
                  </a:txBody>
                  <a:tcPr>
                    <a:solidFill>
                      <a:srgbClr val="F0F7FF"/>
                    </a:solidFill>
                  </a:tcPr>
                </a:tc>
                <a:tc>
                  <a:txBody>
                    <a:bodyPr lIns="73152" rIns="73152"/>
                    <a:lstStyle/>
                    <a:p>
                      <a:pPr algn="l"/>
                      <a:r>
                        <a:rPr sz="900" b="0">
                          <a:solidFill>
                            <a:srgbClr val="1E293B"/>
                          </a:solidFill>
                        </a:rPr>
                        <a:t>Status quo</a:t>
                      </a:r>
                    </a:p>
                  </a:txBody>
                  <a:tcPr>
                    <a:solidFill>
                      <a:srgbClr val="F0F7FF"/>
                    </a:solidFill>
                  </a:tcPr>
                </a:tc>
                <a:tc>
                  <a:txBody>
                    <a:bodyPr lIns="73152" rIns="73152"/>
                    <a:lstStyle/>
                    <a:p>
                      <a:pPr algn="l"/>
                      <a:r>
                        <a:rPr sz="900" b="0">
                          <a:solidFill>
                            <a:srgbClr val="1E293B"/>
                          </a:solidFill>
                        </a:rPr>
                        <a:t>No audit trail; rationale in email threads; unscalable</a:t>
                      </a:r>
                    </a:p>
                  </a:txBody>
                  <a:tcPr>
                    <a:solidFill>
                      <a:srgbClr val="F0F7FF"/>
                    </a:solidFill>
                  </a:tcPr>
                </a:tc>
              </a:tr>
            </a:tbl>
          </a:graphicData>
        </a:graphic>
      </p:graphicFrame>
      <p:sp>
        <p:nvSpPr>
          <p:cNvPr id="8" name="Rectangle 7"/>
          <p:cNvSpPr/>
          <p:nvPr/>
        </p:nvSpPr>
        <p:spPr>
          <a:xfrm>
            <a:off x="274320" y="4206240"/>
            <a:ext cx="64008" cy="502920"/>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4206240"/>
            <a:ext cx="5468112" cy="502920"/>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050">
                <a:solidFill>
                  <a:srgbClr val="1E293B"/>
                </a:solidFill>
              </a:rPr>
              <a:t>India: 3,000+ fintechs. Zero purpose-built tools for the 1–5 analyst compliance team.</a:t>
            </a:r>
          </a:p>
        </p:txBody>
      </p:sp>
      <p:sp>
        <p:nvSpPr>
          <p:cNvPr id="10" name="Rectangle 9"/>
          <p:cNvSpPr/>
          <p:nvPr/>
        </p:nvSpPr>
        <p:spPr>
          <a:xfrm>
            <a:off x="6126480" y="4206240"/>
            <a:ext cx="64008" cy="502920"/>
          </a:xfrm>
          <a:prstGeom prst="rect">
            <a:avLst/>
          </a:prstGeom>
          <a:solidFill>
            <a:srgbClr val="B45B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4206240"/>
            <a:ext cx="5669280" cy="502920"/>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050">
                <a:solidFill>
                  <a:srgbClr val="1E293B"/>
                </a:solidFill>
              </a:rPr>
              <a:t>TAM ~12,000  ·  SAM ~3,000–4,000  ·  SOM (24 months) 300–500 entities</a:t>
            </a:r>
          </a:p>
        </p:txBody>
      </p:sp>
      <p:sp>
        <p:nvSpPr>
          <p:cNvPr id="12" name="Rectangle 11"/>
          <p:cNvSpPr/>
          <p:nvPr/>
        </p:nvSpPr>
        <p:spPr>
          <a:xfrm>
            <a:off x="274320" y="4864608"/>
            <a:ext cx="11612880" cy="50292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100" b="1">
                <a:solidFill>
                  <a:srgbClr val="00C2A8"/>
                </a:solidFill>
              </a:rPr>
              <a:t>Category ScreenDesk creates: Evidence-First Compliance Workbench — not a watchlist database, not an enterprise AML suite.</a:t>
            </a:r>
          </a:p>
        </p:txBody>
      </p:sp>
      <p:sp>
        <p:nvSpPr>
          <p:cNvPr id="13" name="TextBox 12"/>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02</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User Research &amp; Need Analysis</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Three personas — one compliance programme</a:t>
            </a:r>
          </a:p>
        </p:txBody>
      </p:sp>
      <p:sp>
        <p:nvSpPr>
          <p:cNvPr id="6" name="Rectangle 5"/>
          <p:cNvSpPr/>
          <p:nvPr/>
        </p:nvSpPr>
        <p:spPr>
          <a:xfrm>
            <a:off x="274320" y="1024128"/>
            <a:ext cx="3749039" cy="47548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200" b="1">
                <a:solidFill>
                  <a:srgbClr val="00A890"/>
                </a:solidFill>
              </a:rPr>
              <a:t>Priya Nair</a:t>
            </a:r>
          </a:p>
        </p:txBody>
      </p:sp>
      <p:sp>
        <p:nvSpPr>
          <p:cNvPr id="7" name="TextBox 6"/>
          <p:cNvSpPr txBox="1"/>
          <p:nvPr/>
        </p:nvSpPr>
        <p:spPr>
          <a:xfrm>
            <a:off x="274320" y="1536192"/>
            <a:ext cx="3749039" cy="256032"/>
          </a:xfrm>
          <a:prstGeom prst="rect">
            <a:avLst/>
          </a:prstGeom>
          <a:noFill/>
        </p:spPr>
        <p:txBody>
          <a:bodyPr wrap="square">
            <a:spAutoFit/>
          </a:bodyPr>
          <a:lstStyle/>
          <a:p>
            <a:pPr algn="l"/>
            <a:r>
              <a:rPr sz="950" b="1">
                <a:solidFill>
                  <a:srgbClr val="00A890"/>
                </a:solidFill>
              </a:rPr>
              <a:t>Screening Analyst  (Primary User)</a:t>
            </a:r>
          </a:p>
        </p:txBody>
      </p:sp>
      <p:sp>
        <p:nvSpPr>
          <p:cNvPr id="8" name="TextBox 7"/>
          <p:cNvSpPr txBox="1"/>
          <p:nvPr/>
        </p:nvSpPr>
        <p:spPr>
          <a:xfrm>
            <a:off x="274320" y="1810512"/>
            <a:ext cx="3749039" cy="475488"/>
          </a:xfrm>
          <a:prstGeom prst="rect">
            <a:avLst/>
          </a:prstGeom>
          <a:noFill/>
        </p:spPr>
        <p:txBody>
          <a:bodyPr wrap="square">
            <a:spAutoFit/>
          </a:bodyPr>
          <a:lstStyle/>
          <a:p>
            <a:pPr algn="l"/>
            <a:r>
              <a:rPr sz="900" b="0">
                <a:solidFill>
                  <a:srgbClr val="475569"/>
                </a:solidFill>
              </a:rPr>
              <a:t>Mumbai fintech · 2-person team · 40+ alerts/day · 3–5% true matches</a:t>
            </a:r>
          </a:p>
        </p:txBody>
      </p:sp>
      <p:sp>
        <p:nvSpPr>
          <p:cNvPr id="9" name="Rectangle 8"/>
          <p:cNvSpPr/>
          <p:nvPr/>
        </p:nvSpPr>
        <p:spPr>
          <a:xfrm>
            <a:off x="274320" y="2322576"/>
            <a:ext cx="3749039" cy="621792"/>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"Clear my alert queue without making a mistake I cannot explain later."</a:t>
            </a:r>
          </a:p>
        </p:txBody>
      </p:sp>
      <p:sp>
        <p:nvSpPr>
          <p:cNvPr id="10" name="TextBox 9"/>
          <p:cNvSpPr txBox="1"/>
          <p:nvPr/>
        </p:nvSpPr>
        <p:spPr>
          <a:xfrm>
            <a:off x="274320" y="2999232"/>
            <a:ext cx="3749039" cy="228600"/>
          </a:xfrm>
          <a:prstGeom prst="rect">
            <a:avLst/>
          </a:prstGeom>
          <a:noFill/>
        </p:spPr>
        <p:txBody>
          <a:bodyPr wrap="square">
            <a:spAutoFit/>
          </a:bodyPr>
          <a:lstStyle/>
          <a:p>
            <a:pPr algn="l"/>
            <a:r>
              <a:rPr sz="850" b="1">
                <a:solidFill>
                  <a:srgbClr val="00A890"/>
                </a:solidFill>
              </a:rPr>
              <a:t>TOP PAINS</a:t>
            </a:r>
          </a:p>
        </p:txBody>
      </p:sp>
      <p:sp>
        <p:nvSpPr>
          <p:cNvPr id="11" name="TextBox 10"/>
          <p:cNvSpPr txBox="1"/>
          <p:nvPr/>
        </p:nvSpPr>
        <p:spPr>
          <a:xfrm>
            <a:off x="347472" y="3246120"/>
            <a:ext cx="3657600" cy="548640"/>
          </a:xfrm>
          <a:prstGeom prst="rect">
            <a:avLst/>
          </a:prstGeom>
          <a:noFill/>
        </p:spPr>
        <p:txBody>
          <a:bodyPr wrap="square">
            <a:spAutoFit/>
          </a:bodyPr>
          <a:lstStyle/>
          <a:p>
            <a:pPr algn="l"/>
            <a:r>
              <a:rPr sz="950" b="0">
                <a:solidFill>
                  <a:srgbClr val="1E293B"/>
                </a:solidFill>
              </a:rPr>
              <a:t>▶  5 disconnected tools per alert check</a:t>
            </a:r>
          </a:p>
        </p:txBody>
      </p:sp>
      <p:sp>
        <p:nvSpPr>
          <p:cNvPr id="12" name="TextBox 11"/>
          <p:cNvSpPr txBox="1"/>
          <p:nvPr/>
        </p:nvSpPr>
        <p:spPr>
          <a:xfrm>
            <a:off x="347472" y="3840480"/>
            <a:ext cx="3657600" cy="548640"/>
          </a:xfrm>
          <a:prstGeom prst="rect">
            <a:avLst/>
          </a:prstGeom>
          <a:noFill/>
        </p:spPr>
        <p:txBody>
          <a:bodyPr wrap="square">
            <a:spAutoFit/>
          </a:bodyPr>
          <a:lstStyle/>
          <a:p>
            <a:pPr algn="l"/>
            <a:r>
              <a:rPr sz="950" b="0">
                <a:solidFill>
                  <a:srgbClr val="1E293B"/>
                </a:solidFill>
              </a:rPr>
              <a:t>▶  Rationale written in email threads — not searchable</a:t>
            </a:r>
          </a:p>
        </p:txBody>
      </p:sp>
      <p:sp>
        <p:nvSpPr>
          <p:cNvPr id="13" name="TextBox 12"/>
          <p:cNvSpPr txBox="1"/>
          <p:nvPr/>
        </p:nvSpPr>
        <p:spPr>
          <a:xfrm>
            <a:off x="347472" y="4434840"/>
            <a:ext cx="3657600" cy="548640"/>
          </a:xfrm>
          <a:prstGeom prst="rect">
            <a:avLst/>
          </a:prstGeom>
          <a:noFill/>
        </p:spPr>
        <p:txBody>
          <a:bodyPr wrap="square">
            <a:spAutoFit/>
          </a:bodyPr>
          <a:lstStyle/>
          <a:p>
            <a:pPr algn="l"/>
            <a:r>
              <a:rPr sz="950" b="0">
                <a:solidFill>
                  <a:srgbClr val="1E293B"/>
                </a:solidFill>
              </a:rPr>
              <a:t>▶  No fast-clear mechanism for obvious false positives</a:t>
            </a:r>
          </a:p>
        </p:txBody>
      </p:sp>
      <p:sp>
        <p:nvSpPr>
          <p:cNvPr id="14" name="Rectangle 13"/>
          <p:cNvSpPr/>
          <p:nvPr/>
        </p:nvSpPr>
        <p:spPr>
          <a:xfrm>
            <a:off x="4251959" y="1024128"/>
            <a:ext cx="3749039" cy="47548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200" b="1">
                <a:solidFill>
                  <a:srgbClr val="B45B09"/>
                </a:solidFill>
              </a:rPr>
              <a:t>MLRO / Head of Compliance</a:t>
            </a:r>
          </a:p>
        </p:txBody>
      </p:sp>
      <p:sp>
        <p:nvSpPr>
          <p:cNvPr id="15" name="TextBox 14"/>
          <p:cNvSpPr txBox="1"/>
          <p:nvPr/>
        </p:nvSpPr>
        <p:spPr>
          <a:xfrm>
            <a:off x="4251959" y="1536192"/>
            <a:ext cx="3749039" cy="256032"/>
          </a:xfrm>
          <a:prstGeom prst="rect">
            <a:avLst/>
          </a:prstGeom>
          <a:noFill/>
        </p:spPr>
        <p:txBody>
          <a:bodyPr wrap="square">
            <a:spAutoFit/>
          </a:bodyPr>
          <a:lstStyle/>
          <a:p>
            <a:pPr algn="l"/>
            <a:r>
              <a:rPr sz="950" b="1">
                <a:solidFill>
                  <a:srgbClr val="B45B09"/>
                </a:solidFill>
              </a:rPr>
              <a:t>Economic Buyer</a:t>
            </a:r>
          </a:p>
        </p:txBody>
      </p:sp>
      <p:sp>
        <p:nvSpPr>
          <p:cNvPr id="16" name="TextBox 15"/>
          <p:cNvSpPr txBox="1"/>
          <p:nvPr/>
        </p:nvSpPr>
        <p:spPr>
          <a:xfrm>
            <a:off x="4251959" y="1810512"/>
            <a:ext cx="3749039" cy="475488"/>
          </a:xfrm>
          <a:prstGeom prst="rect">
            <a:avLst/>
          </a:prstGeom>
          <a:noFill/>
        </p:spPr>
        <p:txBody>
          <a:bodyPr wrap="square">
            <a:spAutoFit/>
          </a:bodyPr>
          <a:lstStyle/>
          <a:p>
            <a:pPr algn="l"/>
            <a:r>
              <a:rPr sz="900" b="0">
                <a:solidFill>
                  <a:srgbClr val="475569"/>
                </a:solidFill>
              </a:rPr>
              <a:t>Accountable to FIU-IND and RBI inspection · owns the compliance programme</a:t>
            </a:r>
          </a:p>
        </p:txBody>
      </p:sp>
      <p:sp>
        <p:nvSpPr>
          <p:cNvPr id="17" name="Rectangle 16"/>
          <p:cNvSpPr/>
          <p:nvPr/>
        </p:nvSpPr>
        <p:spPr>
          <a:xfrm>
            <a:off x="4251959" y="2322576"/>
            <a:ext cx="3749039" cy="621792"/>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"Have an auditable compliance programme without linear headcount growth."</a:t>
            </a:r>
          </a:p>
        </p:txBody>
      </p:sp>
      <p:sp>
        <p:nvSpPr>
          <p:cNvPr id="18" name="TextBox 17"/>
          <p:cNvSpPr txBox="1"/>
          <p:nvPr/>
        </p:nvSpPr>
        <p:spPr>
          <a:xfrm>
            <a:off x="4251959" y="2999232"/>
            <a:ext cx="3749039" cy="228600"/>
          </a:xfrm>
          <a:prstGeom prst="rect">
            <a:avLst/>
          </a:prstGeom>
          <a:noFill/>
        </p:spPr>
        <p:txBody>
          <a:bodyPr wrap="square">
            <a:spAutoFit/>
          </a:bodyPr>
          <a:lstStyle/>
          <a:p>
            <a:pPr algn="l"/>
            <a:r>
              <a:rPr sz="850" b="1">
                <a:solidFill>
                  <a:srgbClr val="B45B09"/>
                </a:solidFill>
              </a:rPr>
              <a:t>TOP PAINS</a:t>
            </a:r>
          </a:p>
        </p:txBody>
      </p:sp>
      <p:sp>
        <p:nvSpPr>
          <p:cNvPr id="19" name="TextBox 18"/>
          <p:cNvSpPr txBox="1"/>
          <p:nvPr/>
        </p:nvSpPr>
        <p:spPr>
          <a:xfrm>
            <a:off x="4325112" y="3246120"/>
            <a:ext cx="3657600" cy="548640"/>
          </a:xfrm>
          <a:prstGeom prst="rect">
            <a:avLst/>
          </a:prstGeom>
          <a:noFill/>
        </p:spPr>
        <p:txBody>
          <a:bodyPr wrap="square">
            <a:spAutoFit/>
          </a:bodyPr>
          <a:lstStyle/>
          <a:p>
            <a:pPr algn="l"/>
            <a:r>
              <a:rPr sz="950" b="0">
                <a:solidFill>
                  <a:srgbClr val="1E293B"/>
                </a:solidFill>
              </a:rPr>
              <a:t>▶  Decisions scattered across email — not searchable in an inspection</a:t>
            </a:r>
          </a:p>
        </p:txBody>
      </p:sp>
      <p:sp>
        <p:nvSpPr>
          <p:cNvPr id="20" name="TextBox 19"/>
          <p:cNvSpPr txBox="1"/>
          <p:nvPr/>
        </p:nvSpPr>
        <p:spPr>
          <a:xfrm>
            <a:off x="4325112" y="3840480"/>
            <a:ext cx="3657600" cy="548640"/>
          </a:xfrm>
          <a:prstGeom prst="rect">
            <a:avLst/>
          </a:prstGeom>
          <a:noFill/>
        </p:spPr>
        <p:txBody>
          <a:bodyPr wrap="square">
            <a:spAutoFit/>
          </a:bodyPr>
          <a:lstStyle/>
          <a:p>
            <a:pPr algn="l"/>
            <a:r>
              <a:rPr sz="950" b="0">
                <a:solidFill>
                  <a:srgbClr val="1E293B"/>
                </a:solidFill>
              </a:rPr>
              <a:t>▶  Override decisions undocumented — regulatory risk</a:t>
            </a:r>
          </a:p>
        </p:txBody>
      </p:sp>
      <p:sp>
        <p:nvSpPr>
          <p:cNvPr id="21" name="TextBox 20"/>
          <p:cNvSpPr txBox="1"/>
          <p:nvPr/>
        </p:nvSpPr>
        <p:spPr>
          <a:xfrm>
            <a:off x="4325112" y="4434840"/>
            <a:ext cx="3657600" cy="548640"/>
          </a:xfrm>
          <a:prstGeom prst="rect">
            <a:avLst/>
          </a:prstGeom>
          <a:noFill/>
        </p:spPr>
        <p:txBody>
          <a:bodyPr wrap="square">
            <a:spAutoFit/>
          </a:bodyPr>
          <a:lstStyle/>
          <a:p>
            <a:pPr algn="l"/>
            <a:r>
              <a:rPr sz="950" b="0">
                <a:solidFill>
                  <a:srgbClr val="1E293B"/>
                </a:solidFill>
              </a:rPr>
              <a:t>▶  Compliance cost scales with volume, not with risk</a:t>
            </a:r>
          </a:p>
        </p:txBody>
      </p:sp>
      <p:sp>
        <p:nvSpPr>
          <p:cNvPr id="22" name="Rectangle 21"/>
          <p:cNvSpPr/>
          <p:nvPr/>
        </p:nvSpPr>
        <p:spPr>
          <a:xfrm>
            <a:off x="8229600" y="1024128"/>
            <a:ext cx="3749039" cy="47548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200" b="1">
                <a:solidFill>
                  <a:srgbClr val="6D28D9"/>
                </a:solidFill>
              </a:rPr>
              <a:t>AD Bank Compliance Head</a:t>
            </a:r>
          </a:p>
        </p:txBody>
      </p:sp>
      <p:sp>
        <p:nvSpPr>
          <p:cNvPr id="23" name="TextBox 22"/>
          <p:cNvSpPr txBox="1"/>
          <p:nvPr/>
        </p:nvSpPr>
        <p:spPr>
          <a:xfrm>
            <a:off x="8229600" y="1536192"/>
            <a:ext cx="3749039" cy="256032"/>
          </a:xfrm>
          <a:prstGeom prst="rect">
            <a:avLst/>
          </a:prstGeom>
          <a:noFill/>
        </p:spPr>
        <p:txBody>
          <a:bodyPr wrap="square">
            <a:spAutoFit/>
          </a:bodyPr>
          <a:lstStyle/>
          <a:p>
            <a:pPr algn="l"/>
            <a:r>
              <a:rPr sz="950" b="1">
                <a:solidFill>
                  <a:srgbClr val="6D28D9"/>
                </a:solidFill>
              </a:rPr>
              <a:t>Phase 3 Buyer</a:t>
            </a:r>
          </a:p>
        </p:txBody>
      </p:sp>
      <p:sp>
        <p:nvSpPr>
          <p:cNvPr id="24" name="TextBox 23"/>
          <p:cNvSpPr txBox="1"/>
          <p:nvPr/>
        </p:nvSpPr>
        <p:spPr>
          <a:xfrm>
            <a:off x="8229600" y="1810512"/>
            <a:ext cx="3749039" cy="475488"/>
          </a:xfrm>
          <a:prstGeom prst="rect">
            <a:avLst/>
          </a:prstGeom>
          <a:noFill/>
        </p:spPr>
        <p:txBody>
          <a:bodyPr wrap="square">
            <a:spAutoFit/>
          </a:bodyPr>
          <a:lstStyle/>
          <a:p>
            <a:pPr algn="l"/>
            <a:r>
              <a:rPr sz="900" b="0">
                <a:solidFill>
                  <a:srgbClr val="475569"/>
                </a:solidFill>
              </a:rPr>
              <a:t>AD Category-I bank · remittance division · correspondent for fintechs</a:t>
            </a:r>
          </a:p>
        </p:txBody>
      </p:sp>
      <p:sp>
        <p:nvSpPr>
          <p:cNvPr id="25" name="Rectangle 24"/>
          <p:cNvSpPr/>
          <p:nvPr/>
        </p:nvSpPr>
        <p:spPr>
          <a:xfrm>
            <a:off x="8229600" y="2322576"/>
            <a:ext cx="3749039" cy="621792"/>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"Scale remittance compliance without proportional headcount growth."</a:t>
            </a:r>
          </a:p>
        </p:txBody>
      </p:sp>
      <p:sp>
        <p:nvSpPr>
          <p:cNvPr id="26" name="TextBox 25"/>
          <p:cNvSpPr txBox="1"/>
          <p:nvPr/>
        </p:nvSpPr>
        <p:spPr>
          <a:xfrm>
            <a:off x="8229600" y="2999232"/>
            <a:ext cx="3749039" cy="228600"/>
          </a:xfrm>
          <a:prstGeom prst="rect">
            <a:avLst/>
          </a:prstGeom>
          <a:noFill/>
        </p:spPr>
        <p:txBody>
          <a:bodyPr wrap="square">
            <a:spAutoFit/>
          </a:bodyPr>
          <a:lstStyle/>
          <a:p>
            <a:pPr algn="l"/>
            <a:r>
              <a:rPr sz="850" b="1">
                <a:solidFill>
                  <a:srgbClr val="6D28D9"/>
                </a:solidFill>
              </a:rPr>
              <a:t>TOP PAINS</a:t>
            </a:r>
          </a:p>
        </p:txBody>
      </p:sp>
      <p:sp>
        <p:nvSpPr>
          <p:cNvPr id="27" name="TextBox 26"/>
          <p:cNvSpPr txBox="1"/>
          <p:nvPr/>
        </p:nvSpPr>
        <p:spPr>
          <a:xfrm>
            <a:off x="8302752" y="3246120"/>
            <a:ext cx="3657600" cy="548640"/>
          </a:xfrm>
          <a:prstGeom prst="rect">
            <a:avLst/>
          </a:prstGeom>
          <a:noFill/>
        </p:spPr>
        <p:txBody>
          <a:bodyPr wrap="square">
            <a:spAutoFit/>
          </a:bodyPr>
          <a:lstStyle/>
          <a:p>
            <a:pPr algn="l"/>
            <a:r>
              <a:rPr sz="950" b="0">
                <a:solidFill>
                  <a:srgbClr val="1E293B"/>
                </a:solidFill>
              </a:rPr>
              <a:t>▶  Correspondent bank liability for downstream fintech decisions</a:t>
            </a:r>
          </a:p>
        </p:txBody>
      </p:sp>
      <p:sp>
        <p:nvSpPr>
          <p:cNvPr id="28" name="TextBox 27"/>
          <p:cNvSpPr txBox="1"/>
          <p:nvPr/>
        </p:nvSpPr>
        <p:spPr>
          <a:xfrm>
            <a:off x="8302752" y="3840480"/>
            <a:ext cx="3657600" cy="548640"/>
          </a:xfrm>
          <a:prstGeom prst="rect">
            <a:avLst/>
          </a:prstGeom>
          <a:noFill/>
        </p:spPr>
        <p:txBody>
          <a:bodyPr wrap="square">
            <a:spAutoFit/>
          </a:bodyPr>
          <a:lstStyle/>
          <a:p>
            <a:pPr algn="l"/>
            <a:r>
              <a:rPr sz="950" b="0">
                <a:solidFill>
                  <a:srgbClr val="1E293B"/>
                </a:solidFill>
              </a:rPr>
              <a:t>▶  FATF grey-listing forces emergency re-screening backlogs</a:t>
            </a:r>
          </a:p>
        </p:txBody>
      </p:sp>
      <p:sp>
        <p:nvSpPr>
          <p:cNvPr id="29" name="TextBox 28"/>
          <p:cNvSpPr txBox="1"/>
          <p:nvPr/>
        </p:nvSpPr>
        <p:spPr>
          <a:xfrm>
            <a:off x="8302752" y="4434840"/>
            <a:ext cx="3657600" cy="548640"/>
          </a:xfrm>
          <a:prstGeom prst="rect">
            <a:avLst/>
          </a:prstGeom>
          <a:noFill/>
        </p:spPr>
        <p:txBody>
          <a:bodyPr wrap="square">
            <a:spAutoFit/>
          </a:bodyPr>
          <a:lstStyle/>
          <a:p>
            <a:pPr algn="l"/>
            <a:r>
              <a:rPr sz="950" b="0">
                <a:solidFill>
                  <a:srgbClr val="1E293B"/>
                </a:solidFill>
              </a:rPr>
              <a:t>▶  No consolidated view of remittance compliance across divisions</a:t>
            </a:r>
          </a:p>
        </p:txBody>
      </p:sp>
      <p:sp>
        <p:nvSpPr>
          <p:cNvPr id="30" name="Rectangle 29"/>
          <p:cNvSpPr/>
          <p:nvPr/>
        </p:nvSpPr>
        <p:spPr>
          <a:xfrm>
            <a:off x="274320" y="6035040"/>
            <a:ext cx="64008" cy="566928"/>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6035040"/>
            <a:ext cx="11521440" cy="566928"/>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000">
                <a:solidFill>
                  <a:srgbClr val="1E293B"/>
                </a:solidFill>
              </a:rPr>
              <a:t>The buyer is the MLRO (signs the contract). The user is Priya (uses it daily). The architecture must satisfy both: accountable to the regulator and fast enough for the analyst.</a:t>
            </a:r>
          </a:p>
        </p:txBody>
      </p:sp>
      <p:sp>
        <p:nvSpPr>
          <p:cNvPr id="32" name="TextBox 31"/>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02</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Pain Points &amp; Requirements Prioritisation</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What they need — and how we decided what to build first</a:t>
            </a:r>
          </a:p>
        </p:txBody>
      </p:sp>
      <p:graphicFrame>
        <p:nvGraphicFramePr>
          <p:cNvPr id="6" name="Table 5"/>
          <p:cNvGraphicFramePr>
            <a:graphicFrameLocks noGrp="1"/>
          </p:cNvGraphicFramePr>
          <p:nvPr/>
        </p:nvGraphicFramePr>
        <p:xfrm>
          <a:off x="274320" y="1051560"/>
          <a:ext cx="5559552" cy="3246120"/>
        </p:xfrm>
        <a:graphic>
          <a:graphicData uri="http://schemas.openxmlformats.org/drawingml/2006/table">
            <a:tbl>
              <a:tblPr firstRow="1" bandRow="1">
                <a:tableStyleId>{5C22544A-7EE6-4342-B048-85BDC9FD1C3A}</a:tableStyleId>
              </a:tblPr>
              <a:tblGrid>
                <a:gridCol w="2971800"/>
                <a:gridCol w="1261872"/>
                <a:gridCol w="1325880"/>
              </a:tblGrid>
              <a:tr h="405765">
                <a:tc>
                  <a:txBody>
                    <a:bodyPr lIns="73152" rIns="73152"/>
                    <a:lstStyle/>
                    <a:p>
                      <a:pPr algn="l"/>
                      <a:r>
                        <a:rPr sz="950" b="1">
                          <a:solidFill>
                            <a:srgbClr val="FFFFFF"/>
                          </a:solidFill>
                        </a:rPr>
                        <a:t>Pain Point</a:t>
                      </a:r>
                    </a:p>
                  </a:txBody>
                  <a:tcPr>
                    <a:solidFill>
                      <a:srgbClr val="0F2140"/>
                    </a:solidFill>
                  </a:tcPr>
                </a:tc>
                <a:tc>
                  <a:txBody>
                    <a:bodyPr lIns="73152" rIns="73152"/>
                    <a:lstStyle/>
                    <a:p>
                      <a:pPr algn="l"/>
                      <a:r>
                        <a:rPr sz="950" b="1">
                          <a:solidFill>
                            <a:srgbClr val="FFFFFF"/>
                          </a:solidFill>
                        </a:rPr>
                        <a:t>Persona</a:t>
                      </a:r>
                    </a:p>
                  </a:txBody>
                  <a:tcPr>
                    <a:solidFill>
                      <a:srgbClr val="0F2140"/>
                    </a:solidFill>
                  </a:tcPr>
                </a:tc>
                <a:tc>
                  <a:txBody>
                    <a:bodyPr lIns="73152" rIns="73152"/>
                    <a:lstStyle/>
                    <a:p>
                      <a:pPr algn="l"/>
                      <a:r>
                        <a:rPr sz="950" b="1">
                          <a:solidFill>
                            <a:srgbClr val="FFFFFF"/>
                          </a:solidFill>
                        </a:rPr>
                        <a:t>Priority</a:t>
                      </a:r>
                    </a:p>
                  </a:txBody>
                  <a:tcPr>
                    <a:solidFill>
                      <a:srgbClr val="0F2140"/>
                    </a:solidFill>
                  </a:tcPr>
                </a:tc>
              </a:tr>
              <a:tr h="405765">
                <a:tc>
                  <a:txBody>
                    <a:bodyPr lIns="73152" rIns="73152"/>
                    <a:lstStyle/>
                    <a:p>
                      <a:pPr algn="l"/>
                      <a:r>
                        <a:rPr sz="900" b="1">
                          <a:solidFill>
                            <a:srgbClr val="0F2140"/>
                          </a:solidFill>
                        </a:rPr>
                        <a:t>Alert fatigue: 40+ events/day, mostly false positives</a:t>
                      </a:r>
                    </a:p>
                  </a:txBody>
                  <a:tcPr>
                    <a:solidFill>
                      <a:srgbClr val="F0F7FF"/>
                    </a:solidFill>
                  </a:tcPr>
                </a:tc>
                <a:tc>
                  <a:txBody>
                    <a:bodyPr lIns="73152" rIns="73152"/>
                    <a:lstStyle/>
                    <a:p>
                      <a:pPr algn="l"/>
                      <a:r>
                        <a:rPr sz="900" b="0">
                          <a:solidFill>
                            <a:srgbClr val="1E293B"/>
                          </a:solidFill>
                        </a:rPr>
                        <a:t>Analyst</a:t>
                      </a:r>
                    </a:p>
                  </a:txBody>
                  <a:tcPr>
                    <a:solidFill>
                      <a:srgbClr val="F0F7FF"/>
                    </a:solidFill>
                  </a:tcPr>
                </a:tc>
                <a:tc>
                  <a:txBody>
                    <a:bodyPr lIns="73152" rIns="73152"/>
                    <a:lstStyle/>
                    <a:p>
                      <a:pPr algn="l"/>
                      <a:r>
                        <a:rPr sz="900" b="0">
                          <a:solidFill>
                            <a:srgbClr val="1E293B"/>
                          </a:solidFill>
                        </a:rPr>
                        <a:t>Must Have</a:t>
                      </a:r>
                    </a:p>
                  </a:txBody>
                  <a:tcPr>
                    <a:solidFill>
                      <a:srgbClr val="F0F7FF"/>
                    </a:solidFill>
                  </a:tcPr>
                </a:tc>
              </a:tr>
              <a:tr h="405765">
                <a:tc>
                  <a:txBody>
                    <a:bodyPr lIns="73152" rIns="73152"/>
                    <a:lstStyle/>
                    <a:p>
                      <a:pPr algn="l"/>
                      <a:r>
                        <a:rPr sz="900" b="1">
                          <a:solidFill>
                            <a:srgbClr val="0F2140"/>
                          </a:solidFill>
                        </a:rPr>
                        <a:t>Rationale in email threads — not a compliance record</a:t>
                      </a:r>
                    </a:p>
                  </a:txBody>
                  <a:tcPr>
                    <a:solidFill>
                      <a:srgbClr val="FFFFFF"/>
                    </a:solidFill>
                  </a:tcPr>
                </a:tc>
                <a:tc>
                  <a:txBody>
                    <a:bodyPr lIns="73152" rIns="73152"/>
                    <a:lstStyle/>
                    <a:p>
                      <a:pPr algn="l"/>
                      <a:r>
                        <a:rPr sz="900" b="0">
                          <a:solidFill>
                            <a:srgbClr val="1E293B"/>
                          </a:solidFill>
                        </a:rPr>
                        <a:t>Both</a:t>
                      </a:r>
                    </a:p>
                  </a:txBody>
                  <a:tcPr>
                    <a:solidFill>
                      <a:srgbClr val="FFFFFF"/>
                    </a:solidFill>
                  </a:tcPr>
                </a:tc>
                <a:tc>
                  <a:txBody>
                    <a:bodyPr lIns="73152" rIns="73152"/>
                    <a:lstStyle/>
                    <a:p>
                      <a:pPr algn="l"/>
                      <a:r>
                        <a:rPr sz="900" b="0">
                          <a:solidFill>
                            <a:srgbClr val="1E293B"/>
                          </a:solidFill>
                        </a:rPr>
                        <a:t>Must Have</a:t>
                      </a:r>
                    </a:p>
                  </a:txBody>
                  <a:tcPr>
                    <a:solidFill>
                      <a:srgbClr val="FFFFFF"/>
                    </a:solidFill>
                  </a:tcPr>
                </a:tc>
              </a:tr>
              <a:tr h="405765">
                <a:tc>
                  <a:txBody>
                    <a:bodyPr lIns="73152" rIns="73152"/>
                    <a:lstStyle/>
                    <a:p>
                      <a:pPr algn="l"/>
                      <a:r>
                        <a:rPr sz="900" b="1">
                          <a:solidFill>
                            <a:srgbClr val="0F2140"/>
                          </a:solidFill>
                        </a:rPr>
                        <a:t>Five tools, five searches, no consolidated recommendation</a:t>
                      </a:r>
                    </a:p>
                  </a:txBody>
                  <a:tcPr>
                    <a:solidFill>
                      <a:srgbClr val="F0F7FF"/>
                    </a:solidFill>
                  </a:tcPr>
                </a:tc>
                <a:tc>
                  <a:txBody>
                    <a:bodyPr lIns="73152" rIns="73152"/>
                    <a:lstStyle/>
                    <a:p>
                      <a:pPr algn="l"/>
                      <a:r>
                        <a:rPr sz="900" b="0">
                          <a:solidFill>
                            <a:srgbClr val="1E293B"/>
                          </a:solidFill>
                        </a:rPr>
                        <a:t>Analyst</a:t>
                      </a:r>
                    </a:p>
                  </a:txBody>
                  <a:tcPr>
                    <a:solidFill>
                      <a:srgbClr val="F0F7FF"/>
                    </a:solidFill>
                  </a:tcPr>
                </a:tc>
                <a:tc>
                  <a:txBody>
                    <a:bodyPr lIns="73152" rIns="73152"/>
                    <a:lstStyle/>
                    <a:p>
                      <a:pPr algn="l"/>
                      <a:r>
                        <a:rPr sz="900" b="0">
                          <a:solidFill>
                            <a:srgbClr val="1E293B"/>
                          </a:solidFill>
                        </a:rPr>
                        <a:t>Must Have</a:t>
                      </a:r>
                    </a:p>
                  </a:txBody>
                  <a:tcPr>
                    <a:solidFill>
                      <a:srgbClr val="F0F7FF"/>
                    </a:solidFill>
                  </a:tcPr>
                </a:tc>
              </a:tr>
              <a:tr h="405765">
                <a:tc>
                  <a:txBody>
                    <a:bodyPr lIns="73152" rIns="73152"/>
                    <a:lstStyle/>
                    <a:p>
                      <a:pPr algn="l"/>
                      <a:r>
                        <a:rPr sz="900" b="1">
                          <a:solidFill>
                            <a:srgbClr val="0F2140"/>
                          </a:solidFill>
                        </a:rPr>
                        <a:t>Override decisions undocumented — regulatory risk</a:t>
                      </a:r>
                    </a:p>
                  </a:txBody>
                  <a:tcPr>
                    <a:solidFill>
                      <a:srgbClr val="FFFFFF"/>
                    </a:solidFill>
                  </a:tcPr>
                </a:tc>
                <a:tc>
                  <a:txBody>
                    <a:bodyPr lIns="73152" rIns="73152"/>
                    <a:lstStyle/>
                    <a:p>
                      <a:pPr algn="l"/>
                      <a:r>
                        <a:rPr sz="900" b="0">
                          <a:solidFill>
                            <a:srgbClr val="1E293B"/>
                          </a:solidFill>
                        </a:rPr>
                        <a:t>MLRO</a:t>
                      </a:r>
                    </a:p>
                  </a:txBody>
                  <a:tcPr>
                    <a:solidFill>
                      <a:srgbClr val="FFFFFF"/>
                    </a:solidFill>
                  </a:tcPr>
                </a:tc>
                <a:tc>
                  <a:txBody>
                    <a:bodyPr lIns="73152" rIns="73152"/>
                    <a:lstStyle/>
                    <a:p>
                      <a:pPr algn="l"/>
                      <a:r>
                        <a:rPr sz="900" b="0">
                          <a:solidFill>
                            <a:srgbClr val="1E293B"/>
                          </a:solidFill>
                        </a:rPr>
                        <a:t>Must Have</a:t>
                      </a:r>
                    </a:p>
                  </a:txBody>
                  <a:tcPr>
                    <a:solidFill>
                      <a:srgbClr val="FFFFFF"/>
                    </a:solidFill>
                  </a:tcPr>
                </a:tc>
              </a:tr>
              <a:tr h="405765">
                <a:tc>
                  <a:txBody>
                    <a:bodyPr lIns="73152" rIns="73152"/>
                    <a:lstStyle/>
                    <a:p>
                      <a:pPr algn="l"/>
                      <a:r>
                        <a:rPr sz="900" b="1">
                          <a:solidFill>
                            <a:srgbClr val="0F2140"/>
                          </a:solidFill>
                        </a:rPr>
                        <a:t>Re-screening periodic, not event-triggered</a:t>
                      </a:r>
                    </a:p>
                  </a:txBody>
                  <a:tcPr>
                    <a:solidFill>
                      <a:srgbClr val="F0F7FF"/>
                    </a:solidFill>
                  </a:tcPr>
                </a:tc>
                <a:tc>
                  <a:txBody>
                    <a:bodyPr lIns="73152" rIns="73152"/>
                    <a:lstStyle/>
                    <a:p>
                      <a:pPr algn="l"/>
                      <a:r>
                        <a:rPr sz="900" b="0">
                          <a:solidFill>
                            <a:srgbClr val="1E293B"/>
                          </a:solidFill>
                        </a:rPr>
                        <a:t>MLRO</a:t>
                      </a:r>
                    </a:p>
                  </a:txBody>
                  <a:tcPr>
                    <a:solidFill>
                      <a:srgbClr val="F0F7FF"/>
                    </a:solidFill>
                  </a:tcPr>
                </a:tc>
                <a:tc>
                  <a:txBody>
                    <a:bodyPr lIns="73152" rIns="73152"/>
                    <a:lstStyle/>
                    <a:p>
                      <a:pPr algn="l"/>
                      <a:r>
                        <a:rPr sz="900" b="0">
                          <a:solidFill>
                            <a:srgbClr val="1E293B"/>
                          </a:solidFill>
                        </a:rPr>
                        <a:t>Should Have</a:t>
                      </a:r>
                    </a:p>
                  </a:txBody>
                  <a:tcPr>
                    <a:solidFill>
                      <a:srgbClr val="F0F7FF"/>
                    </a:solidFill>
                  </a:tcPr>
                </a:tc>
              </a:tr>
              <a:tr h="405765">
                <a:tc>
                  <a:txBody>
                    <a:bodyPr lIns="73152" rIns="73152"/>
                    <a:lstStyle/>
                    <a:p>
                      <a:pPr algn="l"/>
                      <a:r>
                        <a:rPr sz="900" b="1">
                          <a:solidFill>
                            <a:srgbClr val="0F2140"/>
                          </a:solidFill>
                        </a:rPr>
                        <a:t>Compliance cost scales linearly with alert volume</a:t>
                      </a:r>
                    </a:p>
                  </a:txBody>
                  <a:tcPr>
                    <a:solidFill>
                      <a:srgbClr val="FFFFFF"/>
                    </a:solidFill>
                  </a:tcPr>
                </a:tc>
                <a:tc>
                  <a:txBody>
                    <a:bodyPr lIns="73152" rIns="73152"/>
                    <a:lstStyle/>
                    <a:p>
                      <a:pPr algn="l"/>
                      <a:r>
                        <a:rPr sz="900" b="0">
                          <a:solidFill>
                            <a:srgbClr val="1E293B"/>
                          </a:solidFill>
                        </a:rPr>
                        <a:t>MLRO / CFO</a:t>
                      </a:r>
                    </a:p>
                  </a:txBody>
                  <a:tcPr>
                    <a:solidFill>
                      <a:srgbClr val="FFFFFF"/>
                    </a:solidFill>
                  </a:tcPr>
                </a:tc>
                <a:tc>
                  <a:txBody>
                    <a:bodyPr lIns="73152" rIns="73152"/>
                    <a:lstStyle/>
                    <a:p>
                      <a:pPr algn="l"/>
                      <a:r>
                        <a:rPr sz="900" b="0">
                          <a:solidFill>
                            <a:srgbClr val="1E293B"/>
                          </a:solidFill>
                        </a:rPr>
                        <a:t>Should Have</a:t>
                      </a:r>
                    </a:p>
                  </a:txBody>
                  <a:tcPr>
                    <a:solidFill>
                      <a:srgbClr val="FFFFFF"/>
                    </a:solidFill>
                  </a:tcPr>
                </a:tc>
              </a:tr>
              <a:tr h="405765">
                <a:tc>
                  <a:txBody>
                    <a:bodyPr lIns="73152" rIns="73152"/>
                    <a:lstStyle/>
                    <a:p>
                      <a:pPr algn="l"/>
                      <a:r>
                        <a:rPr sz="900" b="1">
                          <a:solidFill>
                            <a:srgbClr val="0F2140"/>
                          </a:solidFill>
                        </a:rPr>
                        <a:t>FIU-IND inspection: 6-month trail not searchable</a:t>
                      </a:r>
                    </a:p>
                  </a:txBody>
                  <a:tcPr>
                    <a:solidFill>
                      <a:srgbClr val="F0F7FF"/>
                    </a:solidFill>
                  </a:tcPr>
                </a:tc>
                <a:tc>
                  <a:txBody>
                    <a:bodyPr lIns="73152" rIns="73152"/>
                    <a:lstStyle/>
                    <a:p>
                      <a:pPr algn="l"/>
                      <a:r>
                        <a:rPr sz="900" b="0">
                          <a:solidFill>
                            <a:srgbClr val="1E293B"/>
                          </a:solidFill>
                        </a:rPr>
                        <a:t>MLRO</a:t>
                      </a:r>
                    </a:p>
                  </a:txBody>
                  <a:tcPr>
                    <a:solidFill>
                      <a:srgbClr val="F0F7FF"/>
                    </a:solidFill>
                  </a:tcPr>
                </a:tc>
                <a:tc>
                  <a:txBody>
                    <a:bodyPr lIns="73152" rIns="73152"/>
                    <a:lstStyle/>
                    <a:p>
                      <a:pPr algn="l"/>
                      <a:r>
                        <a:rPr sz="900" b="0">
                          <a:solidFill>
                            <a:srgbClr val="1E293B"/>
                          </a:solidFill>
                        </a:rPr>
                        <a:t>Must Have</a:t>
                      </a:r>
                    </a:p>
                  </a:txBody>
                  <a:tcPr>
                    <a:solidFill>
                      <a:srgbClr val="F0F7FF"/>
                    </a:solidFill>
                  </a:tcPr>
                </a:tc>
              </a:tr>
            </a:tbl>
          </a:graphicData>
        </a:graphic>
      </p:graphicFrame>
      <p:graphicFrame>
        <p:nvGraphicFramePr>
          <p:cNvPr id="7" name="Table 6"/>
          <p:cNvGraphicFramePr>
            <a:graphicFrameLocks noGrp="1"/>
          </p:cNvGraphicFramePr>
          <p:nvPr/>
        </p:nvGraphicFramePr>
        <p:xfrm>
          <a:off x="6126480" y="1051560"/>
          <a:ext cx="5760720" cy="3246120"/>
        </p:xfrm>
        <a:graphic>
          <a:graphicData uri="http://schemas.openxmlformats.org/drawingml/2006/table">
            <a:tbl>
              <a:tblPr firstRow="1" bandRow="1">
                <a:tableStyleId>{5C22544A-7EE6-4342-B048-85BDC9FD1C3A}</a:tableStyleId>
              </a:tblPr>
              <a:tblGrid>
                <a:gridCol w="3200400"/>
                <a:gridCol w="1234440"/>
                <a:gridCol w="1325880"/>
              </a:tblGrid>
              <a:tr h="360680">
                <a:tc>
                  <a:txBody>
                    <a:bodyPr lIns="73152" rIns="73152"/>
                    <a:lstStyle/>
                    <a:p>
                      <a:pPr algn="l"/>
                      <a:r>
                        <a:rPr sz="950" b="1">
                          <a:solidFill>
                            <a:srgbClr val="FFFFFF"/>
                          </a:solidFill>
                        </a:rPr>
                        <a:t>Requirement</a:t>
                      </a:r>
                    </a:p>
                  </a:txBody>
                  <a:tcPr>
                    <a:solidFill>
                      <a:srgbClr val="0F2140"/>
                    </a:solidFill>
                  </a:tcPr>
                </a:tc>
                <a:tc>
                  <a:txBody>
                    <a:bodyPr lIns="73152" rIns="73152"/>
                    <a:lstStyle/>
                    <a:p>
                      <a:pPr algn="l"/>
                      <a:r>
                        <a:rPr sz="950" b="1">
                          <a:solidFill>
                            <a:srgbClr val="FFFFFF"/>
                          </a:solidFill>
                        </a:rPr>
                        <a:t>MoSCoW</a:t>
                      </a:r>
                    </a:p>
                  </a:txBody>
                  <a:tcPr>
                    <a:solidFill>
                      <a:srgbClr val="0F2140"/>
                    </a:solidFill>
                  </a:tcPr>
                </a:tc>
                <a:tc>
                  <a:txBody>
                    <a:bodyPr lIns="73152" rIns="73152"/>
                    <a:lstStyle/>
                    <a:p>
                      <a:pPr algn="l"/>
                      <a:r>
                        <a:rPr sz="950" b="1">
                          <a:solidFill>
                            <a:srgbClr val="FFFFFF"/>
                          </a:solidFill>
                        </a:rPr>
                        <a:t>Kano</a:t>
                      </a:r>
                    </a:p>
                  </a:txBody>
                  <a:tcPr>
                    <a:solidFill>
                      <a:srgbClr val="0F2140"/>
                    </a:solidFill>
                  </a:tcPr>
                </a:tc>
              </a:tr>
              <a:tr h="360680">
                <a:tc>
                  <a:txBody>
                    <a:bodyPr lIns="73152" rIns="73152"/>
                    <a:lstStyle/>
                    <a:p>
                      <a:pPr algn="l"/>
                      <a:r>
                        <a:rPr sz="900" b="1">
                          <a:solidFill>
                            <a:srgbClr val="0F2140"/>
                          </a:solidFill>
                        </a:rPr>
                        <a:t>Sanctions + Customer Risk agents (required pair)</a:t>
                      </a:r>
                    </a:p>
                  </a:txBody>
                  <a:tcPr>
                    <a:solidFill>
                      <a:srgbClr val="F0F7FF"/>
                    </a:solidFill>
                  </a:tcPr>
                </a:tc>
                <a:tc>
                  <a:txBody>
                    <a:bodyPr lIns="73152" rIns="73152"/>
                    <a:lstStyle/>
                    <a:p>
                      <a:pPr algn="l"/>
                      <a:r>
                        <a:rPr sz="900" b="0">
                          <a:solidFill>
                            <a:srgbClr val="1E293B"/>
                          </a:solidFill>
                        </a:rPr>
                        <a:t>Must Have</a:t>
                      </a:r>
                    </a:p>
                  </a:txBody>
                  <a:tcPr>
                    <a:solidFill>
                      <a:srgbClr val="F0F7FF"/>
                    </a:solidFill>
                  </a:tcPr>
                </a:tc>
                <a:tc>
                  <a:txBody>
                    <a:bodyPr lIns="73152" rIns="73152"/>
                    <a:lstStyle/>
                    <a:p>
                      <a:pPr algn="l"/>
                      <a:r>
                        <a:rPr sz="900" b="0">
                          <a:solidFill>
                            <a:srgbClr val="1E293B"/>
                          </a:solidFill>
                        </a:rPr>
                        <a:t>Must-Be</a:t>
                      </a:r>
                    </a:p>
                  </a:txBody>
                  <a:tcPr>
                    <a:solidFill>
                      <a:srgbClr val="F0F7FF"/>
                    </a:solidFill>
                  </a:tcPr>
                </a:tc>
              </a:tr>
              <a:tr h="360680">
                <a:tc>
                  <a:txBody>
                    <a:bodyPr lIns="73152" rIns="73152"/>
                    <a:lstStyle/>
                    <a:p>
                      <a:pPr algn="l"/>
                      <a:r>
                        <a:rPr sz="900" b="1">
                          <a:solidFill>
                            <a:srgbClr val="0F2140"/>
                          </a:solidFill>
                        </a:rPr>
                        <a:t>Level B: Sanctions FAIL always forces ESCALATE</a:t>
                      </a:r>
                    </a:p>
                  </a:txBody>
                  <a:tcPr>
                    <a:solidFill>
                      <a:srgbClr val="FFFFFF"/>
                    </a:solidFill>
                  </a:tcPr>
                </a:tc>
                <a:tc>
                  <a:txBody>
                    <a:bodyPr lIns="73152" rIns="73152"/>
                    <a:lstStyle/>
                    <a:p>
                      <a:pPr algn="l"/>
                      <a:r>
                        <a:rPr sz="900" b="0">
                          <a:solidFill>
                            <a:srgbClr val="1E293B"/>
                          </a:solidFill>
                        </a:rPr>
                        <a:t>Must Have</a:t>
                      </a:r>
                    </a:p>
                  </a:txBody>
                  <a:tcPr>
                    <a:solidFill>
                      <a:srgbClr val="FFFFFF"/>
                    </a:solidFill>
                  </a:tcPr>
                </a:tc>
                <a:tc>
                  <a:txBody>
                    <a:bodyPr lIns="73152" rIns="73152"/>
                    <a:lstStyle/>
                    <a:p>
                      <a:pPr algn="l"/>
                      <a:r>
                        <a:rPr sz="900" b="0">
                          <a:solidFill>
                            <a:srgbClr val="1E293B"/>
                          </a:solidFill>
                        </a:rPr>
                        <a:t>Must-Be</a:t>
                      </a:r>
                    </a:p>
                  </a:txBody>
                  <a:tcPr>
                    <a:solidFill>
                      <a:srgbClr val="FFFFFF"/>
                    </a:solidFill>
                  </a:tcPr>
                </a:tc>
              </a:tr>
              <a:tr h="360680">
                <a:tc>
                  <a:txBody>
                    <a:bodyPr lIns="73152" rIns="73152"/>
                    <a:lstStyle/>
                    <a:p>
                      <a:pPr algn="l"/>
                      <a:r>
                        <a:rPr sz="900" b="1">
                          <a:solidFill>
                            <a:srgbClr val="0F2140"/>
                          </a:solidFill>
                        </a:rPr>
                        <a:t>Human-in-the-loop; mandatory rationale on override</a:t>
                      </a:r>
                    </a:p>
                  </a:txBody>
                  <a:tcPr>
                    <a:solidFill>
                      <a:srgbClr val="F0F7FF"/>
                    </a:solidFill>
                  </a:tcPr>
                </a:tc>
                <a:tc>
                  <a:txBody>
                    <a:bodyPr lIns="73152" rIns="73152"/>
                    <a:lstStyle/>
                    <a:p>
                      <a:pPr algn="l"/>
                      <a:r>
                        <a:rPr sz="900" b="0">
                          <a:solidFill>
                            <a:srgbClr val="1E293B"/>
                          </a:solidFill>
                        </a:rPr>
                        <a:t>Must Have</a:t>
                      </a:r>
                    </a:p>
                  </a:txBody>
                  <a:tcPr>
                    <a:solidFill>
                      <a:srgbClr val="F0F7FF"/>
                    </a:solidFill>
                  </a:tcPr>
                </a:tc>
                <a:tc>
                  <a:txBody>
                    <a:bodyPr lIns="73152" rIns="73152"/>
                    <a:lstStyle/>
                    <a:p>
                      <a:pPr algn="l"/>
                      <a:r>
                        <a:rPr sz="900" b="0">
                          <a:solidFill>
                            <a:srgbClr val="1E293B"/>
                          </a:solidFill>
                        </a:rPr>
                        <a:t>Must-Be</a:t>
                      </a:r>
                    </a:p>
                  </a:txBody>
                  <a:tcPr>
                    <a:solidFill>
                      <a:srgbClr val="F0F7FF"/>
                    </a:solidFill>
                  </a:tcPr>
                </a:tc>
              </a:tr>
              <a:tr h="360680">
                <a:tc>
                  <a:txBody>
                    <a:bodyPr lIns="73152" rIns="73152"/>
                    <a:lstStyle/>
                    <a:p>
                      <a:pPr algn="l"/>
                      <a:r>
                        <a:rPr sz="900" b="1">
                          <a:solidFill>
                            <a:srgbClr val="0F2140"/>
                          </a:solidFill>
                        </a:rPr>
                        <a:t>Append-only audit trail for every decision</a:t>
                      </a:r>
                    </a:p>
                  </a:txBody>
                  <a:tcPr>
                    <a:solidFill>
                      <a:srgbClr val="FFFFFF"/>
                    </a:solidFill>
                  </a:tcPr>
                </a:tc>
                <a:tc>
                  <a:txBody>
                    <a:bodyPr lIns="73152" rIns="73152"/>
                    <a:lstStyle/>
                    <a:p>
                      <a:pPr algn="l"/>
                      <a:r>
                        <a:rPr sz="900" b="0">
                          <a:solidFill>
                            <a:srgbClr val="1E293B"/>
                          </a:solidFill>
                        </a:rPr>
                        <a:t>Must Have</a:t>
                      </a:r>
                    </a:p>
                  </a:txBody>
                  <a:tcPr>
                    <a:solidFill>
                      <a:srgbClr val="FFFFFF"/>
                    </a:solidFill>
                  </a:tcPr>
                </a:tc>
                <a:tc>
                  <a:txBody>
                    <a:bodyPr lIns="73152" rIns="73152"/>
                    <a:lstStyle/>
                    <a:p>
                      <a:pPr algn="l"/>
                      <a:r>
                        <a:rPr sz="900" b="0">
                          <a:solidFill>
                            <a:srgbClr val="1E293B"/>
                          </a:solidFill>
                        </a:rPr>
                        <a:t>Must-Be</a:t>
                      </a:r>
                    </a:p>
                  </a:txBody>
                  <a:tcPr>
                    <a:solidFill>
                      <a:srgbClr val="FFFFFF"/>
                    </a:solidFill>
                  </a:tcPr>
                </a:tc>
              </a:tr>
              <a:tr h="360680">
                <a:tc>
                  <a:txBody>
                    <a:bodyPr lIns="73152" rIns="73152"/>
                    <a:lstStyle/>
                    <a:p>
                      <a:pPr algn="l"/>
                      <a:r>
                        <a:rPr sz="900" b="1">
                          <a:solidFill>
                            <a:srgbClr val="0F2140"/>
                          </a:solidFill>
                        </a:rPr>
                        <a:t>Trade Document agent (invoice validation)</a:t>
                      </a:r>
                    </a:p>
                  </a:txBody>
                  <a:tcPr>
                    <a:solidFill>
                      <a:srgbClr val="F0F7FF"/>
                    </a:solidFill>
                  </a:tcPr>
                </a:tc>
                <a:tc>
                  <a:txBody>
                    <a:bodyPr lIns="73152" rIns="73152"/>
                    <a:lstStyle/>
                    <a:p>
                      <a:pPr algn="l"/>
                      <a:r>
                        <a:rPr sz="900" b="0">
                          <a:solidFill>
                            <a:srgbClr val="1E293B"/>
                          </a:solidFill>
                        </a:rPr>
                        <a:t>Should Have</a:t>
                      </a:r>
                    </a:p>
                  </a:txBody>
                  <a:tcPr>
                    <a:solidFill>
                      <a:srgbClr val="F0F7FF"/>
                    </a:solidFill>
                  </a:tcPr>
                </a:tc>
                <a:tc>
                  <a:txBody>
                    <a:bodyPr lIns="73152" rIns="73152"/>
                    <a:lstStyle/>
                    <a:p>
                      <a:pPr algn="l"/>
                      <a:r>
                        <a:rPr sz="900" b="0">
                          <a:solidFill>
                            <a:srgbClr val="1E293B"/>
                          </a:solidFill>
                        </a:rPr>
                        <a:t>Performance</a:t>
                      </a:r>
                    </a:p>
                  </a:txBody>
                  <a:tcPr>
                    <a:solidFill>
                      <a:srgbClr val="F0F7FF"/>
                    </a:solidFill>
                  </a:tcPr>
                </a:tc>
              </a:tr>
              <a:tr h="360680">
                <a:tc>
                  <a:txBody>
                    <a:bodyPr lIns="73152" rIns="73152"/>
                    <a:lstStyle/>
                    <a:p>
                      <a:pPr algn="l"/>
                      <a:r>
                        <a:rPr sz="900" b="1">
                          <a:solidFill>
                            <a:srgbClr val="0F2140"/>
                          </a:solidFill>
                        </a:rPr>
                        <a:t>Transaction Monitoring agent (amount + corridor flags)</a:t>
                      </a:r>
                    </a:p>
                  </a:txBody>
                  <a:tcPr>
                    <a:solidFill>
                      <a:srgbClr val="FFFFFF"/>
                    </a:solidFill>
                  </a:tcPr>
                </a:tc>
                <a:tc>
                  <a:txBody>
                    <a:bodyPr lIns="73152" rIns="73152"/>
                    <a:lstStyle/>
                    <a:p>
                      <a:pPr algn="l"/>
                      <a:r>
                        <a:rPr sz="900" b="0">
                          <a:solidFill>
                            <a:srgbClr val="1E293B"/>
                          </a:solidFill>
                        </a:rPr>
                        <a:t>Should Have</a:t>
                      </a:r>
                    </a:p>
                  </a:txBody>
                  <a:tcPr>
                    <a:solidFill>
                      <a:srgbClr val="FFFFFF"/>
                    </a:solidFill>
                  </a:tcPr>
                </a:tc>
                <a:tc>
                  <a:txBody>
                    <a:bodyPr lIns="73152" rIns="73152"/>
                    <a:lstStyle/>
                    <a:p>
                      <a:pPr algn="l"/>
                      <a:r>
                        <a:rPr sz="900" b="0">
                          <a:solidFill>
                            <a:srgbClr val="1E293B"/>
                          </a:solidFill>
                        </a:rPr>
                        <a:t>Performance</a:t>
                      </a:r>
                    </a:p>
                  </a:txBody>
                  <a:tcPr>
                    <a:solidFill>
                      <a:srgbClr val="FFFFFF"/>
                    </a:solidFill>
                  </a:tcPr>
                </a:tc>
              </a:tr>
              <a:tr h="360680">
                <a:tc>
                  <a:txBody>
                    <a:bodyPr lIns="73152" rIns="73152"/>
                    <a:lstStyle/>
                    <a:p>
                      <a:pPr algn="l"/>
                      <a:r>
                        <a:rPr sz="900" b="1">
                          <a:solidFill>
                            <a:srgbClr val="0F2140"/>
                          </a:solidFill>
                        </a:rPr>
                        <a:t>AI rationale drafting (Claude API, offline fallback)</a:t>
                      </a:r>
                    </a:p>
                  </a:txBody>
                  <a:tcPr>
                    <a:solidFill>
                      <a:srgbClr val="F0F7FF"/>
                    </a:solidFill>
                  </a:tcPr>
                </a:tc>
                <a:tc>
                  <a:txBody>
                    <a:bodyPr lIns="73152" rIns="73152"/>
                    <a:lstStyle/>
                    <a:p>
                      <a:pPr algn="l"/>
                      <a:r>
                        <a:rPr sz="900" b="0">
                          <a:solidFill>
                            <a:srgbClr val="1E293B"/>
                          </a:solidFill>
                        </a:rPr>
                        <a:t>Should Have</a:t>
                      </a:r>
                    </a:p>
                  </a:txBody>
                  <a:tcPr>
                    <a:solidFill>
                      <a:srgbClr val="F0F7FF"/>
                    </a:solidFill>
                  </a:tcPr>
                </a:tc>
                <a:tc>
                  <a:txBody>
                    <a:bodyPr lIns="73152" rIns="73152"/>
                    <a:lstStyle/>
                    <a:p>
                      <a:pPr algn="l"/>
                      <a:r>
                        <a:rPr sz="900" b="0">
                          <a:solidFill>
                            <a:srgbClr val="1E293B"/>
                          </a:solidFill>
                        </a:rPr>
                        <a:t>Attractive</a:t>
                      </a:r>
                    </a:p>
                  </a:txBody>
                  <a:tcPr>
                    <a:solidFill>
                      <a:srgbClr val="F0F7FF"/>
                    </a:solidFill>
                  </a:tcPr>
                </a:tc>
              </a:tr>
              <a:tr h="360680">
                <a:tc>
                  <a:txBody>
                    <a:bodyPr lIns="73152" rIns="73152"/>
                    <a:lstStyle/>
                    <a:p>
                      <a:pPr algn="l"/>
                      <a:r>
                        <a:rPr sz="900" b="1">
                          <a:solidFill>
                            <a:srgbClr val="0F2140"/>
                          </a:solidFill>
                        </a:rPr>
                        <a:t>Regulatory Intelligence agent (advisory, outside scoring)</a:t>
                      </a:r>
                    </a:p>
                  </a:txBody>
                  <a:tcPr>
                    <a:solidFill>
                      <a:srgbClr val="FFFFFF"/>
                    </a:solidFill>
                  </a:tcPr>
                </a:tc>
                <a:tc>
                  <a:txBody>
                    <a:bodyPr lIns="73152" rIns="73152"/>
                    <a:lstStyle/>
                    <a:p>
                      <a:pPr algn="l"/>
                      <a:r>
                        <a:rPr sz="900" b="0">
                          <a:solidFill>
                            <a:srgbClr val="1E293B"/>
                          </a:solidFill>
                        </a:rPr>
                        <a:t>Could Have</a:t>
                      </a:r>
                    </a:p>
                  </a:txBody>
                  <a:tcPr>
                    <a:solidFill>
                      <a:srgbClr val="FFFFFF"/>
                    </a:solidFill>
                  </a:tcPr>
                </a:tc>
                <a:tc>
                  <a:txBody>
                    <a:bodyPr lIns="73152" rIns="73152"/>
                    <a:lstStyle/>
                    <a:p>
                      <a:pPr algn="l"/>
                      <a:r>
                        <a:rPr sz="900" b="0">
                          <a:solidFill>
                            <a:srgbClr val="1E293B"/>
                          </a:solidFill>
                        </a:rPr>
                        <a:t>Attractive</a:t>
                      </a:r>
                    </a:p>
                  </a:txBody>
                  <a:tcPr>
                    <a:solidFill>
                      <a:srgbClr val="FFFFFF"/>
                    </a:solidFill>
                  </a:tcPr>
                </a:tc>
              </a:tr>
            </a:tbl>
          </a:graphicData>
        </a:graphic>
      </p:graphicFrame>
      <p:sp>
        <p:nvSpPr>
          <p:cNvPr id="8" name="Rectangle 7"/>
          <p:cNvSpPr/>
          <p:nvPr/>
        </p:nvSpPr>
        <p:spPr>
          <a:xfrm>
            <a:off x="274320" y="4462272"/>
            <a:ext cx="64008" cy="621792"/>
          </a:xfrm>
          <a:prstGeom prst="rect">
            <a:avLst/>
          </a:prstGeom>
          <a:solidFill>
            <a:srgbClr val="B45B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4462272"/>
            <a:ext cx="11521440" cy="621792"/>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950">
                <a:solidFill>
                  <a:srgbClr val="1E293B"/>
                </a:solidFill>
              </a:rPr>
              <a:t>Key finding: the Regulatory Intelligence agent could not name a pain it retired that the other four agents did not already cover. It was moved from Must Have to Could Have and excluded from the scoring pipeline.</a:t>
            </a:r>
          </a:p>
        </p:txBody>
      </p:sp>
      <p:sp>
        <p:nvSpPr>
          <p:cNvPr id="10" name="TextBox 9"/>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03</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Value Proposition</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Evidence-First Compliance Workbench</a:t>
            </a:r>
          </a:p>
        </p:txBody>
      </p:sp>
      <p:sp>
        <p:nvSpPr>
          <p:cNvPr id="6" name="Rectangle 5"/>
          <p:cNvSpPr/>
          <p:nvPr/>
        </p:nvSpPr>
        <p:spPr>
          <a:xfrm>
            <a:off x="274320" y="1024128"/>
            <a:ext cx="11612880" cy="960120"/>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050" b="0">
                <a:solidFill>
                  <a:srgbClr val="1E293B"/>
                </a:solidFill>
              </a:rPr>
              <a:t>For compliance teams of 1–5 analysts at Indian cross-border payment fintechs who need to screen, score, document and audit every counterparty decision — ScreenDesk is the Evidence-First Compliance Workbench that combines deterministic AI orchestration, transliteration-aware watchlist matching, and an append-only audit trail so every decision is defensible in one place, in under four minutes.</a:t>
            </a:r>
          </a:p>
        </p:txBody>
      </p:sp>
      <p:sp>
        <p:nvSpPr>
          <p:cNvPr id="7" name="Rectangle 6"/>
          <p:cNvSpPr/>
          <p:nvPr/>
        </p:nvSpPr>
        <p:spPr>
          <a:xfrm>
            <a:off x="274320" y="1024128"/>
            <a:ext cx="64008" cy="960120"/>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2176272"/>
            <a:ext cx="502920" cy="1993392"/>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800" b="1">
                <a:solidFill>
                  <a:srgbClr val="00A890"/>
                </a:solidFill>
              </a:rPr>
              <a:t>1</a:t>
            </a:r>
          </a:p>
        </p:txBody>
      </p:sp>
      <p:sp>
        <p:nvSpPr>
          <p:cNvPr id="9" name="Rectangle 8"/>
          <p:cNvSpPr/>
          <p:nvPr/>
        </p:nvSpPr>
        <p:spPr>
          <a:xfrm>
            <a:off x="795527" y="2176272"/>
            <a:ext cx="2359152" cy="19933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r>
              <a:rPr sz="1050" b="1">
                <a:solidFill>
                  <a:srgbClr val="0F2140"/>
                </a:solidFill>
              </a:rPr>
              <a:t>Evidence-First, Not Score-First</a:t>
            </a:r>
          </a:p>
          <a:p>
            <a:pPr>
              <a:spcBef>
                <a:spcPts val="300"/>
              </a:spcBef>
            </a:pPr>
            <a:r>
              <a:rPr sz="900">
                <a:solidFill>
                  <a:srgbClr val="1E293B"/>
                </a:solidFill>
              </a:rPr>
              <a:t>Every match surfaces a visible evidence card: matched name, list source, similarity score, transliteration path, prior dispositions. The analyst sees WHY, not just WHAT.</a:t>
            </a:r>
          </a:p>
        </p:txBody>
      </p:sp>
      <p:sp>
        <p:nvSpPr>
          <p:cNvPr id="10" name="Rectangle 9"/>
          <p:cNvSpPr/>
          <p:nvPr/>
        </p:nvSpPr>
        <p:spPr>
          <a:xfrm>
            <a:off x="3255263" y="2176272"/>
            <a:ext cx="502920" cy="1993392"/>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800" b="1">
                <a:solidFill>
                  <a:srgbClr val="B45B09"/>
                </a:solidFill>
              </a:rPr>
              <a:t>2</a:t>
            </a:r>
          </a:p>
        </p:txBody>
      </p:sp>
      <p:sp>
        <p:nvSpPr>
          <p:cNvPr id="11" name="Rectangle 10"/>
          <p:cNvSpPr/>
          <p:nvPr/>
        </p:nvSpPr>
        <p:spPr>
          <a:xfrm>
            <a:off x="3776472" y="2176272"/>
            <a:ext cx="2359152" cy="19933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r>
              <a:rPr sz="1050" b="1">
                <a:solidFill>
                  <a:srgbClr val="0F2140"/>
                </a:solidFill>
              </a:rPr>
              <a:t>Deterministic Scoring — No Black Box</a:t>
            </a:r>
          </a:p>
          <a:p>
            <a:pPr>
              <a:spcBef>
                <a:spcPts val="300"/>
              </a:spcBef>
            </a:pPr>
            <a:r>
              <a:rPr sz="900">
                <a:solidFill>
                  <a:srgbClr val="1E293B"/>
                </a:solidFill>
              </a:rPr>
              <a:t>Risk score = weighted average of specialist agent outputs + named hard-stop rules. LLM drafts rationale prose only. Every number is traceable to a named weight, rule, or threshold.</a:t>
            </a:r>
          </a:p>
        </p:txBody>
      </p:sp>
      <p:sp>
        <p:nvSpPr>
          <p:cNvPr id="12" name="Rectangle 11"/>
          <p:cNvSpPr/>
          <p:nvPr/>
        </p:nvSpPr>
        <p:spPr>
          <a:xfrm>
            <a:off x="6236207" y="2176272"/>
            <a:ext cx="502920" cy="1993392"/>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800" b="1">
                <a:solidFill>
                  <a:srgbClr val="058C69"/>
                </a:solidFill>
              </a:rPr>
              <a:t>3</a:t>
            </a:r>
          </a:p>
        </p:txBody>
      </p:sp>
      <p:sp>
        <p:nvSpPr>
          <p:cNvPr id="13" name="Rectangle 12"/>
          <p:cNvSpPr/>
          <p:nvPr/>
        </p:nvSpPr>
        <p:spPr>
          <a:xfrm>
            <a:off x="6757416" y="2176272"/>
            <a:ext cx="2359152" cy="19933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r>
              <a:rPr sz="1050" b="1">
                <a:solidFill>
                  <a:srgbClr val="0F2140"/>
                </a:solidFill>
              </a:rPr>
              <a:t>India-Native Regulatory Context</a:t>
            </a:r>
          </a:p>
          <a:p>
            <a:pPr>
              <a:spcBef>
                <a:spcPts val="300"/>
              </a:spcBef>
            </a:pPr>
            <a:r>
              <a:rPr sz="900">
                <a:solidFill>
                  <a:srgbClr val="1E293B"/>
                </a:solidFill>
              </a:rPr>
              <a:t>Transliteration folding for South Asian / Arabic name variants. Regulatory Intelligence surfaces RBI, DGFT, FATF, MAS updates for the specific countries in each case.</a:t>
            </a:r>
          </a:p>
        </p:txBody>
      </p:sp>
      <p:sp>
        <p:nvSpPr>
          <p:cNvPr id="14" name="Rectangle 13"/>
          <p:cNvSpPr/>
          <p:nvPr/>
        </p:nvSpPr>
        <p:spPr>
          <a:xfrm>
            <a:off x="9217152" y="2176272"/>
            <a:ext cx="502920" cy="1993392"/>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800" b="1">
                <a:solidFill>
                  <a:srgbClr val="6D28D9"/>
                </a:solidFill>
              </a:rPr>
              <a:t>4</a:t>
            </a:r>
          </a:p>
        </p:txBody>
      </p:sp>
      <p:sp>
        <p:nvSpPr>
          <p:cNvPr id="15" name="Rectangle 14"/>
          <p:cNvSpPr/>
          <p:nvPr/>
        </p:nvSpPr>
        <p:spPr>
          <a:xfrm>
            <a:off x="9738360" y="2176272"/>
            <a:ext cx="2359152" cy="199339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r>
              <a:rPr sz="1050" b="1">
                <a:solidFill>
                  <a:srgbClr val="0F2140"/>
                </a:solidFill>
              </a:rPr>
              <a:t>Audit-Ready on Day One</a:t>
            </a:r>
          </a:p>
          <a:p>
            <a:pPr>
              <a:spcBef>
                <a:spcPts val="300"/>
              </a:spcBef>
            </a:pPr>
            <a:r>
              <a:rPr sz="900">
                <a:solidFill>
                  <a:srgbClr val="1E293B"/>
                </a:solidFill>
              </a:rPr>
              <a:t>From the first case created, every decision is on the append-only audit trail with analyst identity, timestamp, rationale text, and recommendation source. 100% rationale coverage.</a:t>
            </a:r>
          </a:p>
        </p:txBody>
      </p:sp>
      <p:sp>
        <p:nvSpPr>
          <p:cNvPr id="16" name="Rectangle 15"/>
          <p:cNvSpPr/>
          <p:nvPr/>
        </p:nvSpPr>
        <p:spPr>
          <a:xfrm>
            <a:off x="274320" y="4315968"/>
            <a:ext cx="11612880" cy="4572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400" b="1">
                <a:solidFill>
                  <a:srgbClr val="00C2A8"/>
                </a:solidFill>
              </a:rPr>
              <a:t>"The AI drafts.  The analyst decides.  The audit trail is automatic."</a:t>
            </a:r>
          </a:p>
        </p:txBody>
      </p:sp>
      <p:graphicFrame>
        <p:nvGraphicFramePr>
          <p:cNvPr id="17" name="Table 16"/>
          <p:cNvGraphicFramePr>
            <a:graphicFrameLocks noGrp="1"/>
          </p:cNvGraphicFramePr>
          <p:nvPr/>
        </p:nvGraphicFramePr>
        <p:xfrm>
          <a:off x="274320" y="4919472"/>
          <a:ext cx="11612880" cy="1170432"/>
        </p:xfrm>
        <a:graphic>
          <a:graphicData uri="http://schemas.openxmlformats.org/drawingml/2006/table">
            <a:tbl>
              <a:tblPr firstRow="1" bandRow="1">
                <a:tableStyleId>{5C22544A-7EE6-4342-B048-85BDC9FD1C3A}</a:tableStyleId>
              </a:tblPr>
              <a:tblGrid>
                <a:gridCol w="2926080"/>
                <a:gridCol w="8686800"/>
              </a:tblGrid>
              <a:tr h="292608">
                <a:tc>
                  <a:txBody>
                    <a:bodyPr lIns="73152" rIns="73152"/>
                    <a:lstStyle/>
                    <a:p>
                      <a:pPr algn="l"/>
                      <a:r>
                        <a:rPr sz="950" b="1">
                          <a:solidFill>
                            <a:srgbClr val="FFFFFF"/>
                          </a:solidFill>
                        </a:rPr>
                        <a:t>Why Now — Signal</a:t>
                      </a:r>
                    </a:p>
                  </a:txBody>
                  <a:tcPr>
                    <a:solidFill>
                      <a:srgbClr val="0F2140"/>
                    </a:solidFill>
                  </a:tcPr>
                </a:tc>
                <a:tc>
                  <a:txBody>
                    <a:bodyPr lIns="73152" rIns="73152"/>
                    <a:lstStyle/>
                    <a:p>
                      <a:pPr algn="l"/>
                      <a:r>
                        <a:rPr sz="950" b="1">
                          <a:solidFill>
                            <a:srgbClr val="FFFFFF"/>
                          </a:solidFill>
                        </a:rPr>
                        <a:t>What It Means for ScreenDesk</a:t>
                      </a:r>
                    </a:p>
                  </a:txBody>
                  <a:tcPr>
                    <a:solidFill>
                      <a:srgbClr val="0F2140"/>
                    </a:solidFill>
                  </a:tcPr>
                </a:tc>
              </a:tr>
              <a:tr h="292608">
                <a:tc>
                  <a:txBody>
                    <a:bodyPr lIns="73152" rIns="73152"/>
                    <a:lstStyle/>
                    <a:p>
                      <a:pPr algn="l"/>
                      <a:r>
                        <a:rPr sz="900" b="1">
                          <a:solidFill>
                            <a:srgbClr val="0F2140"/>
                          </a:solidFill>
                        </a:rPr>
                        <a:t>RBI KYC Master Circular 2024</a:t>
                      </a:r>
                    </a:p>
                  </a:txBody>
                  <a:tcPr>
                    <a:solidFill>
                      <a:srgbClr val="F0F7FF"/>
                    </a:solidFill>
                  </a:tcPr>
                </a:tc>
                <a:tc>
                  <a:txBody>
                    <a:bodyPr lIns="73152" rIns="73152"/>
                    <a:lstStyle/>
                    <a:p>
                      <a:pPr algn="l"/>
                      <a:r>
                        <a:rPr sz="900" b="0">
                          <a:solidFill>
                            <a:srgbClr val="1E293B"/>
                          </a:solidFill>
                        </a:rPr>
                        <a:t>Tightened documentation obligations for PA licence holders. Spreadsheet management no longer tenable.</a:t>
                      </a:r>
                    </a:p>
                  </a:txBody>
                  <a:tcPr>
                    <a:solidFill>
                      <a:srgbClr val="F0F7FF"/>
                    </a:solidFill>
                  </a:tcPr>
                </a:tc>
              </a:tr>
              <a:tr h="292608">
                <a:tc>
                  <a:txBody>
                    <a:bodyPr lIns="73152" rIns="73152"/>
                    <a:lstStyle/>
                    <a:p>
                      <a:pPr algn="l"/>
                      <a:r>
                        <a:rPr sz="900" b="1">
                          <a:solidFill>
                            <a:srgbClr val="0F2140"/>
                          </a:solidFill>
                        </a:rPr>
                        <a:t>Claude Haiku &lt; USD 0.01 per case</a:t>
                      </a:r>
                    </a:p>
                  </a:txBody>
                  <a:tcPr>
                    <a:solidFill>
                      <a:srgbClr val="FFFFFF"/>
                    </a:solidFill>
                  </a:tcPr>
                </a:tc>
                <a:tc>
                  <a:txBody>
                    <a:bodyPr lIns="73152" rIns="73152"/>
                    <a:lstStyle/>
                    <a:p>
                      <a:pPr algn="l"/>
                      <a:r>
                        <a:rPr sz="900" b="0">
                          <a:solidFill>
                            <a:srgbClr val="1E293B"/>
                          </a:solidFill>
                        </a:rPr>
                        <a:t>AI-assisted rationale drafting is now economically viable at scale for sub-enterprise compliance teams.</a:t>
                      </a:r>
                    </a:p>
                  </a:txBody>
                  <a:tcPr>
                    <a:solidFill>
                      <a:srgbClr val="FFFFFF"/>
                    </a:solidFill>
                  </a:tcPr>
                </a:tc>
              </a:tr>
              <a:tr h="292608">
                <a:tc>
                  <a:txBody>
                    <a:bodyPr lIns="73152" rIns="73152"/>
                    <a:lstStyle/>
                    <a:p>
                      <a:pPr algn="l"/>
                      <a:r>
                        <a:rPr sz="900" b="1">
                          <a:solidFill>
                            <a:srgbClr val="0F2140"/>
                          </a:solidFill>
                        </a:rPr>
                        <a:t>3,000+ PA/AD fintechs, no tool</a:t>
                      </a:r>
                    </a:p>
                  </a:txBody>
                  <a:tcPr>
                    <a:solidFill>
                      <a:srgbClr val="F0F7FF"/>
                    </a:solidFill>
                  </a:tcPr>
                </a:tc>
                <a:tc>
                  <a:txBody>
                    <a:bodyPr lIns="73152" rIns="73152"/>
                    <a:lstStyle/>
                    <a:p>
                      <a:pPr algn="l"/>
                      <a:r>
                        <a:rPr sz="900" b="0">
                          <a:solidFill>
                            <a:srgbClr val="1E293B"/>
                          </a:solidFill>
                        </a:rPr>
                        <a:t>The market gap is real and currently unserved. Enterprise suites were not designed for 1–5 analyst teams.</a:t>
                      </a:r>
                    </a:p>
                  </a:txBody>
                  <a:tcPr>
                    <a:solidFill>
                      <a:srgbClr val="F0F7FF"/>
                    </a:solidFill>
                  </a:tcPr>
                </a:tc>
              </a:tr>
            </a:tbl>
          </a:graphicData>
        </a:graphic>
      </p:graphicFrame>
      <p:sp>
        <p:nvSpPr>
          <p:cNvPr id="18" name="TextBox 17"/>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04</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Product Architecture</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Four layers, five agents, two-level orchestration</a:t>
            </a:r>
          </a:p>
        </p:txBody>
      </p:sp>
      <p:sp>
        <p:nvSpPr>
          <p:cNvPr id="6" name="Rectangle 5"/>
          <p:cNvSpPr/>
          <p:nvPr/>
        </p:nvSpPr>
        <p:spPr>
          <a:xfrm>
            <a:off x="274320" y="1024128"/>
            <a:ext cx="54864" cy="80467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7472" y="1024128"/>
            <a:ext cx="1444752" cy="804672"/>
          </a:xfrm>
          <a:prstGeom prst="rect">
            <a:avLst/>
          </a:prstGeom>
          <a:solidFill>
            <a:srgbClr val="D0F5EE"/>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000" b="1">
                <a:solidFill>
                  <a:srgbClr val="00A890"/>
                </a:solidFill>
              </a:rPr>
              <a:t>FRONTEND</a:t>
            </a:r>
          </a:p>
        </p:txBody>
      </p:sp>
      <p:sp>
        <p:nvSpPr>
          <p:cNvPr id="8" name="Rectangle 7"/>
          <p:cNvSpPr/>
          <p:nvPr/>
        </p:nvSpPr>
        <p:spPr>
          <a:xfrm>
            <a:off x="1810512" y="1024128"/>
            <a:ext cx="1938528" cy="8046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1">
                <a:solidFill>
                  <a:srgbClr val="0F2140"/>
                </a:solidFill>
              </a:rPr>
              <a:t>Vanilla JS + HTML5</a:t>
            </a:r>
          </a:p>
        </p:txBody>
      </p:sp>
      <p:sp>
        <p:nvSpPr>
          <p:cNvPr id="9" name="Rectangle 8"/>
          <p:cNvSpPr/>
          <p:nvPr/>
        </p:nvSpPr>
        <p:spPr>
          <a:xfrm>
            <a:off x="3767328" y="1024128"/>
            <a:ext cx="813816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Screening Queue · Case Management Dashboard · MLRO Dashboard · Audit Trail Viewer</a:t>
            </a:r>
          </a:p>
        </p:txBody>
      </p:sp>
      <p:sp>
        <p:nvSpPr>
          <p:cNvPr id="10" name="Rectangle 9"/>
          <p:cNvSpPr/>
          <p:nvPr/>
        </p:nvSpPr>
        <p:spPr>
          <a:xfrm>
            <a:off x="347472" y="1828800"/>
            <a:ext cx="115671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938528"/>
            <a:ext cx="54864" cy="804672"/>
          </a:xfrm>
          <a:prstGeom prst="rect">
            <a:avLst/>
          </a:prstGeom>
          <a:solidFill>
            <a:srgbClr val="B45B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 y="1938528"/>
            <a:ext cx="1444752" cy="804672"/>
          </a:xfrm>
          <a:prstGeom prst="rect">
            <a:avLst/>
          </a:prstGeom>
          <a:solidFill>
            <a:srgbClr val="FFF7E6"/>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000" b="1">
                <a:solidFill>
                  <a:srgbClr val="B45B09"/>
                </a:solidFill>
              </a:rPr>
              <a:t>API LAYER</a:t>
            </a:r>
          </a:p>
        </p:txBody>
      </p:sp>
      <p:sp>
        <p:nvSpPr>
          <p:cNvPr id="13" name="Rectangle 12"/>
          <p:cNvSpPr/>
          <p:nvPr/>
        </p:nvSpPr>
        <p:spPr>
          <a:xfrm>
            <a:off x="1810512" y="1938528"/>
            <a:ext cx="1938528" cy="8046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1">
                <a:solidFill>
                  <a:srgbClr val="0F2140"/>
                </a:solidFill>
              </a:rPr>
              <a:t>Flask (Python)</a:t>
            </a:r>
          </a:p>
        </p:txBody>
      </p:sp>
      <p:sp>
        <p:nvSpPr>
          <p:cNvPr id="14" name="Rectangle 13"/>
          <p:cNvSpPr/>
          <p:nvPr/>
        </p:nvSpPr>
        <p:spPr>
          <a:xfrm>
            <a:off x="3767328" y="1938528"/>
            <a:ext cx="813816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/api/screen · /api/cases · /api/hits · /api/dashboard · /api/audit · /api/regulatory-updates</a:t>
            </a:r>
          </a:p>
        </p:txBody>
      </p:sp>
      <p:sp>
        <p:nvSpPr>
          <p:cNvPr id="15" name="Rectangle 14"/>
          <p:cNvSpPr/>
          <p:nvPr/>
        </p:nvSpPr>
        <p:spPr>
          <a:xfrm>
            <a:off x="347472" y="2743200"/>
            <a:ext cx="115671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2852928"/>
            <a:ext cx="54864" cy="804672"/>
          </a:xfrm>
          <a:prstGeom prst="rect">
            <a:avLst/>
          </a:prstGeom>
          <a:solidFill>
            <a:srgbClr val="003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 y="2852928"/>
            <a:ext cx="1444752" cy="804672"/>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000" b="1">
                <a:solidFill>
                  <a:srgbClr val="003D78"/>
                </a:solidFill>
              </a:rPr>
              <a:t>AGENT LAYER</a:t>
            </a:r>
          </a:p>
        </p:txBody>
      </p:sp>
      <p:sp>
        <p:nvSpPr>
          <p:cNvPr id="18" name="Rectangle 17"/>
          <p:cNvSpPr/>
          <p:nvPr/>
        </p:nvSpPr>
        <p:spPr>
          <a:xfrm>
            <a:off x="1810512" y="2852928"/>
            <a:ext cx="1938528" cy="8046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1">
                <a:solidFill>
                  <a:srgbClr val="0F2140"/>
                </a:solidFill>
              </a:rPr>
              <a:t>Python modules</a:t>
            </a:r>
          </a:p>
        </p:txBody>
      </p:sp>
      <p:sp>
        <p:nvSpPr>
          <p:cNvPr id="19" name="Rectangle 18"/>
          <p:cNvSpPr/>
          <p:nvPr/>
        </p:nvSpPr>
        <p:spPr>
          <a:xfrm>
            <a:off x="3767328" y="2852928"/>
            <a:ext cx="813816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Sanctions &amp; Watchlist · Customer Risk / KYC · Trade Document · Transaction Monitoring · Regulatory Intelligence</a:t>
            </a:r>
          </a:p>
        </p:txBody>
      </p:sp>
      <p:sp>
        <p:nvSpPr>
          <p:cNvPr id="20" name="Rectangle 19"/>
          <p:cNvSpPr/>
          <p:nvPr/>
        </p:nvSpPr>
        <p:spPr>
          <a:xfrm>
            <a:off x="347472" y="3657600"/>
            <a:ext cx="115671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3767328"/>
            <a:ext cx="54864" cy="804672"/>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7472" y="3767328"/>
            <a:ext cx="1444752" cy="8046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000" b="1">
                <a:solidFill>
                  <a:srgbClr val="0F2140"/>
                </a:solidFill>
              </a:rPr>
              <a:t>ORCHESTRATION</a:t>
            </a:r>
          </a:p>
        </p:txBody>
      </p:sp>
      <p:sp>
        <p:nvSpPr>
          <p:cNvPr id="23" name="Rectangle 22"/>
          <p:cNvSpPr/>
          <p:nvPr/>
        </p:nvSpPr>
        <p:spPr>
          <a:xfrm>
            <a:off x="1810512" y="3767328"/>
            <a:ext cx="1938528" cy="8046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1">
                <a:solidFill>
                  <a:srgbClr val="0F2140"/>
                </a:solidFill>
              </a:rPr>
              <a:t>level_a.py + level_b.py</a:t>
            </a:r>
          </a:p>
        </p:txBody>
      </p:sp>
      <p:sp>
        <p:nvSpPr>
          <p:cNvPr id="24" name="Rectangle 23"/>
          <p:cNvSpPr/>
          <p:nvPr/>
        </p:nvSpPr>
        <p:spPr>
          <a:xfrm>
            <a:off x="3767328" y="3767328"/>
            <a:ext cx="813816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Weighted scoring (Level A) · Hard-stop rules (Level B) · Required-agent safety floor on 4-agent path</a:t>
            </a:r>
          </a:p>
        </p:txBody>
      </p:sp>
      <p:sp>
        <p:nvSpPr>
          <p:cNvPr id="25" name="Rectangle 24"/>
          <p:cNvSpPr/>
          <p:nvPr/>
        </p:nvSpPr>
        <p:spPr>
          <a:xfrm>
            <a:off x="347472" y="4572000"/>
            <a:ext cx="115671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4681728"/>
            <a:ext cx="54864" cy="80467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7472" y="4681728"/>
            <a:ext cx="1444752" cy="804672"/>
          </a:xfrm>
          <a:prstGeom prst="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000" b="1">
                <a:solidFill>
                  <a:srgbClr val="6D28D9"/>
                </a:solidFill>
              </a:rPr>
              <a:t>AI LAYER</a:t>
            </a:r>
          </a:p>
        </p:txBody>
      </p:sp>
      <p:sp>
        <p:nvSpPr>
          <p:cNvPr id="28" name="Rectangle 27"/>
          <p:cNvSpPr/>
          <p:nvPr/>
        </p:nvSpPr>
        <p:spPr>
          <a:xfrm>
            <a:off x="1810512" y="4681728"/>
            <a:ext cx="1938528" cy="8046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1">
                <a:solidFill>
                  <a:srgbClr val="0F2140"/>
                </a:solidFill>
              </a:rPr>
              <a:t>Claude API (haiku-4-5)</a:t>
            </a:r>
          </a:p>
        </p:txBody>
      </p:sp>
      <p:sp>
        <p:nvSpPr>
          <p:cNvPr id="29" name="Rectangle 28"/>
          <p:cNvSpPr/>
          <p:nvPr/>
        </p:nvSpPr>
        <p:spPr>
          <a:xfrm>
            <a:off x="3767328" y="4681728"/>
            <a:ext cx="813816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Rationale prose drafting ONLY — LLM never produces risk_score or a compliance outcome</a:t>
            </a:r>
          </a:p>
        </p:txBody>
      </p:sp>
      <p:sp>
        <p:nvSpPr>
          <p:cNvPr id="30" name="Rectangle 29"/>
          <p:cNvSpPr/>
          <p:nvPr/>
        </p:nvSpPr>
        <p:spPr>
          <a:xfrm>
            <a:off x="347472" y="5486400"/>
            <a:ext cx="115671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74320" y="5596128"/>
            <a:ext cx="54864" cy="804672"/>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47472" y="5596128"/>
            <a:ext cx="1444752" cy="8046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000" b="1">
                <a:solidFill>
                  <a:srgbClr val="475569"/>
                </a:solidFill>
              </a:rPr>
              <a:t>DATA LAYER</a:t>
            </a:r>
          </a:p>
        </p:txBody>
      </p:sp>
      <p:sp>
        <p:nvSpPr>
          <p:cNvPr id="33" name="Rectangle 32"/>
          <p:cNvSpPr/>
          <p:nvPr/>
        </p:nvSpPr>
        <p:spPr>
          <a:xfrm>
            <a:off x="1810512" y="5596128"/>
            <a:ext cx="1938528" cy="8046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1">
                <a:solidFill>
                  <a:srgbClr val="0F2140"/>
                </a:solidFill>
              </a:rPr>
              <a:t>SQLite (screendesk.db)</a:t>
            </a:r>
          </a:p>
        </p:txBody>
      </p:sp>
      <p:sp>
        <p:nvSpPr>
          <p:cNvPr id="34" name="Rectangle 33"/>
          <p:cNvSpPr/>
          <p:nvPr/>
        </p:nvSpPr>
        <p:spPr>
          <a:xfrm>
            <a:off x="3767328" y="5596128"/>
            <a:ext cx="813816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Append-only audit_log · Cases · Hits · Dispositions · Agent results — INSERT only, no UPDATE or DELETE</a:t>
            </a:r>
          </a:p>
        </p:txBody>
      </p:sp>
      <p:sp>
        <p:nvSpPr>
          <p:cNvPr id="35" name="Rectangle 34"/>
          <p:cNvSpPr/>
          <p:nvPr/>
        </p:nvSpPr>
        <p:spPr>
          <a:xfrm>
            <a:off x="347472" y="6400800"/>
            <a:ext cx="115671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 y="6492240"/>
            <a:ext cx="64008" cy="2926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5760" y="6492240"/>
            <a:ext cx="11521440" cy="292608"/>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900">
                <a:solidFill>
                  <a:srgbClr val="1E293B"/>
                </a:solidFill>
              </a:rPr>
              <a:t>32 synthetic watchlist entries (CAPSTONE/DEMO). Live OFAC, UN, EU, PEP feeds required before production go-live. This is Launch Blocker 1.</a:t>
            </a:r>
          </a:p>
        </p:txBody>
      </p:sp>
      <p:sp>
        <p:nvSpPr>
          <p:cNvPr id="38" name="TextBox 37"/>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04</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Five-Agent Architecture</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Five specialist agents — one consolidated recommendation</a:t>
            </a:r>
          </a:p>
        </p:txBody>
      </p:sp>
      <p:graphicFrame>
        <p:nvGraphicFramePr>
          <p:cNvPr id="6" name="Table 5"/>
          <p:cNvGraphicFramePr>
            <a:graphicFrameLocks noGrp="1"/>
          </p:cNvGraphicFramePr>
          <p:nvPr/>
        </p:nvGraphicFramePr>
        <p:xfrm>
          <a:off x="274320" y="1051560"/>
          <a:ext cx="11612880" cy="2724912"/>
        </p:xfrm>
        <a:graphic>
          <a:graphicData uri="http://schemas.openxmlformats.org/drawingml/2006/table">
            <a:tbl>
              <a:tblPr firstRow="1" bandRow="1">
                <a:tableStyleId>{5C22544A-7EE6-4342-B048-85BDC9FD1C3A}</a:tableStyleId>
              </a:tblPr>
              <a:tblGrid>
                <a:gridCol w="1938528"/>
                <a:gridCol w="1325880"/>
                <a:gridCol w="1463040"/>
                <a:gridCol w="841248"/>
                <a:gridCol w="6044184"/>
              </a:tblGrid>
              <a:tr h="454152">
                <a:tc>
                  <a:txBody>
                    <a:bodyPr lIns="73152" rIns="73152"/>
                    <a:lstStyle/>
                    <a:p>
                      <a:pPr algn="l"/>
                      <a:r>
                        <a:rPr sz="950" b="1">
                          <a:solidFill>
                            <a:srgbClr val="FFFFFF"/>
                          </a:solidFill>
                        </a:rPr>
                        <a:t>Agent</a:t>
                      </a:r>
                    </a:p>
                  </a:txBody>
                  <a:tcPr>
                    <a:solidFill>
                      <a:srgbClr val="0F2140"/>
                    </a:solidFill>
                  </a:tcPr>
                </a:tc>
                <a:tc>
                  <a:txBody>
                    <a:bodyPr lIns="73152" rIns="73152"/>
                    <a:lstStyle/>
                    <a:p>
                      <a:pPr algn="l"/>
                      <a:r>
                        <a:rPr sz="950" b="1">
                          <a:solidFill>
                            <a:srgbClr val="FFFFFF"/>
                          </a:solidFill>
                        </a:rPr>
                        <a:t>Required / Optional</a:t>
                      </a:r>
                    </a:p>
                  </a:txBody>
                  <a:tcPr>
                    <a:solidFill>
                      <a:srgbClr val="0F2140"/>
                    </a:solidFill>
                  </a:tcPr>
                </a:tc>
                <a:tc>
                  <a:txBody>
                    <a:bodyPr lIns="73152" rIns="73152"/>
                    <a:lstStyle/>
                    <a:p>
                      <a:pPr algn="l"/>
                      <a:r>
                        <a:rPr sz="950" b="1">
                          <a:solidFill>
                            <a:srgbClr val="FFFFFF"/>
                          </a:solidFill>
                        </a:rPr>
                        <a:t>Outcome</a:t>
                      </a:r>
                    </a:p>
                  </a:txBody>
                  <a:tcPr>
                    <a:solidFill>
                      <a:srgbClr val="0F2140"/>
                    </a:solidFill>
                  </a:tcPr>
                </a:tc>
                <a:tc>
                  <a:txBody>
                    <a:bodyPr lIns="73152" rIns="73152"/>
                    <a:lstStyle/>
                    <a:p>
                      <a:pPr algn="l"/>
                      <a:r>
                        <a:rPr sz="950" b="1">
                          <a:solidFill>
                            <a:srgbClr val="FFFFFF"/>
                          </a:solidFill>
                        </a:rPr>
                        <a:t>risk_score</a:t>
                      </a:r>
                    </a:p>
                  </a:txBody>
                  <a:tcPr>
                    <a:solidFill>
                      <a:srgbClr val="0F2140"/>
                    </a:solidFill>
                  </a:tcPr>
                </a:tc>
                <a:tc>
                  <a:txBody>
                    <a:bodyPr lIns="73152" rIns="73152"/>
                    <a:lstStyle/>
                    <a:p>
                      <a:pPr algn="l"/>
                      <a:r>
                        <a:rPr sz="950" b="1">
                          <a:solidFill>
                            <a:srgbClr val="FFFFFF"/>
                          </a:solidFill>
                        </a:rPr>
                        <a:t>Key Domain Metrics</a:t>
                      </a:r>
                    </a:p>
                  </a:txBody>
                  <a:tcPr>
                    <a:solidFill>
                      <a:srgbClr val="0F2140"/>
                    </a:solidFill>
                  </a:tcPr>
                </a:tc>
              </a:tr>
              <a:tr h="454152">
                <a:tc>
                  <a:txBody>
                    <a:bodyPr lIns="73152" rIns="73152"/>
                    <a:lstStyle/>
                    <a:p>
                      <a:pPr algn="l"/>
                      <a:r>
                        <a:rPr sz="900" b="1">
                          <a:solidFill>
                            <a:srgbClr val="0F2140"/>
                          </a:solidFill>
                        </a:rPr>
                        <a:t>Sanctions &amp; Watchlist</a:t>
                      </a:r>
                    </a:p>
                  </a:txBody>
                  <a:tcPr>
                    <a:solidFill>
                      <a:srgbClr val="F0F7FF"/>
                    </a:solidFill>
                  </a:tcPr>
                </a:tc>
                <a:tc>
                  <a:txBody>
                    <a:bodyPr lIns="73152" rIns="73152"/>
                    <a:lstStyle/>
                    <a:p>
                      <a:pPr algn="l"/>
                      <a:r>
                        <a:rPr sz="900" b="0">
                          <a:solidFill>
                            <a:srgbClr val="1E293B"/>
                          </a:solidFill>
                        </a:rPr>
                        <a:t>Required</a:t>
                      </a:r>
                    </a:p>
                  </a:txBody>
                  <a:tcPr>
                    <a:solidFill>
                      <a:srgbClr val="F0F7FF"/>
                    </a:solidFill>
                  </a:tcPr>
                </a:tc>
                <a:tc>
                  <a:txBody>
                    <a:bodyPr lIns="73152" rIns="73152"/>
                    <a:lstStyle/>
                    <a:p>
                      <a:pPr algn="l"/>
                      <a:r>
                        <a:rPr sz="900" b="0">
                          <a:solidFill>
                            <a:srgbClr val="1E293B"/>
                          </a:solidFill>
                        </a:rPr>
                        <a:t>PASS / REVIEW / FAIL</a:t>
                      </a:r>
                    </a:p>
                  </a:txBody>
                  <a:tcPr>
                    <a:solidFill>
                      <a:srgbClr val="F0F7FF"/>
                    </a:solidFill>
                  </a:tcPr>
                </a:tc>
                <a:tc>
                  <a:txBody>
                    <a:bodyPr lIns="73152" rIns="73152"/>
                    <a:lstStyle/>
                    <a:p>
                      <a:pPr algn="l"/>
                      <a:r>
                        <a:rPr sz="900" b="0">
                          <a:solidFill>
                            <a:srgbClr val="1E293B"/>
                          </a:solidFill>
                        </a:rPr>
                        <a:t>0–100</a:t>
                      </a:r>
                    </a:p>
                  </a:txBody>
                  <a:tcPr>
                    <a:solidFill>
                      <a:srgbClr val="F0F7FF"/>
                    </a:solidFill>
                  </a:tcPr>
                </a:tc>
                <a:tc>
                  <a:txBody>
                    <a:bodyPr lIns="73152" rIns="73152"/>
                    <a:lstStyle/>
                    <a:p>
                      <a:pPr algn="l"/>
                      <a:r>
                        <a:rPr sz="900" b="0">
                          <a:solidFill>
                            <a:srgbClr val="1E293B"/>
                          </a:solidFill>
                        </a:rPr>
                        <a:t>match_score, match_level, transliteration_path, list_sources, matched_name</a:t>
                      </a:r>
                    </a:p>
                  </a:txBody>
                  <a:tcPr>
                    <a:solidFill>
                      <a:srgbClr val="F0F7FF"/>
                    </a:solidFill>
                  </a:tcPr>
                </a:tc>
              </a:tr>
              <a:tr h="454152">
                <a:tc>
                  <a:txBody>
                    <a:bodyPr lIns="73152" rIns="73152"/>
                    <a:lstStyle/>
                    <a:p>
                      <a:pPr algn="l"/>
                      <a:r>
                        <a:rPr sz="900" b="1">
                          <a:solidFill>
                            <a:srgbClr val="0F2140"/>
                          </a:solidFill>
                        </a:rPr>
                        <a:t>Customer Risk / KYC</a:t>
                      </a:r>
                    </a:p>
                  </a:txBody>
                  <a:tcPr>
                    <a:solidFill>
                      <a:srgbClr val="FFFFFF"/>
                    </a:solidFill>
                  </a:tcPr>
                </a:tc>
                <a:tc>
                  <a:txBody>
                    <a:bodyPr lIns="73152" rIns="73152"/>
                    <a:lstStyle/>
                    <a:p>
                      <a:pPr algn="l"/>
                      <a:r>
                        <a:rPr sz="900" b="0">
                          <a:solidFill>
                            <a:srgbClr val="1E293B"/>
                          </a:solidFill>
                        </a:rPr>
                        <a:t>Required</a:t>
                      </a:r>
                    </a:p>
                  </a:txBody>
                  <a:tcPr>
                    <a:solidFill>
                      <a:srgbClr val="FFFFFF"/>
                    </a:solidFill>
                  </a:tcPr>
                </a:tc>
                <a:tc>
                  <a:txBody>
                    <a:bodyPr lIns="73152" rIns="73152"/>
                    <a:lstStyle/>
                    <a:p>
                      <a:pPr algn="l"/>
                      <a:r>
                        <a:rPr sz="900" b="0">
                          <a:solidFill>
                            <a:srgbClr val="1E293B"/>
                          </a:solidFill>
                        </a:rPr>
                        <a:t>PASS / REVIEW / FAIL</a:t>
                      </a:r>
                    </a:p>
                  </a:txBody>
                  <a:tcPr>
                    <a:solidFill>
                      <a:srgbClr val="FFFFFF"/>
                    </a:solidFill>
                  </a:tcPr>
                </a:tc>
                <a:tc>
                  <a:txBody>
                    <a:bodyPr lIns="73152" rIns="73152"/>
                    <a:lstStyle/>
                    <a:p>
                      <a:pPr algn="l"/>
                      <a:r>
                        <a:rPr sz="900" b="0">
                          <a:solidFill>
                            <a:srgbClr val="1E293B"/>
                          </a:solidFill>
                        </a:rPr>
                        <a:t>0–100</a:t>
                      </a:r>
                    </a:p>
                  </a:txBody>
                  <a:tcPr>
                    <a:solidFill>
                      <a:srgbClr val="FFFFFF"/>
                    </a:solidFill>
                  </a:tcPr>
                </a:tc>
                <a:tc>
                  <a:txBody>
                    <a:bodyPr lIns="73152" rIns="73152"/>
                    <a:lstStyle/>
                    <a:p>
                      <a:pPr algn="l"/>
                      <a:r>
                        <a:rPr sz="900" b="0">
                          <a:solidFill>
                            <a:srgbClr val="1E293B"/>
                          </a:solidFill>
                        </a:rPr>
                        <a:t>completeness_gap, ubo_count, kyc_status, high_risk_country, adverse_media</a:t>
                      </a:r>
                    </a:p>
                  </a:txBody>
                  <a:tcPr>
                    <a:solidFill>
                      <a:srgbClr val="FFFFFF"/>
                    </a:solidFill>
                  </a:tcPr>
                </a:tc>
              </a:tr>
              <a:tr h="454152">
                <a:tc>
                  <a:txBody>
                    <a:bodyPr lIns="73152" rIns="73152"/>
                    <a:lstStyle/>
                    <a:p>
                      <a:pPr algn="l"/>
                      <a:r>
                        <a:rPr sz="900" b="1">
                          <a:solidFill>
                            <a:srgbClr val="0F2140"/>
                          </a:solidFill>
                        </a:rPr>
                        <a:t>Trade Document</a:t>
                      </a:r>
                    </a:p>
                  </a:txBody>
                  <a:tcPr>
                    <a:solidFill>
                      <a:srgbClr val="F0F7FF"/>
                    </a:solidFill>
                  </a:tcPr>
                </a:tc>
                <a:tc>
                  <a:txBody>
                    <a:bodyPr lIns="73152" rIns="73152"/>
                    <a:lstStyle/>
                    <a:p>
                      <a:pPr algn="l"/>
                      <a:r>
                        <a:rPr sz="900" b="0">
                          <a:solidFill>
                            <a:srgbClr val="1E293B"/>
                          </a:solidFill>
                        </a:rPr>
                        <a:t>Optional</a:t>
                      </a:r>
                    </a:p>
                  </a:txBody>
                  <a:tcPr>
                    <a:solidFill>
                      <a:srgbClr val="F0F7FF"/>
                    </a:solidFill>
                  </a:tcPr>
                </a:tc>
                <a:tc>
                  <a:txBody>
                    <a:bodyPr lIns="73152" rIns="73152"/>
                    <a:lstStyle/>
                    <a:p>
                      <a:pPr algn="l"/>
                      <a:r>
                        <a:rPr sz="900" b="0">
                          <a:solidFill>
                            <a:srgbClr val="1E293B"/>
                          </a:solidFill>
                        </a:rPr>
                        <a:t>PASS / REVIEW / FAIL</a:t>
                      </a:r>
                    </a:p>
                  </a:txBody>
                  <a:tcPr>
                    <a:solidFill>
                      <a:srgbClr val="F0F7FF"/>
                    </a:solidFill>
                  </a:tcPr>
                </a:tc>
                <a:tc>
                  <a:txBody>
                    <a:bodyPr lIns="73152" rIns="73152"/>
                    <a:lstStyle/>
                    <a:p>
                      <a:pPr algn="l"/>
                      <a:r>
                        <a:rPr sz="900" b="0">
                          <a:solidFill>
                            <a:srgbClr val="1E293B"/>
                          </a:solidFill>
                        </a:rPr>
                        <a:t>0–100</a:t>
                      </a:r>
                    </a:p>
                  </a:txBody>
                  <a:tcPr>
                    <a:solidFill>
                      <a:srgbClr val="F0F7FF"/>
                    </a:solidFill>
                  </a:tcPr>
                </a:tc>
                <a:tc>
                  <a:txBody>
                    <a:bodyPr lIns="73152" rIns="73152"/>
                    <a:lstStyle/>
                    <a:p>
                      <a:pPr algn="l"/>
                      <a:r>
                        <a:rPr sz="900" b="0">
                          <a:solidFill>
                            <a:srgbClr val="1E293B"/>
                          </a:solidFill>
                        </a:rPr>
                        <a:t>commercial_invoice_present, duplicate_detected, amount_variance_pct, party_mismatch</a:t>
                      </a:r>
                    </a:p>
                  </a:txBody>
                  <a:tcPr>
                    <a:solidFill>
                      <a:srgbClr val="F0F7FF"/>
                    </a:solidFill>
                  </a:tcPr>
                </a:tc>
              </a:tr>
              <a:tr h="454152">
                <a:tc>
                  <a:txBody>
                    <a:bodyPr lIns="73152" rIns="73152"/>
                    <a:lstStyle/>
                    <a:p>
                      <a:pPr algn="l"/>
                      <a:r>
                        <a:rPr sz="900" b="1">
                          <a:solidFill>
                            <a:srgbClr val="0F2140"/>
                          </a:solidFill>
                        </a:rPr>
                        <a:t>Transaction Monitoring</a:t>
                      </a:r>
                    </a:p>
                  </a:txBody>
                  <a:tcPr>
                    <a:solidFill>
                      <a:srgbClr val="FFFFFF"/>
                    </a:solidFill>
                  </a:tcPr>
                </a:tc>
                <a:tc>
                  <a:txBody>
                    <a:bodyPr lIns="73152" rIns="73152"/>
                    <a:lstStyle/>
                    <a:p>
                      <a:pPr algn="l"/>
                      <a:r>
                        <a:rPr sz="900" b="0">
                          <a:solidFill>
                            <a:srgbClr val="1E293B"/>
                          </a:solidFill>
                        </a:rPr>
                        <a:t>Optional</a:t>
                      </a:r>
                    </a:p>
                  </a:txBody>
                  <a:tcPr>
                    <a:solidFill>
                      <a:srgbClr val="FFFFFF"/>
                    </a:solidFill>
                  </a:tcPr>
                </a:tc>
                <a:tc>
                  <a:txBody>
                    <a:bodyPr lIns="73152" rIns="73152"/>
                    <a:lstStyle/>
                    <a:p>
                      <a:pPr algn="l"/>
                      <a:r>
                        <a:rPr sz="900" b="0">
                          <a:solidFill>
                            <a:srgbClr val="1E293B"/>
                          </a:solidFill>
                        </a:rPr>
                        <a:t>PASS / REVIEW</a:t>
                      </a:r>
                    </a:p>
                  </a:txBody>
                  <a:tcPr>
                    <a:solidFill>
                      <a:srgbClr val="FFFFFF"/>
                    </a:solidFill>
                  </a:tcPr>
                </a:tc>
                <a:tc>
                  <a:txBody>
                    <a:bodyPr lIns="73152" rIns="73152"/>
                    <a:lstStyle/>
                    <a:p>
                      <a:pPr algn="l"/>
                      <a:r>
                        <a:rPr sz="900" b="0">
                          <a:solidFill>
                            <a:srgbClr val="1E293B"/>
                          </a:solidFill>
                        </a:rPr>
                        <a:t>0–100</a:t>
                      </a:r>
                    </a:p>
                  </a:txBody>
                  <a:tcPr>
                    <a:solidFill>
                      <a:srgbClr val="FFFFFF"/>
                    </a:solidFill>
                  </a:tcPr>
                </a:tc>
                <a:tc>
                  <a:txBody>
                    <a:bodyPr lIns="73152" rIns="73152"/>
                    <a:lstStyle/>
                    <a:p>
                      <a:pPr algn="l"/>
                      <a:r>
                        <a:rPr sz="900" b="0">
                          <a:solidFill>
                            <a:srgbClr val="1E293B"/>
                          </a:solidFill>
                        </a:rPr>
                        <a:t>amount_ratio, corridor_flag, structuring_indicator, velocity_flag</a:t>
                      </a:r>
                    </a:p>
                  </a:txBody>
                  <a:tcPr>
                    <a:solidFill>
                      <a:srgbClr val="FFFFFF"/>
                    </a:solidFill>
                  </a:tcPr>
                </a:tc>
              </a:tr>
              <a:tr h="454152">
                <a:tc>
                  <a:txBody>
                    <a:bodyPr lIns="73152" rIns="73152"/>
                    <a:lstStyle/>
                    <a:p>
                      <a:pPr algn="l"/>
                      <a:r>
                        <a:rPr sz="900" b="1">
                          <a:solidFill>
                            <a:srgbClr val="0F2140"/>
                          </a:solidFill>
                        </a:rPr>
                        <a:t>Regulatory Intelligence</a:t>
                      </a:r>
                    </a:p>
                  </a:txBody>
                  <a:tcPr>
                    <a:solidFill>
                      <a:srgbClr val="F0F7FF"/>
                    </a:solidFill>
                  </a:tcPr>
                </a:tc>
                <a:tc>
                  <a:txBody>
                    <a:bodyPr lIns="73152" rIns="73152"/>
                    <a:lstStyle/>
                    <a:p>
                      <a:pPr algn="l"/>
                      <a:r>
                        <a:rPr sz="900" b="0">
                          <a:solidFill>
                            <a:srgbClr val="1E293B"/>
                          </a:solidFill>
                        </a:rPr>
                        <a:t>Advisory only</a:t>
                      </a:r>
                    </a:p>
                  </a:txBody>
                  <a:tcPr>
                    <a:solidFill>
                      <a:srgbClr val="F0F7FF"/>
                    </a:solidFill>
                  </a:tcPr>
                </a:tc>
                <a:tc>
                  <a:txBody>
                    <a:bodyPr lIns="73152" rIns="73152"/>
                    <a:lstStyle/>
                    <a:p>
                      <a:pPr algn="l"/>
                      <a:r>
                        <a:rPr sz="900" b="0">
                          <a:solidFill>
                            <a:srgbClr val="1E293B"/>
                          </a:solidFill>
                        </a:rPr>
                        <a:t>N/A (advisory only)</a:t>
                      </a:r>
                    </a:p>
                  </a:txBody>
                  <a:tcPr>
                    <a:solidFill>
                      <a:srgbClr val="F0F7FF"/>
                    </a:solidFill>
                  </a:tcPr>
                </a:tc>
                <a:tc>
                  <a:txBody>
                    <a:bodyPr lIns="73152" rIns="73152"/>
                    <a:lstStyle/>
                    <a:p>
                      <a:pPr algn="l"/>
                      <a:r>
                        <a:rPr sz="900" b="0">
                          <a:solidFill>
                            <a:srgbClr val="1E293B"/>
                          </a:solidFill>
                        </a:rPr>
                        <a:t>None</a:t>
                      </a:r>
                    </a:p>
                  </a:txBody>
                  <a:tcPr>
                    <a:solidFill>
                      <a:srgbClr val="F0F7FF"/>
                    </a:solidFill>
                  </a:tcPr>
                </a:tc>
                <a:tc>
                  <a:txBody>
                    <a:bodyPr lIns="73152" rIns="73152"/>
                    <a:lstStyle/>
                    <a:p>
                      <a:pPr algn="l"/>
                      <a:r>
                        <a:rPr sz="900" b="0">
                          <a:solidFill>
                            <a:srgbClr val="1E293B"/>
                          </a:solidFill>
                        </a:rPr>
                        <a:t>regulatory_updates, countries_matched, source_jurisdiction, effective_date</a:t>
                      </a:r>
                    </a:p>
                  </a:txBody>
                  <a:tcPr>
                    <a:solidFill>
                      <a:srgbClr val="F0F7FF"/>
                    </a:solidFill>
                  </a:tcPr>
                </a:tc>
              </a:tr>
            </a:tbl>
          </a:graphicData>
        </a:graphic>
      </p:graphicFrame>
      <p:sp>
        <p:nvSpPr>
          <p:cNvPr id="7" name="Rectangle 6"/>
          <p:cNvSpPr/>
          <p:nvPr/>
        </p:nvSpPr>
        <p:spPr>
          <a:xfrm>
            <a:off x="274320" y="3931920"/>
            <a:ext cx="64008" cy="53035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3931920"/>
            <a:ext cx="11521440" cy="530352"/>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950">
                <a:solidFill>
                  <a:srgbClr val="1E293B"/>
                </a:solidFill>
              </a:rPr>
              <a:t>Common Agent Contract: every agent returns the same JSON shape — agent_id, execution_status, outcome, risk_score, domain_metrics, findings, evidence, confidence, summary, requires_human_review. Orchestrator is agent-agnostic; any agent can be upgraded without changing orchestration logic.</a:t>
            </a:r>
          </a:p>
        </p:txBody>
      </p:sp>
      <p:graphicFrame>
        <p:nvGraphicFramePr>
          <p:cNvPr id="9" name="Table 8"/>
          <p:cNvGraphicFramePr>
            <a:graphicFrameLocks noGrp="1"/>
          </p:cNvGraphicFramePr>
          <p:nvPr/>
        </p:nvGraphicFramePr>
        <p:xfrm>
          <a:off x="274320" y="4617720"/>
          <a:ext cx="11612880" cy="1664208"/>
        </p:xfrm>
        <a:graphic>
          <a:graphicData uri="http://schemas.openxmlformats.org/drawingml/2006/table">
            <a:tbl>
              <a:tblPr firstRow="1" bandRow="1">
                <a:tableStyleId>{5C22544A-7EE6-4342-B048-85BDC9FD1C3A}</a:tableStyleId>
              </a:tblPr>
              <a:tblGrid>
                <a:gridCol w="1828800"/>
                <a:gridCol w="3566160"/>
                <a:gridCol w="1920240"/>
                <a:gridCol w="4297680"/>
              </a:tblGrid>
              <a:tr h="332841">
                <a:tc>
                  <a:txBody>
                    <a:bodyPr lIns="73152" rIns="73152"/>
                    <a:lstStyle/>
                    <a:p>
                      <a:pPr algn="l"/>
                      <a:r>
                        <a:rPr sz="950" b="1">
                          <a:solidFill>
                            <a:srgbClr val="FFFFFF"/>
                          </a:solidFill>
                        </a:rPr>
                        <a:t>Level A Config</a:t>
                      </a:r>
                    </a:p>
                  </a:txBody>
                  <a:tcPr>
                    <a:solidFill>
                      <a:srgbClr val="0F2140"/>
                    </a:solidFill>
                  </a:tcPr>
                </a:tc>
                <a:tc>
                  <a:txBody>
                    <a:bodyPr lIns="73152" rIns="73152"/>
                    <a:lstStyle/>
                    <a:p>
                      <a:pPr algn="l"/>
                      <a:r>
                        <a:rPr sz="950" b="1">
                          <a:solidFill>
                            <a:srgbClr val="FFFFFF"/>
                          </a:solidFill>
                        </a:rPr>
                        <a:t>Agents Active</a:t>
                      </a:r>
                    </a:p>
                  </a:txBody>
                  <a:tcPr>
                    <a:solidFill>
                      <a:srgbClr val="0F2140"/>
                    </a:solidFill>
                  </a:tcPr>
                </a:tc>
                <a:tc>
                  <a:txBody>
                    <a:bodyPr lIns="73152" rIns="73152"/>
                    <a:lstStyle/>
                    <a:p>
                      <a:pPr algn="l"/>
                      <a:r>
                        <a:rPr sz="950" b="1">
                          <a:solidFill>
                            <a:srgbClr val="FFFFFF"/>
                          </a:solidFill>
                        </a:rPr>
                        <a:t>Weights</a:t>
                      </a:r>
                    </a:p>
                  </a:txBody>
                  <a:tcPr>
                    <a:solidFill>
                      <a:srgbClr val="0F2140"/>
                    </a:solidFill>
                  </a:tcPr>
                </a:tc>
                <a:tc>
                  <a:txBody>
                    <a:bodyPr lIns="73152" rIns="73152"/>
                    <a:lstStyle/>
                    <a:p>
                      <a:pPr algn="l"/>
                      <a:r>
                        <a:rPr sz="950" b="1">
                          <a:solidFill>
                            <a:srgbClr val="FFFFFF"/>
                          </a:solidFill>
                        </a:rPr>
                        <a:t>Score Bands</a:t>
                      </a:r>
                    </a:p>
                  </a:txBody>
                  <a:tcPr>
                    <a:solidFill>
                      <a:srgbClr val="0F2140"/>
                    </a:solidFill>
                  </a:tcPr>
                </a:tc>
              </a:tr>
              <a:tr h="332841">
                <a:tc>
                  <a:txBody>
                    <a:bodyPr lIns="73152" rIns="73152"/>
                    <a:lstStyle/>
                    <a:p>
                      <a:pPr algn="l"/>
                      <a:r>
                        <a:rPr sz="900" b="1">
                          <a:solidFill>
                            <a:srgbClr val="0F2140"/>
                          </a:solidFill>
                        </a:rPr>
                        <a:t>2-agent (baseline)</a:t>
                      </a:r>
                    </a:p>
                  </a:txBody>
                  <a:tcPr>
                    <a:solidFill>
                      <a:srgbClr val="F0F7FF"/>
                    </a:solidFill>
                  </a:tcPr>
                </a:tc>
                <a:tc>
                  <a:txBody>
                    <a:bodyPr lIns="73152" rIns="73152"/>
                    <a:lstStyle/>
                    <a:p>
                      <a:pPr algn="l"/>
                      <a:r>
                        <a:rPr sz="900" b="0">
                          <a:solidFill>
                            <a:srgbClr val="1E293B"/>
                          </a:solidFill>
                        </a:rPr>
                        <a:t>Sanctions + Customer Risk</a:t>
                      </a:r>
                    </a:p>
                  </a:txBody>
                  <a:tcPr>
                    <a:solidFill>
                      <a:srgbClr val="F0F7FF"/>
                    </a:solidFill>
                  </a:tcPr>
                </a:tc>
                <a:tc>
                  <a:txBody>
                    <a:bodyPr lIns="73152" rIns="73152"/>
                    <a:lstStyle/>
                    <a:p>
                      <a:pPr algn="l"/>
                      <a:r>
                        <a:rPr sz="900" b="0">
                          <a:solidFill>
                            <a:srgbClr val="1E293B"/>
                          </a:solidFill>
                        </a:rPr>
                        <a:t>50% / 50%</a:t>
                      </a:r>
                    </a:p>
                  </a:txBody>
                  <a:tcPr>
                    <a:solidFill>
                      <a:srgbClr val="F0F7FF"/>
                    </a:solidFill>
                  </a:tcPr>
                </a:tc>
                <a:tc>
                  <a:txBody>
                    <a:bodyPr lIns="73152" rIns="73152"/>
                    <a:lstStyle/>
                    <a:p>
                      <a:pPr algn="l"/>
                      <a:r>
                        <a:rPr sz="900" b="0">
                          <a:solidFill>
                            <a:srgbClr val="1E293B"/>
                          </a:solidFill>
                        </a:rPr>
                        <a:t>APPROVE 0–34  ·  MANUAL_REVIEW 35–64  ·  ESCALATE 65–100</a:t>
                      </a:r>
                    </a:p>
                  </a:txBody>
                  <a:tcPr>
                    <a:solidFill>
                      <a:srgbClr val="F0F7FF"/>
                    </a:solidFill>
                  </a:tcPr>
                </a:tc>
              </a:tr>
              <a:tr h="332841">
                <a:tc>
                  <a:txBody>
                    <a:bodyPr lIns="73152" rIns="73152"/>
                    <a:lstStyle/>
                    <a:p>
                      <a:pPr algn="l"/>
                      <a:r>
                        <a:rPr sz="900" b="1">
                          <a:solidFill>
                            <a:srgbClr val="0F2140"/>
                          </a:solidFill>
                        </a:rPr>
                        <a:t>3-agent-TD</a:t>
                      </a:r>
                    </a:p>
                  </a:txBody>
                  <a:tcPr>
                    <a:solidFill>
                      <a:srgbClr val="FFFFFF"/>
                    </a:solidFill>
                  </a:tcPr>
                </a:tc>
                <a:tc>
                  <a:txBody>
                    <a:bodyPr lIns="73152" rIns="73152"/>
                    <a:lstStyle/>
                    <a:p>
                      <a:pPr algn="l"/>
                      <a:r>
                        <a:rPr sz="900" b="0">
                          <a:solidFill>
                            <a:srgbClr val="1E293B"/>
                          </a:solidFill>
                        </a:rPr>
                        <a:t>Sanctions + Customer Risk + Trade Document</a:t>
                      </a:r>
                    </a:p>
                  </a:txBody>
                  <a:tcPr>
                    <a:solidFill>
                      <a:srgbClr val="FFFFFF"/>
                    </a:solidFill>
                  </a:tcPr>
                </a:tc>
                <a:tc>
                  <a:txBody>
                    <a:bodyPr lIns="73152" rIns="73152"/>
                    <a:lstStyle/>
                    <a:p>
                      <a:pPr algn="l"/>
                      <a:r>
                        <a:rPr sz="900" b="0">
                          <a:solidFill>
                            <a:srgbClr val="1E293B"/>
                          </a:solidFill>
                        </a:rPr>
                        <a:t>50% / 25% / 25%</a:t>
                      </a:r>
                    </a:p>
                  </a:txBody>
                  <a:tcPr>
                    <a:solidFill>
                      <a:srgbClr val="FFFFFF"/>
                    </a:solidFill>
                  </a:tcPr>
                </a:tc>
                <a:tc>
                  <a:txBody>
                    <a:bodyPr lIns="73152" rIns="73152"/>
                    <a:lstStyle/>
                    <a:p>
                      <a:pPr algn="l"/>
                      <a:r>
                        <a:rPr sz="900" b="0">
                          <a:solidFill>
                            <a:srgbClr val="1E293B"/>
                          </a:solidFill>
                        </a:rPr>
                        <a:t>Same bands</a:t>
                      </a:r>
                    </a:p>
                  </a:txBody>
                  <a:tcPr>
                    <a:solidFill>
                      <a:srgbClr val="FFFFFF"/>
                    </a:solidFill>
                  </a:tcPr>
                </a:tc>
              </a:tr>
              <a:tr h="332841">
                <a:tc>
                  <a:txBody>
                    <a:bodyPr lIns="73152" rIns="73152"/>
                    <a:lstStyle/>
                    <a:p>
                      <a:pPr algn="l"/>
                      <a:r>
                        <a:rPr sz="900" b="1">
                          <a:solidFill>
                            <a:srgbClr val="0F2140"/>
                          </a:solidFill>
                        </a:rPr>
                        <a:t>3-agent-TM</a:t>
                      </a:r>
                    </a:p>
                  </a:txBody>
                  <a:tcPr>
                    <a:solidFill>
                      <a:srgbClr val="F0F7FF"/>
                    </a:solidFill>
                  </a:tcPr>
                </a:tc>
                <a:tc>
                  <a:txBody>
                    <a:bodyPr lIns="73152" rIns="73152"/>
                    <a:lstStyle/>
                    <a:p>
                      <a:pPr algn="l"/>
                      <a:r>
                        <a:rPr sz="900" b="0">
                          <a:solidFill>
                            <a:srgbClr val="1E293B"/>
                          </a:solidFill>
                        </a:rPr>
                        <a:t>Sanctions + Customer Risk + Transaction Monitoring</a:t>
                      </a:r>
                    </a:p>
                  </a:txBody>
                  <a:tcPr>
                    <a:solidFill>
                      <a:srgbClr val="F0F7FF"/>
                    </a:solidFill>
                  </a:tcPr>
                </a:tc>
                <a:tc>
                  <a:txBody>
                    <a:bodyPr lIns="73152" rIns="73152"/>
                    <a:lstStyle/>
                    <a:p>
                      <a:pPr algn="l"/>
                      <a:r>
                        <a:rPr sz="900" b="0">
                          <a:solidFill>
                            <a:srgbClr val="1E293B"/>
                          </a:solidFill>
                        </a:rPr>
                        <a:t>50% / 25% / 25%</a:t>
                      </a:r>
                    </a:p>
                  </a:txBody>
                  <a:tcPr>
                    <a:solidFill>
                      <a:srgbClr val="F0F7FF"/>
                    </a:solidFill>
                  </a:tcPr>
                </a:tc>
                <a:tc>
                  <a:txBody>
                    <a:bodyPr lIns="73152" rIns="73152"/>
                    <a:lstStyle/>
                    <a:p>
                      <a:pPr algn="l"/>
                      <a:r>
                        <a:rPr sz="900" b="0">
                          <a:solidFill>
                            <a:srgbClr val="1E293B"/>
                          </a:solidFill>
                        </a:rPr>
                        <a:t>Same bands</a:t>
                      </a:r>
                    </a:p>
                  </a:txBody>
                  <a:tcPr>
                    <a:solidFill>
                      <a:srgbClr val="F0F7FF"/>
                    </a:solidFill>
                  </a:tcPr>
                </a:tc>
              </a:tr>
              <a:tr h="332844">
                <a:tc>
                  <a:txBody>
                    <a:bodyPr lIns="73152" rIns="73152"/>
                    <a:lstStyle/>
                    <a:p>
                      <a:pPr algn="l"/>
                      <a:r>
                        <a:rPr sz="900" b="1">
                          <a:solidFill>
                            <a:srgbClr val="0F2140"/>
                          </a:solidFill>
                        </a:rPr>
                        <a:t>4-agent</a:t>
                      </a:r>
                    </a:p>
                  </a:txBody>
                  <a:tcPr>
                    <a:solidFill>
                      <a:srgbClr val="FFFFFF"/>
                    </a:solidFill>
                  </a:tcPr>
                </a:tc>
                <a:tc>
                  <a:txBody>
                    <a:bodyPr lIns="73152" rIns="73152"/>
                    <a:lstStyle/>
                    <a:p>
                      <a:pPr algn="l"/>
                      <a:r>
                        <a:rPr sz="900" b="0">
                          <a:solidFill>
                            <a:srgbClr val="1E293B"/>
                          </a:solidFill>
                        </a:rPr>
                        <a:t>All four scoring agents</a:t>
                      </a:r>
                    </a:p>
                  </a:txBody>
                  <a:tcPr>
                    <a:solidFill>
                      <a:srgbClr val="FFFFFF"/>
                    </a:solidFill>
                  </a:tcPr>
                </a:tc>
                <a:tc>
                  <a:txBody>
                    <a:bodyPr lIns="73152" rIns="73152"/>
                    <a:lstStyle/>
                    <a:p>
                      <a:pPr algn="l"/>
                      <a:r>
                        <a:rPr sz="900" b="0">
                          <a:solidFill>
                            <a:srgbClr val="1E293B"/>
                          </a:solidFill>
                        </a:rPr>
                        <a:t>40% / 20% / 20% / 20%</a:t>
                      </a:r>
                    </a:p>
                  </a:txBody>
                  <a:tcPr>
                    <a:solidFill>
                      <a:srgbClr val="FFFFFF"/>
                    </a:solidFill>
                  </a:tcPr>
                </a:tc>
                <a:tc>
                  <a:txBody>
                    <a:bodyPr lIns="73152" rIns="73152"/>
                    <a:lstStyle/>
                    <a:p>
                      <a:pPr algn="l"/>
                      <a:r>
                        <a:rPr sz="900" b="0">
                          <a:solidFill>
                            <a:srgbClr val="1E293B"/>
                          </a:solidFill>
                        </a:rPr>
                        <a:t>Same bands + required-agent safety floor</a:t>
                      </a:r>
                    </a:p>
                  </a:txBody>
                  <a:tcPr>
                    <a:solidFill>
                      <a:srgbClr val="FFFFFF"/>
                    </a:solidFill>
                  </a:tcPr>
                </a:tc>
              </a:tr>
            </a:tbl>
          </a:graphicData>
        </a:graphic>
      </p:graphicFrame>
      <p:sp>
        <p:nvSpPr>
          <p:cNvPr id="10" name="TextBox 9"/>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04</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Key Implementation Decisions</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Seven architecture decisions that define the product</a:t>
            </a:r>
          </a:p>
        </p:txBody>
      </p:sp>
      <p:sp>
        <p:nvSpPr>
          <p:cNvPr id="6" name="Rectangle 5"/>
          <p:cNvSpPr/>
          <p:nvPr/>
        </p:nvSpPr>
        <p:spPr>
          <a:xfrm>
            <a:off x="274320" y="1051560"/>
            <a:ext cx="502920" cy="2057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400" b="1">
                <a:solidFill>
                  <a:srgbClr val="00A890"/>
                </a:solidFill>
              </a:rPr>
              <a:t>A</a:t>
            </a:r>
          </a:p>
        </p:txBody>
      </p:sp>
      <p:sp>
        <p:nvSpPr>
          <p:cNvPr id="7" name="Rectangle 6"/>
          <p:cNvSpPr/>
          <p:nvPr/>
        </p:nvSpPr>
        <p:spPr>
          <a:xfrm>
            <a:off x="795527" y="1051560"/>
            <a:ext cx="45720" cy="2057400"/>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9536" y="1051560"/>
            <a:ext cx="2377440" cy="2057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73152"/>
          <a:lstStyle/>
          <a:p>
            <a:pPr algn="ctr"/>
            <a:r>
              <a:rPr sz="1000" b="1">
                <a:solidFill>
                  <a:srgbClr val="00A890"/>
                </a:solidFill>
              </a:rPr>
              <a:t>Common Agent Contract</a:t>
            </a:r>
          </a:p>
          <a:p>
            <a:pPr>
              <a:spcBef>
                <a:spcPts val="600"/>
              </a:spcBef>
            </a:pPr>
            <a:r>
              <a:rPr sz="850">
                <a:solidFill>
                  <a:srgbClr val="1E293B"/>
                </a:solidFill>
              </a:rPr>
              <a:t>Every agent returns the same JSON shape. Orchestrator is agent-agnostic and upgradeable without touching orchestration logic.</a:t>
            </a:r>
          </a:p>
        </p:txBody>
      </p:sp>
      <p:sp>
        <p:nvSpPr>
          <p:cNvPr id="9" name="Rectangle 8"/>
          <p:cNvSpPr/>
          <p:nvPr/>
        </p:nvSpPr>
        <p:spPr>
          <a:xfrm>
            <a:off x="3255263" y="1051560"/>
            <a:ext cx="502920" cy="2057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400" b="1">
                <a:solidFill>
                  <a:srgbClr val="B45B09"/>
                </a:solidFill>
              </a:rPr>
              <a:t>B</a:t>
            </a:r>
          </a:p>
        </p:txBody>
      </p:sp>
      <p:sp>
        <p:nvSpPr>
          <p:cNvPr id="10" name="Rectangle 9"/>
          <p:cNvSpPr/>
          <p:nvPr/>
        </p:nvSpPr>
        <p:spPr>
          <a:xfrm>
            <a:off x="3776472" y="1051560"/>
            <a:ext cx="45720" cy="2057400"/>
          </a:xfrm>
          <a:prstGeom prst="rect">
            <a:avLst/>
          </a:prstGeom>
          <a:solidFill>
            <a:srgbClr val="B45B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840479" y="1051560"/>
            <a:ext cx="2377440" cy="2057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73152"/>
          <a:lstStyle/>
          <a:p>
            <a:pPr algn="ctr"/>
            <a:r>
              <a:rPr sz="1000" b="1">
                <a:solidFill>
                  <a:srgbClr val="B45B09"/>
                </a:solidFill>
              </a:rPr>
              <a:t>Two-Level Orchestration</a:t>
            </a:r>
          </a:p>
          <a:p>
            <a:pPr>
              <a:spcBef>
                <a:spcPts val="600"/>
              </a:spcBef>
            </a:pPr>
            <a:r>
              <a:rPr sz="850">
                <a:solidFill>
                  <a:srgbClr val="1E293B"/>
                </a:solidFill>
              </a:rPr>
              <a:t>Level A = weighted scoring. Level B = hard-stop rules. A hard stop can never be averaged away by a good score in another dimension.</a:t>
            </a:r>
          </a:p>
        </p:txBody>
      </p:sp>
      <p:sp>
        <p:nvSpPr>
          <p:cNvPr id="12" name="Rectangle 11"/>
          <p:cNvSpPr/>
          <p:nvPr/>
        </p:nvSpPr>
        <p:spPr>
          <a:xfrm>
            <a:off x="6236207" y="1051560"/>
            <a:ext cx="502920" cy="2057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400" b="1">
                <a:solidFill>
                  <a:srgbClr val="DC2626"/>
                </a:solidFill>
              </a:rPr>
              <a:t>C</a:t>
            </a:r>
          </a:p>
        </p:txBody>
      </p:sp>
      <p:sp>
        <p:nvSpPr>
          <p:cNvPr id="13" name="Rectangle 12"/>
          <p:cNvSpPr/>
          <p:nvPr/>
        </p:nvSpPr>
        <p:spPr>
          <a:xfrm>
            <a:off x="6757416" y="1051560"/>
            <a:ext cx="45720" cy="2057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21423" y="1051560"/>
            <a:ext cx="2377440" cy="2057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73152"/>
          <a:lstStyle/>
          <a:p>
            <a:pPr algn="ctr"/>
            <a:r>
              <a:rPr sz="1000" b="1">
                <a:solidFill>
                  <a:srgbClr val="DC2626"/>
                </a:solidFill>
              </a:rPr>
              <a:t>LLM Never Produces risk_score</a:t>
            </a:r>
          </a:p>
          <a:p>
            <a:pPr>
              <a:spcBef>
                <a:spcPts val="600"/>
              </a:spcBef>
            </a:pPr>
            <a:r>
              <a:rPr sz="850">
                <a:solidFill>
                  <a:srgbClr val="1E293B"/>
                </a:solidFill>
              </a:rPr>
              <a:t>Claude drafts prose only. An LLM-generated compliance score cannot be audited or explained to a regulator. Enforced architecturally.</a:t>
            </a:r>
          </a:p>
        </p:txBody>
      </p:sp>
      <p:sp>
        <p:nvSpPr>
          <p:cNvPr id="15" name="Rectangle 14"/>
          <p:cNvSpPr/>
          <p:nvPr/>
        </p:nvSpPr>
        <p:spPr>
          <a:xfrm>
            <a:off x="9217152" y="1051560"/>
            <a:ext cx="502920" cy="2057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400" b="1">
                <a:solidFill>
                  <a:srgbClr val="0F2140"/>
                </a:solidFill>
              </a:rPr>
              <a:t>D</a:t>
            </a:r>
          </a:p>
        </p:txBody>
      </p:sp>
      <p:sp>
        <p:nvSpPr>
          <p:cNvPr id="16" name="Rectangle 15"/>
          <p:cNvSpPr/>
          <p:nvPr/>
        </p:nvSpPr>
        <p:spPr>
          <a:xfrm>
            <a:off x="9738360" y="1051560"/>
            <a:ext cx="45720" cy="2057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802368" y="1051560"/>
            <a:ext cx="2377440" cy="2057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73152"/>
          <a:lstStyle/>
          <a:p>
            <a:pPr algn="ctr"/>
            <a:r>
              <a:rPr sz="1000" b="1">
                <a:solidFill>
                  <a:srgbClr val="0F2140"/>
                </a:solidFill>
              </a:rPr>
              <a:t>Append-Only Audit Trail</a:t>
            </a:r>
          </a:p>
          <a:p>
            <a:pPr>
              <a:spcBef>
                <a:spcPts val="600"/>
              </a:spcBef>
            </a:pPr>
            <a:r>
              <a:rPr sz="850">
                <a:solidFill>
                  <a:srgbClr val="1E293B"/>
                </a:solidFill>
              </a:rPr>
              <a:t>audit_log() writes INSERT only — no UPDATE or DELETE ever. The audit trail is the primary compliance value proposition.</a:t>
            </a:r>
          </a:p>
        </p:txBody>
      </p:sp>
      <p:sp>
        <p:nvSpPr>
          <p:cNvPr id="18" name="Rectangle 17"/>
          <p:cNvSpPr/>
          <p:nvPr/>
        </p:nvSpPr>
        <p:spPr>
          <a:xfrm>
            <a:off x="274320" y="3383279"/>
            <a:ext cx="502920" cy="2057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400" b="1">
                <a:solidFill>
                  <a:srgbClr val="058C69"/>
                </a:solidFill>
              </a:rPr>
              <a:t>E</a:t>
            </a:r>
          </a:p>
        </p:txBody>
      </p:sp>
      <p:sp>
        <p:nvSpPr>
          <p:cNvPr id="19" name="Rectangle 18"/>
          <p:cNvSpPr/>
          <p:nvPr/>
        </p:nvSpPr>
        <p:spPr>
          <a:xfrm>
            <a:off x="795527" y="3383279"/>
            <a:ext cx="45720" cy="2057400"/>
          </a:xfrm>
          <a:prstGeom prst="rect">
            <a:avLst/>
          </a:prstGeom>
          <a:solidFill>
            <a:srgbClr val="05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59536" y="3383279"/>
            <a:ext cx="2377440" cy="2057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73152"/>
          <a:lstStyle/>
          <a:p>
            <a:pPr algn="ctr"/>
            <a:r>
              <a:rPr sz="1000" b="1">
                <a:solidFill>
                  <a:srgbClr val="058C69"/>
                </a:solidFill>
              </a:rPr>
              <a:t>Required-Agent Safety Floor</a:t>
            </a:r>
          </a:p>
          <a:p>
            <a:pPr>
              <a:spcBef>
                <a:spcPts val="600"/>
              </a:spcBef>
            </a:pPr>
            <a:r>
              <a:rPr sz="850">
                <a:solidFill>
                  <a:srgbClr val="1E293B"/>
                </a:solidFill>
              </a:rPr>
              <a:t>On 4-agent path: checks Sanctions + Customer Risk at 50/50. Can only raise severity — prevents score dilution from clean optional agents.</a:t>
            </a:r>
          </a:p>
        </p:txBody>
      </p:sp>
      <p:sp>
        <p:nvSpPr>
          <p:cNvPr id="21" name="Rectangle 20"/>
          <p:cNvSpPr/>
          <p:nvPr/>
        </p:nvSpPr>
        <p:spPr>
          <a:xfrm>
            <a:off x="3255263" y="3383279"/>
            <a:ext cx="502920" cy="2057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400" b="1">
                <a:solidFill>
                  <a:srgbClr val="475569"/>
                </a:solidFill>
              </a:rPr>
              <a:t>F</a:t>
            </a:r>
          </a:p>
        </p:txBody>
      </p:sp>
      <p:sp>
        <p:nvSpPr>
          <p:cNvPr id="22" name="Rectangle 21"/>
          <p:cNvSpPr/>
          <p:nvPr/>
        </p:nvSpPr>
        <p:spPr>
          <a:xfrm>
            <a:off x="3776472" y="3383279"/>
            <a:ext cx="45720" cy="20574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40479" y="3383279"/>
            <a:ext cx="2377440" cy="2057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73152"/>
          <a:lstStyle/>
          <a:p>
            <a:pPr algn="ctr"/>
            <a:r>
              <a:rPr sz="1000" b="1">
                <a:solidFill>
                  <a:srgbClr val="475569"/>
                </a:solidFill>
              </a:rPr>
              <a:t>CAPSTONE/DEMO Labels</a:t>
            </a:r>
          </a:p>
          <a:p>
            <a:pPr>
              <a:spcBef>
                <a:spcPts val="600"/>
              </a:spcBef>
            </a:pPr>
            <a:r>
              <a:rPr sz="850">
                <a:solidFill>
                  <a:srgbClr val="1E293B"/>
                </a:solidFill>
              </a:rPr>
              <a:t>All weights labelled as demo config. A customer cannot treat demo thresholds as validated compliance policy without independent review.</a:t>
            </a:r>
          </a:p>
        </p:txBody>
      </p:sp>
      <p:sp>
        <p:nvSpPr>
          <p:cNvPr id="24" name="Rectangle 23"/>
          <p:cNvSpPr/>
          <p:nvPr/>
        </p:nvSpPr>
        <p:spPr>
          <a:xfrm>
            <a:off x="6236207" y="3383279"/>
            <a:ext cx="502920" cy="2057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400" b="1">
                <a:solidFill>
                  <a:srgbClr val="6D28D9"/>
                </a:solidFill>
              </a:rPr>
              <a:t>G</a:t>
            </a:r>
          </a:p>
        </p:txBody>
      </p:sp>
      <p:sp>
        <p:nvSpPr>
          <p:cNvPr id="25" name="Rectangle 24"/>
          <p:cNvSpPr/>
          <p:nvPr/>
        </p:nvSpPr>
        <p:spPr>
          <a:xfrm>
            <a:off x="6757416" y="3383279"/>
            <a:ext cx="45720" cy="20574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21423" y="3383279"/>
            <a:ext cx="2377440" cy="2057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73152"/>
          <a:lstStyle/>
          <a:p>
            <a:pPr algn="ctr"/>
            <a:r>
              <a:rPr sz="1000" b="1">
                <a:solidFill>
                  <a:srgbClr val="6D28D9"/>
                </a:solidFill>
              </a:rPr>
              <a:t>Critical Failure Rule G1d</a:t>
            </a:r>
          </a:p>
          <a:p>
            <a:pPr>
              <a:spcBef>
                <a:spcPts val="600"/>
              </a:spcBef>
            </a:pPr>
            <a:r>
              <a:rPr sz="850">
                <a:solidFill>
                  <a:srgbClr val="1E293B"/>
                </a:solidFill>
              </a:rPr>
              <a:t>ubo_count == 0 AND kyc_status == expired → FAIL regardless of weighted score. Counterparty with unknown ownership + expired KYC is unconditional.</a:t>
            </a:r>
          </a:p>
        </p:txBody>
      </p:sp>
      <p:sp>
        <p:nvSpPr>
          <p:cNvPr id="27" name="Rectangle 26"/>
          <p:cNvSpPr/>
          <p:nvPr/>
        </p:nvSpPr>
        <p:spPr>
          <a:xfrm>
            <a:off x="274320" y="5413248"/>
            <a:ext cx="11612880" cy="56692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00C2A8"/>
                </a:solidFill>
              </a:rPr>
              <a:t>Decision C is the most important: the LLM never produces a risk score. This is enforced architecturally — no prompt or config can make Claude output a compliance recommendation. Deterministic agents score. Claude writes prose. The analyst decides.</a:t>
            </a:r>
          </a:p>
        </p:txBody>
      </p:sp>
      <p:sp>
        <p:nvSpPr>
          <p:cNvPr id="28" name="TextBox 27"/>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E8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3657600" cy="256032"/>
          </a:xfrm>
          <a:prstGeom prst="rect">
            <a:avLst/>
          </a:prstGeom>
          <a:noFill/>
        </p:spPr>
        <p:txBody>
          <a:bodyPr wrap="square">
            <a:spAutoFit/>
          </a:bodyPr>
          <a:lstStyle/>
          <a:p>
            <a:pPr algn="l"/>
            <a:r>
              <a:rPr sz="900" b="1">
                <a:solidFill>
                  <a:srgbClr val="DDC4FF"/>
                </a:solidFill>
              </a:rPr>
              <a:t>05  HOW AI WAS USED</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AI as Product Feature + AI as Development Tool</a:t>
            </a:r>
          </a:p>
        </p:txBody>
      </p:sp>
      <p:graphicFrame>
        <p:nvGraphicFramePr>
          <p:cNvPr id="5" name="Table 4"/>
          <p:cNvGraphicFramePr>
            <a:graphicFrameLocks noGrp="1"/>
          </p:cNvGraphicFramePr>
          <p:nvPr/>
        </p:nvGraphicFramePr>
        <p:xfrm>
          <a:off x="274320" y="1051560"/>
          <a:ext cx="11612880" cy="2907792"/>
        </p:xfrm>
        <a:graphic>
          <a:graphicData uri="http://schemas.openxmlformats.org/drawingml/2006/table">
            <a:tbl>
              <a:tblPr firstRow="1" bandRow="1">
                <a:tableStyleId>{5C22544A-7EE6-4342-B048-85BDC9FD1C3A}</a:tableStyleId>
              </a:tblPr>
              <a:tblGrid>
                <a:gridCol w="1828800"/>
                <a:gridCol w="1828800"/>
                <a:gridCol w="4251960"/>
                <a:gridCol w="3703320"/>
              </a:tblGrid>
              <a:tr h="484632">
                <a:tc>
                  <a:txBody>
                    <a:bodyPr lIns="73152" rIns="73152"/>
                    <a:lstStyle/>
                    <a:p>
                      <a:pPr algn="l"/>
                      <a:r>
                        <a:rPr sz="950" b="1">
                          <a:solidFill>
                            <a:srgbClr val="FFFFFF"/>
                          </a:solidFill>
                        </a:rPr>
                        <a:t>Project Phase</a:t>
                      </a:r>
                    </a:p>
                  </a:txBody>
                  <a:tcPr>
                    <a:solidFill>
                      <a:srgbClr val="0F2140"/>
                    </a:solidFill>
                  </a:tcPr>
                </a:tc>
                <a:tc>
                  <a:txBody>
                    <a:bodyPr lIns="73152" rIns="73152"/>
                    <a:lstStyle/>
                    <a:p>
                      <a:pPr algn="l"/>
                      <a:r>
                        <a:rPr sz="950" b="1">
                          <a:solidFill>
                            <a:srgbClr val="FFFFFF"/>
                          </a:solidFill>
                        </a:rPr>
                        <a:t>AI Tool</a:t>
                      </a:r>
                    </a:p>
                  </a:txBody>
                  <a:tcPr>
                    <a:solidFill>
                      <a:srgbClr val="0F2140"/>
                    </a:solidFill>
                  </a:tcPr>
                </a:tc>
                <a:tc>
                  <a:txBody>
                    <a:bodyPr lIns="73152" rIns="73152"/>
                    <a:lstStyle/>
                    <a:p>
                      <a:pPr algn="l"/>
                      <a:r>
                        <a:rPr sz="950" b="1">
                          <a:solidFill>
                            <a:srgbClr val="FFFFFF"/>
                          </a:solidFill>
                        </a:rPr>
                        <a:t>What It Did</a:t>
                      </a:r>
                    </a:p>
                  </a:txBody>
                  <a:tcPr>
                    <a:solidFill>
                      <a:srgbClr val="0F2140"/>
                    </a:solidFill>
                  </a:tcPr>
                </a:tc>
                <a:tc>
                  <a:txBody>
                    <a:bodyPr lIns="73152" rIns="73152"/>
                    <a:lstStyle/>
                    <a:p>
                      <a:pPr algn="l"/>
                      <a:r>
                        <a:rPr sz="950" b="1">
                          <a:solidFill>
                            <a:srgbClr val="FFFFFF"/>
                          </a:solidFill>
                        </a:rPr>
                        <a:t>Human Oversight Applied</a:t>
                      </a:r>
                    </a:p>
                  </a:txBody>
                  <a:tcPr>
                    <a:solidFill>
                      <a:srgbClr val="0F2140"/>
                    </a:solidFill>
                  </a:tcPr>
                </a:tc>
              </a:tr>
              <a:tr h="484632">
                <a:tc>
                  <a:txBody>
                    <a:bodyPr lIns="73152" rIns="73152"/>
                    <a:lstStyle/>
                    <a:p>
                      <a:pPr algn="l"/>
                      <a:r>
                        <a:rPr sz="900" b="1">
                          <a:solidFill>
                            <a:srgbClr val="0F2140"/>
                          </a:solidFill>
                        </a:rPr>
                        <a:t>Product Development</a:t>
                      </a:r>
                    </a:p>
                  </a:txBody>
                  <a:tcPr>
                    <a:solidFill>
                      <a:srgbClr val="F0F7FF"/>
                    </a:solidFill>
                  </a:tcPr>
                </a:tc>
                <a:tc>
                  <a:txBody>
                    <a:bodyPr lIns="73152" rIns="73152"/>
                    <a:lstStyle/>
                    <a:p>
                      <a:pPr algn="l"/>
                      <a:r>
                        <a:rPr sz="900" b="0">
                          <a:solidFill>
                            <a:srgbClr val="1E293B"/>
                          </a:solidFill>
                        </a:rPr>
                        <a:t>Claude Code (sonnet-4-6)</a:t>
                      </a:r>
                    </a:p>
                  </a:txBody>
                  <a:tcPr>
                    <a:solidFill>
                      <a:srgbClr val="F0F7FF"/>
                    </a:solidFill>
                  </a:tcPr>
                </a:tc>
                <a:tc>
                  <a:txBody>
                    <a:bodyPr lIns="73152" rIns="73152"/>
                    <a:lstStyle/>
                    <a:p>
                      <a:pPr algn="l"/>
                      <a:r>
                        <a:rPr sz="900" b="0">
                          <a:solidFill>
                            <a:srgbClr val="1E293B"/>
                          </a:solidFill>
                        </a:rPr>
                        <a:t>Built entire Flask app: 5 agents, Level A/B orchestration, SQLite schema, 155 tests, frontend JS</a:t>
                      </a:r>
                    </a:p>
                  </a:txBody>
                  <a:tcPr>
                    <a:solidFill>
                      <a:srgbClr val="F0F7FF"/>
                    </a:solidFill>
                  </a:tcPr>
                </a:tc>
                <a:tc>
                  <a:txBody>
                    <a:bodyPr lIns="73152" rIns="73152"/>
                    <a:lstStyle/>
                    <a:p>
                      <a:pPr algn="l"/>
                      <a:r>
                        <a:rPr sz="900" b="0">
                          <a:solidFill>
                            <a:srgbClr val="1E293B"/>
                          </a:solidFill>
                        </a:rPr>
                        <a:t>Architecture decisions; compliance logic review; Decision log A–G</a:t>
                      </a:r>
                    </a:p>
                  </a:txBody>
                  <a:tcPr>
                    <a:solidFill>
                      <a:srgbClr val="F0F7FF"/>
                    </a:solidFill>
                  </a:tcPr>
                </a:tc>
              </a:tr>
              <a:tr h="484632">
                <a:tc>
                  <a:txBody>
                    <a:bodyPr lIns="73152" rIns="73152"/>
                    <a:lstStyle/>
                    <a:p>
                      <a:pPr algn="l"/>
                      <a:r>
                        <a:rPr sz="900" b="1">
                          <a:solidFill>
                            <a:srgbClr val="0F2140"/>
                          </a:solidFill>
                        </a:rPr>
                        <a:t>In-Product Feature</a:t>
                      </a:r>
                    </a:p>
                  </a:txBody>
                  <a:tcPr>
                    <a:solidFill>
                      <a:srgbClr val="FFFFFF"/>
                    </a:solidFill>
                  </a:tcPr>
                </a:tc>
                <a:tc>
                  <a:txBody>
                    <a:bodyPr lIns="73152" rIns="73152"/>
                    <a:lstStyle/>
                    <a:p>
                      <a:pPr algn="l"/>
                      <a:r>
                        <a:rPr sz="900" b="0">
                          <a:solidFill>
                            <a:srgbClr val="1E293B"/>
                          </a:solidFill>
                        </a:rPr>
                        <a:t>Claude API (haiku-4-5)</a:t>
                      </a:r>
                    </a:p>
                  </a:txBody>
                  <a:tcPr>
                    <a:solidFill>
                      <a:srgbClr val="FFFFFF"/>
                    </a:solidFill>
                  </a:tcPr>
                </a:tc>
                <a:tc>
                  <a:txBody>
                    <a:bodyPr lIns="73152" rIns="73152"/>
                    <a:lstStyle/>
                    <a:p>
                      <a:pPr algn="l"/>
                      <a:r>
                        <a:rPr sz="900" b="0">
                          <a:solidFill>
                            <a:srgbClr val="1E293B"/>
                          </a:solidFill>
                        </a:rPr>
                        <a:t>Drafts disposition rationale prose per hit; analyst edits and submits under their own signature</a:t>
                      </a:r>
                    </a:p>
                  </a:txBody>
                  <a:tcPr>
                    <a:solidFill>
                      <a:srgbClr val="FFFFFF"/>
                    </a:solidFill>
                  </a:tcPr>
                </a:tc>
                <a:tc>
                  <a:txBody>
                    <a:bodyPr lIns="73152" rIns="73152"/>
                    <a:lstStyle/>
                    <a:p>
                      <a:pPr algn="l"/>
                      <a:r>
                        <a:rPr sz="900" b="0">
                          <a:solidFill>
                            <a:srgbClr val="1E293B"/>
                          </a:solidFill>
                        </a:rPr>
                        <a:t>Analyst reviews and owns the final submitted rationale — 100% human-signed</a:t>
                      </a:r>
                    </a:p>
                  </a:txBody>
                  <a:tcPr>
                    <a:solidFill>
                      <a:srgbClr val="FFFFFF"/>
                    </a:solidFill>
                  </a:tcPr>
                </a:tc>
              </a:tr>
              <a:tr h="484632">
                <a:tc>
                  <a:txBody>
                    <a:bodyPr lIns="73152" rIns="73152"/>
                    <a:lstStyle/>
                    <a:p>
                      <a:pPr algn="l"/>
                      <a:r>
                        <a:rPr sz="900" b="1">
                          <a:solidFill>
                            <a:srgbClr val="0F2140"/>
                          </a:solidFill>
                        </a:rPr>
                        <a:t>Market Research</a:t>
                      </a:r>
                    </a:p>
                  </a:txBody>
                  <a:tcPr>
                    <a:solidFill>
                      <a:srgbClr val="F0F7FF"/>
                    </a:solidFill>
                  </a:tcPr>
                </a:tc>
                <a:tc>
                  <a:txBody>
                    <a:bodyPr lIns="73152" rIns="73152"/>
                    <a:lstStyle/>
                    <a:p>
                      <a:pPr algn="l"/>
                      <a:r>
                        <a:rPr sz="900" b="0">
                          <a:solidFill>
                            <a:srgbClr val="1E293B"/>
                          </a:solidFill>
                        </a:rPr>
                        <a:t>Claude (research + synthesis)</a:t>
                      </a:r>
                    </a:p>
                  </a:txBody>
                  <a:tcPr>
                    <a:solidFill>
                      <a:srgbClr val="F0F7FF"/>
                    </a:solidFill>
                  </a:tcPr>
                </a:tc>
                <a:tc>
                  <a:txBody>
                    <a:bodyPr lIns="73152" rIns="73152"/>
                    <a:lstStyle/>
                    <a:p>
                      <a:pPr algn="l"/>
                      <a:r>
                        <a:rPr sz="900" b="0">
                          <a:solidFill>
                            <a:srgbClr val="1E293B"/>
                          </a:solidFill>
                        </a:rPr>
                        <a:t>Synthesised regulatory landscape; competitive teardown; adversarial verification of all statistics</a:t>
                      </a:r>
                    </a:p>
                  </a:txBody>
                  <a:tcPr>
                    <a:solidFill>
                      <a:srgbClr val="F0F7FF"/>
                    </a:solidFill>
                  </a:tcPr>
                </a:tc>
                <a:tc>
                  <a:txBody>
                    <a:bodyPr lIns="73152" rIns="73152"/>
                    <a:lstStyle/>
                    <a:p>
                      <a:pPr algn="l"/>
                      <a:r>
                        <a:rPr sz="900" b="0">
                          <a:solidFill>
                            <a:srgbClr val="1E293B"/>
                          </a:solidFill>
                        </a:rPr>
                        <a:t>Verified vs. primary RBI sources; flagged unverifiable claims → labelled [ASSUMPTION]</a:t>
                      </a:r>
                    </a:p>
                  </a:txBody>
                  <a:tcPr>
                    <a:solidFill>
                      <a:srgbClr val="F0F7FF"/>
                    </a:solidFill>
                  </a:tcPr>
                </a:tc>
              </a:tr>
              <a:tr h="484632">
                <a:tc>
                  <a:txBody>
                    <a:bodyPr lIns="73152" rIns="73152"/>
                    <a:lstStyle/>
                    <a:p>
                      <a:pPr algn="l"/>
                      <a:r>
                        <a:rPr sz="900" b="1">
                          <a:solidFill>
                            <a:srgbClr val="0F2140"/>
                          </a:solidFill>
                        </a:rPr>
                        <a:t>Need Analysis</a:t>
                      </a:r>
                    </a:p>
                  </a:txBody>
                  <a:tcPr>
                    <a:solidFill>
                      <a:srgbClr val="FFFFFF"/>
                    </a:solidFill>
                  </a:tcPr>
                </a:tc>
                <a:tc>
                  <a:txBody>
                    <a:bodyPr lIns="73152" rIns="73152"/>
                    <a:lstStyle/>
                    <a:p>
                      <a:pPr algn="l"/>
                      <a:r>
                        <a:rPr sz="900" b="0">
                          <a:solidFill>
                            <a:srgbClr val="1E293B"/>
                          </a:solidFill>
                        </a:rPr>
                        <a:t>Claude (structuring + stress-test)</a:t>
                      </a:r>
                    </a:p>
                  </a:txBody>
                  <a:tcPr>
                    <a:solidFill>
                      <a:srgbClr val="FFFFFF"/>
                    </a:solidFill>
                  </a:tcPr>
                </a:tc>
                <a:tc>
                  <a:txBody>
                    <a:bodyPr lIns="73152" rIns="73152"/>
                    <a:lstStyle/>
                    <a:p>
                      <a:pPr algn="l"/>
                      <a:r>
                        <a:rPr sz="900" b="0">
                          <a:solidFill>
                            <a:srgbClr val="1E293B"/>
                          </a:solidFill>
                        </a:rPr>
                        <a:t>Pain-point register; MoSCoW/Kano/RICE consistency check; build-sequence dependency review</a:t>
                      </a:r>
                    </a:p>
                  </a:txBody>
                  <a:tcPr>
                    <a:solidFill>
                      <a:srgbClr val="FFFFFF"/>
                    </a:solidFill>
                  </a:tcPr>
                </a:tc>
                <a:tc>
                  <a:txBody>
                    <a:bodyPr lIns="73152" rIns="73152"/>
                    <a:lstStyle/>
                    <a:p>
                      <a:pPr algn="l"/>
                      <a:r>
                        <a:rPr sz="900" b="0">
                          <a:solidFill>
                            <a:srgbClr val="1E293B"/>
                          </a:solidFill>
                        </a:rPr>
                        <a:t>Prioritisation calls were human-made; AI reclassified Reg Intel from Must Have to Could Have</a:t>
                      </a:r>
                    </a:p>
                  </a:txBody>
                  <a:tcPr>
                    <a:solidFill>
                      <a:srgbClr val="FFFFFF"/>
                    </a:solidFill>
                  </a:tcPr>
                </a:tc>
              </a:tr>
              <a:tr h="484632">
                <a:tc>
                  <a:txBody>
                    <a:bodyPr lIns="73152" rIns="73152"/>
                    <a:lstStyle/>
                    <a:p>
                      <a:pPr algn="l"/>
                      <a:r>
                        <a:rPr sz="900" b="1">
                          <a:solidFill>
                            <a:srgbClr val="0F2140"/>
                          </a:solidFill>
                        </a:rPr>
                        <a:t>GTM Strategy</a:t>
                      </a:r>
                    </a:p>
                  </a:txBody>
                  <a:tcPr>
                    <a:solidFill>
                      <a:srgbClr val="F0F7FF"/>
                    </a:solidFill>
                  </a:tcPr>
                </a:tc>
                <a:tc>
                  <a:txBody>
                    <a:bodyPr lIns="73152" rIns="73152"/>
                    <a:lstStyle/>
                    <a:p>
                      <a:pPr algn="l"/>
                      <a:r>
                        <a:rPr sz="900" b="0">
                          <a:solidFill>
                            <a:srgbClr val="1E293B"/>
                          </a:solidFill>
                        </a:rPr>
                        <a:t>Claude (drafting + adversarial)</a:t>
                      </a:r>
                    </a:p>
                  </a:txBody>
                  <a:tcPr>
                    <a:solidFill>
                      <a:srgbClr val="F0F7FF"/>
                    </a:solidFill>
                  </a:tcPr>
                </a:tc>
                <a:tc>
                  <a:txBody>
                    <a:bodyPr lIns="73152" rIns="73152"/>
                    <a:lstStyle/>
                    <a:p>
                      <a:pPr algn="l"/>
                      <a:r>
                        <a:rPr sz="900" b="0">
                          <a:solidFill>
                            <a:srgbClr val="1E293B"/>
                          </a:solidFill>
                        </a:rPr>
                        <a:t>Category strategy, narrative hooks, pricing tiers, risk register, channel and launch plan drafted</a:t>
                      </a:r>
                    </a:p>
                  </a:txBody>
                  <a:tcPr>
                    <a:solidFill>
                      <a:srgbClr val="F0F7FF"/>
                    </a:solidFill>
                  </a:tcPr>
                </a:tc>
                <a:tc>
                  <a:txBody>
                    <a:bodyPr lIns="73152" rIns="73152"/>
                    <a:lstStyle/>
                    <a:p>
                      <a:pPr algn="l"/>
                      <a:r>
                        <a:rPr sz="900" b="0">
                          <a:solidFill>
                            <a:srgbClr val="1E293B"/>
                          </a:solidFill>
                        </a:rPr>
                        <a:t>Adversarial pass removed 2 unverifiable claims; ICP and pricing corrected after reading docs</a:t>
                      </a:r>
                    </a:p>
                  </a:txBody>
                  <a:tcPr>
                    <a:solidFill>
                      <a:srgbClr val="F0F7FF"/>
                    </a:solidFill>
                  </a:tcPr>
                </a:tc>
              </a:tr>
            </a:tbl>
          </a:graphicData>
        </a:graphic>
      </p:graphicFrame>
      <p:sp>
        <p:nvSpPr>
          <p:cNvPr id="6" name="Rectangle 5"/>
          <p:cNvSpPr/>
          <p:nvPr/>
        </p:nvSpPr>
        <p:spPr>
          <a:xfrm>
            <a:off x="274320" y="4114800"/>
            <a:ext cx="11612880" cy="658368"/>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00" b="0">
                <a:solidFill>
                  <a:srgbClr val="6D28D9"/>
                </a:solidFill>
              </a:rPr>
              <a:t>REPRESENTATIVE PROMPT (Hard-Stop Rule): "Implement Level B. Each rule can only RAISE severity. Rule 1: sanctions FAIL → force ESCALATE. Return recommendation_source = HARD_STOP_OVERRIDE if forced_rec != APPROVE and SEVERITY[forced_rec] &gt;= SEVERITY[band]. Return triggered_rules list naming every rule that fired."</a:t>
            </a:r>
          </a:p>
        </p:txBody>
      </p:sp>
      <p:sp>
        <p:nvSpPr>
          <p:cNvPr id="7" name="Rectangle 6"/>
          <p:cNvSpPr/>
          <p:nvPr/>
        </p:nvSpPr>
        <p:spPr>
          <a:xfrm>
            <a:off x="274320" y="4919472"/>
            <a:ext cx="11612880" cy="621792"/>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00" b="0">
                <a:solidFill>
                  <a:srgbClr val="1E293B"/>
                </a:solidFill>
              </a:rPr>
              <a:t>MOST IMPORTANT CORRECTION: First draft stored recommendation_source = WEIGHTED_SCORE even when a hard-stop also fired, if the band happened to match. Human review found this made the audit trail unable to distinguish natural vs. forced ESCALATE. Fix: explicit severity comparison before setting the field.</a:t>
            </a:r>
          </a:p>
        </p:txBody>
      </p:sp>
      <p:sp>
        <p:nvSpPr>
          <p:cNvPr id="8" name="TextBox 7"/>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E8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4C1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5486400" cy="256032"/>
          </a:xfrm>
          <a:prstGeom prst="rect">
            <a:avLst/>
          </a:prstGeom>
          <a:noFill/>
        </p:spPr>
        <p:txBody>
          <a:bodyPr wrap="square">
            <a:spAutoFit/>
          </a:bodyPr>
          <a:lstStyle/>
          <a:p>
            <a:pPr algn="l"/>
            <a:r>
              <a:rPr sz="900" b="1">
                <a:solidFill>
                  <a:srgbClr val="DDC4FF"/>
                </a:solidFill>
              </a:rPr>
              <a:t>05  HOW AI WAS USED — RESEARCH &amp; GTM</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Representative Prompts and What They Changed</a:t>
            </a:r>
          </a:p>
        </p:txBody>
      </p:sp>
      <p:sp>
        <p:nvSpPr>
          <p:cNvPr id="5" name="Rectangle 4"/>
          <p:cNvSpPr/>
          <p:nvPr/>
        </p:nvSpPr>
        <p:spPr>
          <a:xfrm>
            <a:off x="274320" y="1078992"/>
            <a:ext cx="1572768" cy="1627632"/>
          </a:xfrm>
          <a:prstGeom prst="rect">
            <a:avLst/>
          </a:prstGeom>
          <a:solidFill>
            <a:srgbClr val="D8B4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1">
                <a:solidFill>
                  <a:srgbClr val="6D28D9"/>
                </a:solidFill>
              </a:rPr>
              <a:t>Market Research
Adversarial Verification</a:t>
            </a:r>
          </a:p>
        </p:txBody>
      </p:sp>
      <p:sp>
        <p:nvSpPr>
          <p:cNvPr id="6" name="Rectangle 5"/>
          <p:cNvSpPr/>
          <p:nvPr/>
        </p:nvSpPr>
        <p:spPr>
          <a:xfrm>
            <a:off x="1883664" y="1078992"/>
            <a:ext cx="6473952" cy="1627632"/>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00" b="0">
                <a:solidFill>
                  <a:srgbClr val="1E293B"/>
                </a:solidFill>
              </a:rPr>
              <a:t>For each market statistic in the first draft, attempt independent corroboration. Return three lists: VERIFIED (with source), PARTIALLY CORROBORATED (nearest real figure), UNVERIFIABLE (flag — do not delete). Where a draft figure conflicts with your findings, label it DISCREPANCY and state which direction the error runs.</a:t>
            </a:r>
          </a:p>
        </p:txBody>
      </p:sp>
      <p:sp>
        <p:nvSpPr>
          <p:cNvPr id="7" name="Rectangle 6"/>
          <p:cNvSpPr/>
          <p:nvPr/>
        </p:nvSpPr>
        <p:spPr>
          <a:xfrm>
            <a:off x="274320" y="1078992"/>
            <a:ext cx="64008" cy="162763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94192" y="1078992"/>
            <a:ext cx="3520440" cy="1627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850" b="0">
                <a:solidFill>
                  <a:srgbClr val="1E293B"/>
                </a:solidFill>
              </a:rPr>
              <a:t>WHAT CHANGED:
Removed USD 5.8B global AML market figure — ranges across research houses are USD 3.1B to USD 18.8B. Replaced with bottom-up estimate from RBI licensing data, which is more accurate and more relevant.</a:t>
            </a:r>
          </a:p>
        </p:txBody>
      </p:sp>
      <p:sp>
        <p:nvSpPr>
          <p:cNvPr id="9" name="Rectangle 8"/>
          <p:cNvSpPr/>
          <p:nvPr/>
        </p:nvSpPr>
        <p:spPr>
          <a:xfrm>
            <a:off x="8394192" y="1078992"/>
            <a:ext cx="54864" cy="1627632"/>
          </a:xfrm>
          <a:prstGeom prst="rect">
            <a:avLst/>
          </a:prstGeom>
          <a:solidFill>
            <a:srgbClr val="05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907791"/>
            <a:ext cx="1572768" cy="1627632"/>
          </a:xfrm>
          <a:prstGeom prst="rect">
            <a:avLst/>
          </a:prstGeom>
          <a:solidFill>
            <a:srgbClr val="D8B4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1">
                <a:solidFill>
                  <a:srgbClr val="6D28D9"/>
                </a:solidFill>
              </a:rPr>
              <a:t>GTM Strategy
Category Stress-Test</a:t>
            </a:r>
          </a:p>
        </p:txBody>
      </p:sp>
      <p:sp>
        <p:nvSpPr>
          <p:cNvPr id="11" name="Rectangle 10"/>
          <p:cNvSpPr/>
          <p:nvPr/>
        </p:nvSpPr>
        <p:spPr>
          <a:xfrm>
            <a:off x="1883664" y="2907791"/>
            <a:ext cx="6473952" cy="1627632"/>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00" b="0">
                <a:solidFill>
                  <a:srgbClr val="1E293B"/>
                </a:solidFill>
              </a:rPr>
              <a:t>Act as a positioning reviewer hostile to this document. Find: (1) claims that are unverified, (2) claims contradicted by our own product documentation, (3) category claims an incumbent could make with equal justification. Classify each MUST-FIX or NICE-TO-FIX. Finish with APPROVE / REVISE / RETHINK.</a:t>
            </a:r>
          </a:p>
        </p:txBody>
      </p:sp>
      <p:sp>
        <p:nvSpPr>
          <p:cNvPr id="12" name="Rectangle 11"/>
          <p:cNvSpPr/>
          <p:nvPr/>
        </p:nvSpPr>
        <p:spPr>
          <a:xfrm>
            <a:off x="274320" y="2907791"/>
            <a:ext cx="64008" cy="162763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4192" y="2907791"/>
            <a:ext cx="3520440" cy="1627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850" b="0">
                <a:solidFill>
                  <a:srgbClr val="1E293B"/>
                </a:solidFill>
              </a:rPr>
              <a:t>WHAT CHANGED:
Removed 'real-time adverse media screening' claim — the current build has no live web scraping. Removed unverifiable competitor price anchor — replaced with analyst daily-rate anchor (verifiable and more persuasive to the MLRO buyer).</a:t>
            </a:r>
          </a:p>
        </p:txBody>
      </p:sp>
      <p:sp>
        <p:nvSpPr>
          <p:cNvPr id="14" name="Rectangle 13"/>
          <p:cNvSpPr/>
          <p:nvPr/>
        </p:nvSpPr>
        <p:spPr>
          <a:xfrm>
            <a:off x="8394192" y="2907791"/>
            <a:ext cx="54864" cy="1627632"/>
          </a:xfrm>
          <a:prstGeom prst="rect">
            <a:avLst/>
          </a:prstGeom>
          <a:solidFill>
            <a:srgbClr val="05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4736592"/>
            <a:ext cx="1572768" cy="1627632"/>
          </a:xfrm>
          <a:prstGeom prst="rect">
            <a:avLst/>
          </a:prstGeom>
          <a:solidFill>
            <a:srgbClr val="D8B4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1">
                <a:solidFill>
                  <a:srgbClr val="6D28D9"/>
                </a:solidFill>
              </a:rPr>
              <a:t>Need Analysis
Requirements Prioritisation</a:t>
            </a:r>
          </a:p>
        </p:txBody>
      </p:sp>
      <p:sp>
        <p:nvSpPr>
          <p:cNvPr id="16" name="Rectangle 15"/>
          <p:cNvSpPr/>
          <p:nvPr/>
        </p:nvSpPr>
        <p:spPr>
          <a:xfrm>
            <a:off x="1883664" y="4736592"/>
            <a:ext cx="6473952" cy="1627632"/>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00" b="0">
                <a:solidFill>
                  <a:srgbClr val="1E293B"/>
                </a:solidFill>
              </a:rPr>
              <a:t>Apply MoSCoW, Kano, and RICE independently to this list. Where the three models disagree, say so explicitly and explain what the disagreement reveals. Do not reconcile them into one composite score. Propose a build sequence that respects technical dependencies even where that conflicts with the RICE ranking.</a:t>
            </a:r>
          </a:p>
        </p:txBody>
      </p:sp>
      <p:sp>
        <p:nvSpPr>
          <p:cNvPr id="17" name="Rectangle 16"/>
          <p:cNvSpPr/>
          <p:nvPr/>
        </p:nvSpPr>
        <p:spPr>
          <a:xfrm>
            <a:off x="274320" y="4736592"/>
            <a:ext cx="64008" cy="162763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4192" y="4736592"/>
            <a:ext cx="3520440" cy="1627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850" b="0">
                <a:solidFill>
                  <a:srgbClr val="1E293B"/>
                </a:solidFill>
              </a:rPr>
              <a:t>WHAT CHANGED:
Regulatory Intelligence reclassified from Must Have to Could Have after failing to name a pain it retired that the other four agents did not already cover. Moved outside the scoring pipeline entirely.</a:t>
            </a:r>
          </a:p>
        </p:txBody>
      </p:sp>
      <p:sp>
        <p:nvSpPr>
          <p:cNvPr id="19" name="Rectangle 18"/>
          <p:cNvSpPr/>
          <p:nvPr/>
        </p:nvSpPr>
        <p:spPr>
          <a:xfrm>
            <a:off x="8394192" y="4736592"/>
            <a:ext cx="54864" cy="1627632"/>
          </a:xfrm>
          <a:prstGeom prst="rect">
            <a:avLst/>
          </a:prstGeom>
          <a:solidFill>
            <a:srgbClr val="05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6492240"/>
            <a:ext cx="11612880" cy="256032"/>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900" b="0">
                <a:solidFill>
                  <a:srgbClr val="6D28D9"/>
                </a:solidFill>
              </a:rPr>
              <a:t>AI was always challenged, not trusted. Every AI output that reached a slide was verified against a primary source or explicitly labelled [ASSUMPTION].</a:t>
            </a:r>
          </a:p>
        </p:txBody>
      </p:sp>
      <p:sp>
        <p:nvSpPr>
          <p:cNvPr id="21" name="TextBox 20"/>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06</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Go-To-Market Strategy</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Category strategy · beachhead ICP · the narrative</a:t>
            </a:r>
          </a:p>
        </p:txBody>
      </p:sp>
      <p:sp>
        <p:nvSpPr>
          <p:cNvPr id="6" name="Rectangle 5"/>
          <p:cNvSpPr/>
          <p:nvPr/>
        </p:nvSpPr>
        <p:spPr>
          <a:xfrm>
            <a:off x="274320" y="1051560"/>
            <a:ext cx="5532120" cy="41148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000" b="1">
                <a:solidFill>
                  <a:srgbClr val="00C2A8"/>
                </a:solidFill>
              </a:rPr>
              <a:t>THE CATEGORY WE CREATE</a:t>
            </a:r>
          </a:p>
        </p:txBody>
      </p:sp>
      <p:sp>
        <p:nvSpPr>
          <p:cNvPr id="7" name="Rectangle 6"/>
          <p:cNvSpPr/>
          <p:nvPr/>
        </p:nvSpPr>
        <p:spPr>
          <a:xfrm>
            <a:off x="274320" y="1481328"/>
            <a:ext cx="5532120" cy="457200"/>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300" b="1">
                <a:solidFill>
                  <a:srgbClr val="0F2140"/>
                </a:solidFill>
              </a:rPr>
              <a:t>Evidence-First Compliance Workbench</a:t>
            </a:r>
          </a:p>
        </p:txBody>
      </p:sp>
      <p:graphicFrame>
        <p:nvGraphicFramePr>
          <p:cNvPr id="8" name="Table 7"/>
          <p:cNvGraphicFramePr>
            <a:graphicFrameLocks noGrp="1"/>
          </p:cNvGraphicFramePr>
          <p:nvPr/>
        </p:nvGraphicFramePr>
        <p:xfrm>
          <a:off x="274320" y="1993392"/>
          <a:ext cx="5532119" cy="1325880"/>
        </p:xfrm>
        <a:graphic>
          <a:graphicData uri="http://schemas.openxmlformats.org/drawingml/2006/table">
            <a:tbl>
              <a:tblPr firstRow="1" bandRow="1">
                <a:tableStyleId>{5C22544A-7EE6-4342-B048-85BDC9FD1C3A}</a:tableStyleId>
              </a:tblPr>
              <a:tblGrid>
                <a:gridCol w="2084831"/>
                <a:gridCol w="3447288"/>
              </a:tblGrid>
              <a:tr h="441960">
                <a:tc>
                  <a:txBody>
                    <a:bodyPr lIns="73152" rIns="73152"/>
                    <a:lstStyle/>
                    <a:p>
                      <a:pPr algn="l"/>
                      <a:r>
                        <a:rPr sz="950" b="1">
                          <a:solidFill>
                            <a:srgbClr val="FFFFFF"/>
                          </a:solidFill>
                        </a:rPr>
                        <a:t>Framing Rejected</a:t>
                      </a:r>
                    </a:p>
                  </a:txBody>
                  <a:tcPr>
                    <a:solidFill>
                      <a:srgbClr val="0F2140"/>
                    </a:solidFill>
                  </a:tcPr>
                </a:tc>
                <a:tc>
                  <a:txBody>
                    <a:bodyPr lIns="73152" rIns="73152"/>
                    <a:lstStyle/>
                    <a:p>
                      <a:pPr algn="l"/>
                      <a:r>
                        <a:rPr sz="950" b="1">
                          <a:solidFill>
                            <a:srgbClr val="FFFFFF"/>
                          </a:solidFill>
                        </a:rPr>
                        <a:t>Why</a:t>
                      </a:r>
                    </a:p>
                  </a:txBody>
                  <a:tcPr>
                    <a:solidFill>
                      <a:srgbClr val="0F2140"/>
                    </a:solidFill>
                  </a:tcPr>
                </a:tc>
              </a:tr>
              <a:tr h="441960">
                <a:tc>
                  <a:txBody>
                    <a:bodyPr lIns="73152" rIns="73152"/>
                    <a:lstStyle/>
                    <a:p>
                      <a:pPr algn="l"/>
                      <a:r>
                        <a:rPr sz="900" b="1">
                          <a:solidFill>
                            <a:srgbClr val="0F2140"/>
                          </a:solidFill>
                        </a:rPr>
                        <a:t>"AI-powered AML tool"</a:t>
                      </a:r>
                    </a:p>
                  </a:txBody>
                  <a:tcPr>
                    <a:solidFill>
                      <a:srgbClr val="F0F7FF"/>
                    </a:solidFill>
                  </a:tcPr>
                </a:tc>
                <a:tc>
                  <a:txBody>
                    <a:bodyPr lIns="73152" rIns="73152"/>
                    <a:lstStyle/>
                    <a:p>
                      <a:pPr algn="l"/>
                      <a:r>
                        <a:rPr sz="900" b="0">
                          <a:solidFill>
                            <a:srgbClr val="1E293B"/>
                          </a:solidFill>
                        </a:rPr>
                        <a:t>Invites comparison with Oracle FCCM on their terms. We lose.</a:t>
                      </a:r>
                    </a:p>
                  </a:txBody>
                  <a:tcPr>
                    <a:solidFill>
                      <a:srgbClr val="F0F7FF"/>
                    </a:solidFill>
                  </a:tcPr>
                </a:tc>
              </a:tr>
              <a:tr h="441960">
                <a:tc>
                  <a:txBody>
                    <a:bodyPr lIns="73152" rIns="73152"/>
                    <a:lstStyle/>
                    <a:p>
                      <a:pPr algn="l"/>
                      <a:r>
                        <a:rPr sz="900" b="1">
                          <a:solidFill>
                            <a:srgbClr val="0F2140"/>
                          </a:solidFill>
                        </a:rPr>
                        <a:t>"Watchlist screening tool"</a:t>
                      </a:r>
                    </a:p>
                  </a:txBody>
                  <a:tcPr>
                    <a:solidFill>
                      <a:srgbClr val="FFFFFF"/>
                    </a:solidFill>
                  </a:tcPr>
                </a:tc>
                <a:tc>
                  <a:txBody>
                    <a:bodyPr lIns="73152" rIns="73152"/>
                    <a:lstStyle/>
                    <a:p>
                      <a:pPr algn="l"/>
                      <a:r>
                        <a:rPr sz="900" b="0">
                          <a:solidFill>
                            <a:srgbClr val="1E293B"/>
                          </a:solidFill>
                        </a:rPr>
                        <a:t>Positions us as a data provider. The value is the workflow + audit trail.</a:t>
                      </a:r>
                    </a:p>
                  </a:txBody>
                  <a:tcPr>
                    <a:solidFill>
                      <a:srgbClr val="FFFFFF"/>
                    </a:solidFill>
                  </a:tcPr>
                </a:tc>
              </a:tr>
            </a:tbl>
          </a:graphicData>
        </a:graphic>
      </p:graphicFrame>
      <p:sp>
        <p:nvSpPr>
          <p:cNvPr id="9" name="Rectangle 8"/>
          <p:cNvSpPr/>
          <p:nvPr/>
        </p:nvSpPr>
        <p:spPr>
          <a:xfrm>
            <a:off x="274320" y="3401568"/>
            <a:ext cx="64008" cy="62179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3401568"/>
            <a:ext cx="5440680" cy="621792"/>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950">
                <a:solidFill>
                  <a:srgbClr val="1E293B"/>
                </a:solidFill>
              </a:rPr>
              <a:t>BEACHHEAD ICP: RBI PA / AD Category-II licence  ·  1–5 compliance analysts  ·  40+ alerts/day  ·  UAE, Singapore or US corridor  ·  No dedicated screening tool</a:t>
            </a:r>
          </a:p>
        </p:txBody>
      </p:sp>
      <p:graphicFrame>
        <p:nvGraphicFramePr>
          <p:cNvPr id="11" name="Table 10"/>
          <p:cNvGraphicFramePr>
            <a:graphicFrameLocks noGrp="1"/>
          </p:cNvGraphicFramePr>
          <p:nvPr/>
        </p:nvGraphicFramePr>
        <p:xfrm>
          <a:off x="6108192" y="1051560"/>
          <a:ext cx="5806440" cy="2148840"/>
        </p:xfrm>
        <a:graphic>
          <a:graphicData uri="http://schemas.openxmlformats.org/drawingml/2006/table">
            <a:tbl>
              <a:tblPr firstRow="1" bandRow="1">
                <a:tableStyleId>{5C22544A-7EE6-4342-B048-85BDC9FD1C3A}</a:tableStyleId>
              </a:tblPr>
              <a:tblGrid>
                <a:gridCol w="1481328"/>
                <a:gridCol w="2606040"/>
                <a:gridCol w="1719072"/>
              </a:tblGrid>
              <a:tr h="537210">
                <a:tc>
                  <a:txBody>
                    <a:bodyPr lIns="73152" rIns="73152"/>
                    <a:lstStyle/>
                    <a:p>
                      <a:pPr algn="l"/>
                      <a:r>
                        <a:rPr sz="950" b="1">
                          <a:solidFill>
                            <a:srgbClr val="FFFFFF"/>
                          </a:solidFill>
                        </a:rPr>
                        <a:t>Audience</a:t>
                      </a:r>
                    </a:p>
                  </a:txBody>
                  <a:tcPr>
                    <a:solidFill>
                      <a:srgbClr val="0F2140"/>
                    </a:solidFill>
                  </a:tcPr>
                </a:tc>
                <a:tc>
                  <a:txBody>
                    <a:bodyPr lIns="73152" rIns="73152"/>
                    <a:lstStyle/>
                    <a:p>
                      <a:pPr algn="l"/>
                      <a:r>
                        <a:rPr sz="950" b="1">
                          <a:solidFill>
                            <a:srgbClr val="FFFFFF"/>
                          </a:solidFill>
                        </a:rPr>
                        <a:t>The Hook</a:t>
                      </a:r>
                    </a:p>
                  </a:txBody>
                  <a:tcPr>
                    <a:solidFill>
                      <a:srgbClr val="0F2140"/>
                    </a:solidFill>
                  </a:tcPr>
                </a:tc>
                <a:tc>
                  <a:txBody>
                    <a:bodyPr lIns="73152" rIns="73152"/>
                    <a:lstStyle/>
                    <a:p>
                      <a:pPr algn="l"/>
                      <a:r>
                        <a:rPr sz="950" b="1">
                          <a:solidFill>
                            <a:srgbClr val="FFFFFF"/>
                          </a:solidFill>
                        </a:rPr>
                        <a:t>Proof Point</a:t>
                      </a:r>
                    </a:p>
                  </a:txBody>
                  <a:tcPr>
                    <a:solidFill>
                      <a:srgbClr val="0F2140"/>
                    </a:solidFill>
                  </a:tcPr>
                </a:tc>
              </a:tr>
              <a:tr h="537210">
                <a:tc>
                  <a:txBody>
                    <a:bodyPr lIns="73152" rIns="73152"/>
                    <a:lstStyle/>
                    <a:p>
                      <a:pPr algn="l"/>
                      <a:r>
                        <a:rPr sz="900" b="1">
                          <a:solidFill>
                            <a:srgbClr val="0F2140"/>
                          </a:solidFill>
                        </a:rPr>
                        <a:t>Analyst (Priya)</a:t>
                      </a:r>
                    </a:p>
                  </a:txBody>
                  <a:tcPr>
                    <a:solidFill>
                      <a:srgbClr val="F0F7FF"/>
                    </a:solidFill>
                  </a:tcPr>
                </a:tc>
                <a:tc>
                  <a:txBody>
                    <a:bodyPr lIns="73152" rIns="73152"/>
                    <a:lstStyle/>
                    <a:p>
                      <a:pPr algn="l"/>
                      <a:r>
                        <a:rPr sz="900" b="0">
                          <a:solidFill>
                            <a:srgbClr val="1E293B"/>
                          </a:solidFill>
                        </a:rPr>
                        <a:t>"See why it matched. Clear the noise. Every decision saved automatically."</a:t>
                      </a:r>
                    </a:p>
                  </a:txBody>
                  <a:tcPr>
                    <a:solidFill>
                      <a:srgbClr val="F0F7FF"/>
                    </a:solidFill>
                  </a:tcPr>
                </a:tc>
                <a:tc>
                  <a:txBody>
                    <a:bodyPr lIns="73152" rIns="73152"/>
                    <a:lstStyle/>
                    <a:p>
                      <a:pPr algn="l"/>
                      <a:r>
                        <a:rPr sz="900" b="0">
                          <a:solidFill>
                            <a:srgbClr val="1E293B"/>
                          </a:solidFill>
                        </a:rPr>
                        <a:t>Evidence card + AI rationale draft + audit trail</a:t>
                      </a:r>
                    </a:p>
                  </a:txBody>
                  <a:tcPr>
                    <a:solidFill>
                      <a:srgbClr val="F0F7FF"/>
                    </a:solidFill>
                  </a:tcPr>
                </a:tc>
              </a:tr>
              <a:tr h="537210">
                <a:tc>
                  <a:txBody>
                    <a:bodyPr lIns="73152" rIns="73152"/>
                    <a:lstStyle/>
                    <a:p>
                      <a:pPr algn="l"/>
                      <a:r>
                        <a:rPr sz="900" b="1">
                          <a:solidFill>
                            <a:srgbClr val="0F2140"/>
                          </a:solidFill>
                        </a:rPr>
                        <a:t>MLRO</a:t>
                      </a:r>
                    </a:p>
                  </a:txBody>
                  <a:tcPr>
                    <a:solidFill>
                      <a:srgbClr val="FFFFFF"/>
                    </a:solidFill>
                  </a:tcPr>
                </a:tc>
                <a:tc>
                  <a:txBody>
                    <a:bodyPr lIns="73152" rIns="73152"/>
                    <a:lstStyle/>
                    <a:p>
                      <a:pPr algn="l"/>
                      <a:r>
                        <a:rPr sz="900" b="0">
                          <a:solidFill>
                            <a:srgbClr val="1E293B"/>
                          </a:solidFill>
                        </a:rPr>
                        <a:t>"Audit-ready in 60 days. Every decision documented from day one."</a:t>
                      </a:r>
                    </a:p>
                  </a:txBody>
                  <a:tcPr>
                    <a:solidFill>
                      <a:srgbClr val="FFFFFF"/>
                    </a:solidFill>
                  </a:tcPr>
                </a:tc>
                <a:tc>
                  <a:txBody>
                    <a:bodyPr lIns="73152" rIns="73152"/>
                    <a:lstStyle/>
                    <a:p>
                      <a:pPr algn="l"/>
                      <a:r>
                        <a:rPr sz="900" b="0">
                          <a:solidFill>
                            <a:srgbClr val="1E293B"/>
                          </a:solidFill>
                        </a:rPr>
                        <a:t>100% rationale coverage; exportable compliance record</a:t>
                      </a:r>
                    </a:p>
                  </a:txBody>
                  <a:tcPr>
                    <a:solidFill>
                      <a:srgbClr val="FFFFFF"/>
                    </a:solidFill>
                  </a:tcPr>
                </a:tc>
              </a:tr>
              <a:tr h="537210">
                <a:tc>
                  <a:txBody>
                    <a:bodyPr lIns="73152" rIns="73152"/>
                    <a:lstStyle/>
                    <a:p>
                      <a:pPr algn="l"/>
                      <a:r>
                        <a:rPr sz="900" b="1">
                          <a:solidFill>
                            <a:srgbClr val="0F2140"/>
                          </a:solidFill>
                        </a:rPr>
                        <a:t>Investor / Regulator</a:t>
                      </a:r>
                    </a:p>
                  </a:txBody>
                  <a:tcPr>
                    <a:solidFill>
                      <a:srgbClr val="F0F7FF"/>
                    </a:solidFill>
                  </a:tcPr>
                </a:tc>
                <a:tc>
                  <a:txBody>
                    <a:bodyPr lIns="73152" rIns="73152"/>
                    <a:lstStyle/>
                    <a:p>
                      <a:pPr algn="l"/>
                      <a:r>
                        <a:rPr sz="900" b="0">
                          <a:solidFill>
                            <a:srgbClr val="1E293B"/>
                          </a:solidFill>
                        </a:rPr>
                        <a:t>"The AI drafts. The analyst decides. The regulator audits a complete trail."</a:t>
                      </a:r>
                    </a:p>
                  </a:txBody>
                  <a:tcPr>
                    <a:solidFill>
                      <a:srgbClr val="F0F7FF"/>
                    </a:solidFill>
                  </a:tcPr>
                </a:tc>
                <a:tc>
                  <a:txBody>
                    <a:bodyPr lIns="73152" rIns="73152"/>
                    <a:lstStyle/>
                    <a:p>
                      <a:pPr algn="l"/>
                      <a:r>
                        <a:rPr sz="900" b="0">
                          <a:solidFill>
                            <a:srgbClr val="1E293B"/>
                          </a:solidFill>
                        </a:rPr>
                        <a:t>Deterministic scoring; LLM never produces risk_score</a:t>
                      </a:r>
                    </a:p>
                  </a:txBody>
                  <a:tcPr>
                    <a:solidFill>
                      <a:srgbClr val="F0F7FF"/>
                    </a:solidFill>
                  </a:tcPr>
                </a:tc>
              </a:tr>
            </a:tbl>
          </a:graphicData>
        </a:graphic>
      </p:graphicFrame>
      <p:graphicFrame>
        <p:nvGraphicFramePr>
          <p:cNvPr id="12" name="Table 11"/>
          <p:cNvGraphicFramePr>
            <a:graphicFrameLocks noGrp="1"/>
          </p:cNvGraphicFramePr>
          <p:nvPr/>
        </p:nvGraphicFramePr>
        <p:xfrm>
          <a:off x="6108192" y="3273552"/>
          <a:ext cx="5806439" cy="2057400"/>
        </p:xfrm>
        <a:graphic>
          <a:graphicData uri="http://schemas.openxmlformats.org/drawingml/2006/table">
            <a:tbl>
              <a:tblPr firstRow="1" bandRow="1">
                <a:tableStyleId>{5C22544A-7EE6-4342-B048-85BDC9FD1C3A}</a:tableStyleId>
              </a:tblPr>
              <a:tblGrid>
                <a:gridCol w="1207008"/>
                <a:gridCol w="2724912"/>
                <a:gridCol w="1874519"/>
              </a:tblGrid>
              <a:tr h="514350">
                <a:tc>
                  <a:txBody>
                    <a:bodyPr lIns="73152" rIns="73152"/>
                    <a:lstStyle/>
                    <a:p>
                      <a:pPr algn="l"/>
                      <a:r>
                        <a:rPr sz="950" b="1">
                          <a:solidFill>
                            <a:srgbClr val="FFFFFF"/>
                          </a:solidFill>
                        </a:rPr>
                        <a:t>Phase</a:t>
                      </a:r>
                    </a:p>
                  </a:txBody>
                  <a:tcPr>
                    <a:solidFill>
                      <a:srgbClr val="0F2140"/>
                    </a:solidFill>
                  </a:tcPr>
                </a:tc>
                <a:tc>
                  <a:txBody>
                    <a:bodyPr lIns="73152" rIns="73152"/>
                    <a:lstStyle/>
                    <a:p>
                      <a:pPr algn="l"/>
                      <a:r>
                        <a:rPr sz="950" b="1">
                          <a:solidFill>
                            <a:srgbClr val="FFFFFF"/>
                          </a:solidFill>
                        </a:rPr>
                        <a:t>Segment</a:t>
                      </a:r>
                    </a:p>
                  </a:txBody>
                  <a:tcPr>
                    <a:solidFill>
                      <a:srgbClr val="0F2140"/>
                    </a:solidFill>
                  </a:tcPr>
                </a:tc>
                <a:tc>
                  <a:txBody>
                    <a:bodyPr lIns="73152" rIns="73152"/>
                    <a:lstStyle/>
                    <a:p>
                      <a:pPr algn="l"/>
                      <a:r>
                        <a:rPr sz="950" b="1">
                          <a:solidFill>
                            <a:srgbClr val="FFFFFF"/>
                          </a:solidFill>
                        </a:rPr>
                        <a:t>ARR Target</a:t>
                      </a:r>
                    </a:p>
                  </a:txBody>
                  <a:tcPr>
                    <a:solidFill>
                      <a:srgbClr val="0F2140"/>
                    </a:solidFill>
                  </a:tcPr>
                </a:tc>
              </a:tr>
              <a:tr h="514350">
                <a:tc>
                  <a:txBody>
                    <a:bodyPr lIns="73152" rIns="73152"/>
                    <a:lstStyle/>
                    <a:p>
                      <a:pPr algn="l"/>
                      <a:r>
                        <a:rPr sz="900" b="1">
                          <a:solidFill>
                            <a:srgbClr val="0F2140"/>
                          </a:solidFill>
                        </a:rPr>
                        <a:t>Phase 1  M1–9</a:t>
                      </a:r>
                    </a:p>
                  </a:txBody>
                  <a:tcPr>
                    <a:solidFill>
                      <a:srgbClr val="F0F7FF"/>
                    </a:solidFill>
                  </a:tcPr>
                </a:tc>
                <a:tc>
                  <a:txBody>
                    <a:bodyPr lIns="73152" rIns="73152"/>
                    <a:lstStyle/>
                    <a:p>
                      <a:pPr algn="l"/>
                      <a:r>
                        <a:rPr sz="900" b="0">
                          <a:solidFill>
                            <a:srgbClr val="1E293B"/>
                          </a:solidFill>
                        </a:rPr>
                        <a:t>Cross-border payment fintechs, 1–5 analysts, PA/AD licence</a:t>
                      </a:r>
                    </a:p>
                  </a:txBody>
                  <a:tcPr>
                    <a:solidFill>
                      <a:srgbClr val="F0F7FF"/>
                    </a:solidFill>
                  </a:tcPr>
                </a:tc>
                <a:tc>
                  <a:txBody>
                    <a:bodyPr lIns="73152" rIns="73152"/>
                    <a:lstStyle/>
                    <a:p>
                      <a:pPr algn="l"/>
                      <a:r>
                        <a:rPr sz="900" b="0">
                          <a:solidFill>
                            <a:srgbClr val="1E293B"/>
                          </a:solidFill>
                        </a:rPr>
                        <a:t>Rs. 15–20L, 3 customers</a:t>
                      </a:r>
                    </a:p>
                  </a:txBody>
                  <a:tcPr>
                    <a:solidFill>
                      <a:srgbClr val="F0F7FF"/>
                    </a:solidFill>
                  </a:tcPr>
                </a:tc>
              </a:tr>
              <a:tr h="514350">
                <a:tc>
                  <a:txBody>
                    <a:bodyPr lIns="73152" rIns="73152"/>
                    <a:lstStyle/>
                    <a:p>
                      <a:pPr algn="l"/>
                      <a:r>
                        <a:rPr sz="900" b="1">
                          <a:solidFill>
                            <a:srgbClr val="0F2140"/>
                          </a:solidFill>
                        </a:rPr>
                        <a:t>Phase 2  M9–18</a:t>
                      </a:r>
                    </a:p>
                  </a:txBody>
                  <a:tcPr>
                    <a:solidFill>
                      <a:srgbClr val="FFFFFF"/>
                    </a:solidFill>
                  </a:tcPr>
                </a:tc>
                <a:tc>
                  <a:txBody>
                    <a:bodyPr lIns="73152" rIns="73152"/>
                    <a:lstStyle/>
                    <a:p>
                      <a:pPr algn="l"/>
                      <a:r>
                        <a:rPr sz="900" b="0">
                          <a:solidFill>
                            <a:srgbClr val="1E293B"/>
                          </a:solidFill>
                        </a:rPr>
                        <a:t>Trade-finance NBFCs and commodity exporters</a:t>
                      </a:r>
                    </a:p>
                  </a:txBody>
                  <a:tcPr>
                    <a:solidFill>
                      <a:srgbClr val="FFFFFF"/>
                    </a:solidFill>
                  </a:tcPr>
                </a:tc>
                <a:tc>
                  <a:txBody>
                    <a:bodyPr lIns="73152" rIns="73152"/>
                    <a:lstStyle/>
                    <a:p>
                      <a:pPr algn="l"/>
                      <a:r>
                        <a:rPr sz="900" b="0">
                          <a:solidFill>
                            <a:srgbClr val="1E293B"/>
                          </a:solidFill>
                        </a:rPr>
                        <a:t>Rs. 40–60L, 8–12 customers</a:t>
                      </a:r>
                    </a:p>
                  </a:txBody>
                  <a:tcPr>
                    <a:solidFill>
                      <a:srgbClr val="FFFFFF"/>
                    </a:solidFill>
                  </a:tcPr>
                </a:tc>
              </a:tr>
              <a:tr h="514350">
                <a:tc>
                  <a:txBody>
                    <a:bodyPr lIns="73152" rIns="73152"/>
                    <a:lstStyle/>
                    <a:p>
                      <a:pPr algn="l"/>
                      <a:r>
                        <a:rPr sz="900" b="1">
                          <a:solidFill>
                            <a:srgbClr val="0F2140"/>
                          </a:solidFill>
                        </a:rPr>
                        <a:t>Phase 3  M18+</a:t>
                      </a:r>
                    </a:p>
                  </a:txBody>
                  <a:tcPr>
                    <a:solidFill>
                      <a:srgbClr val="F0F7FF"/>
                    </a:solidFill>
                  </a:tcPr>
                </a:tc>
                <a:tc>
                  <a:txBody>
                    <a:bodyPr lIns="73152" rIns="73152"/>
                    <a:lstStyle/>
                    <a:p>
                      <a:pPr algn="l"/>
                      <a:r>
                        <a:rPr sz="900" b="0">
                          <a:solidFill>
                            <a:srgbClr val="1E293B"/>
                          </a:solidFill>
                        </a:rPr>
                        <a:t>Mid-tier private banks, AD Category-I remittance divisions</a:t>
                      </a:r>
                    </a:p>
                  </a:txBody>
                  <a:tcPr>
                    <a:solidFill>
                      <a:srgbClr val="F0F7FF"/>
                    </a:solidFill>
                  </a:tcPr>
                </a:tc>
                <a:tc>
                  <a:txBody>
                    <a:bodyPr lIns="73152" rIns="73152"/>
                    <a:lstStyle/>
                    <a:p>
                      <a:pPr algn="l"/>
                      <a:r>
                        <a:rPr sz="900" b="0">
                          <a:solidFill>
                            <a:srgbClr val="1E293B"/>
                          </a:solidFill>
                        </a:rPr>
                        <a:t>Rs. 1–2Cr, 2–3 bank logos</a:t>
                      </a:r>
                    </a:p>
                  </a:txBody>
                  <a:tcPr>
                    <a:solidFill>
                      <a:srgbClr val="F0F7FF"/>
                    </a:solidFill>
                  </a:tcPr>
                </a:tc>
              </a:tr>
            </a:tbl>
          </a:graphicData>
        </a:graphic>
      </p:graphicFrame>
      <p:sp>
        <p:nvSpPr>
          <p:cNvPr id="13" name="TextBox 12"/>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07</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Pricing &amp; Packaging</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Per-analyst-seat SaaS — land, expand, retain</a:t>
            </a:r>
          </a:p>
        </p:txBody>
      </p:sp>
      <p:graphicFrame>
        <p:nvGraphicFramePr>
          <p:cNvPr id="6" name="Table 5"/>
          <p:cNvGraphicFramePr>
            <a:graphicFrameLocks noGrp="1"/>
          </p:cNvGraphicFramePr>
          <p:nvPr/>
        </p:nvGraphicFramePr>
        <p:xfrm>
          <a:off x="274320" y="1051560"/>
          <a:ext cx="11612880" cy="3273552"/>
        </p:xfrm>
        <a:graphic>
          <a:graphicData uri="http://schemas.openxmlformats.org/drawingml/2006/table">
            <a:tbl>
              <a:tblPr firstRow="1" bandRow="1">
                <a:tableStyleId>{5C22544A-7EE6-4342-B048-85BDC9FD1C3A}</a:tableStyleId>
              </a:tblPr>
              <a:tblGrid>
                <a:gridCol w="1554480"/>
                <a:gridCol w="3063240"/>
                <a:gridCol w="3520440"/>
                <a:gridCol w="3474720"/>
              </a:tblGrid>
              <a:tr h="467650">
                <a:tc>
                  <a:txBody>
                    <a:bodyPr lIns="73152" rIns="73152"/>
                    <a:lstStyle/>
                    <a:p>
                      <a:pPr algn="l"/>
                      <a:r>
                        <a:rPr sz="950" b="1">
                          <a:solidFill>
                            <a:srgbClr val="FFFFFF"/>
                          </a:solidFill>
                        </a:rPr>
                        <a:t/>
                      </a:r>
                    </a:p>
                  </a:txBody>
                  <a:tcPr>
                    <a:solidFill>
                      <a:srgbClr val="0F2140"/>
                    </a:solidFill>
                  </a:tcPr>
                </a:tc>
                <a:tc>
                  <a:txBody>
                    <a:bodyPr lIns="73152" rIns="73152"/>
                    <a:lstStyle/>
                    <a:p>
                      <a:pPr algn="l"/>
                      <a:r>
                        <a:rPr sz="950" b="1">
                          <a:solidFill>
                            <a:srgbClr val="FFFFFF"/>
                          </a:solidFill>
                        </a:rPr>
                        <a:t>Starter</a:t>
                      </a:r>
                    </a:p>
                  </a:txBody>
                  <a:tcPr>
                    <a:solidFill>
                      <a:srgbClr val="0F2140"/>
                    </a:solidFill>
                  </a:tcPr>
                </a:tc>
                <a:tc>
                  <a:txBody>
                    <a:bodyPr lIns="73152" rIns="73152"/>
                    <a:lstStyle/>
                    <a:p>
                      <a:pPr algn="l"/>
                      <a:r>
                        <a:rPr sz="950" b="1">
                          <a:solidFill>
                            <a:srgbClr val="FFFFFF"/>
                          </a:solidFill>
                        </a:rPr>
                        <a:t>Professional</a:t>
                      </a:r>
                    </a:p>
                  </a:txBody>
                  <a:tcPr>
                    <a:solidFill>
                      <a:srgbClr val="0F2140"/>
                    </a:solidFill>
                  </a:tcPr>
                </a:tc>
                <a:tc>
                  <a:txBody>
                    <a:bodyPr lIns="73152" rIns="73152"/>
                    <a:lstStyle/>
                    <a:p>
                      <a:pPr algn="l"/>
                      <a:r>
                        <a:rPr sz="950" b="1">
                          <a:solidFill>
                            <a:srgbClr val="FFFFFF"/>
                          </a:solidFill>
                        </a:rPr>
                        <a:t>Enterprise</a:t>
                      </a:r>
                    </a:p>
                  </a:txBody>
                  <a:tcPr>
                    <a:solidFill>
                      <a:srgbClr val="0F2140"/>
                    </a:solidFill>
                  </a:tcPr>
                </a:tc>
              </a:tr>
              <a:tr h="467650">
                <a:tc>
                  <a:txBody>
                    <a:bodyPr lIns="73152" rIns="73152"/>
                    <a:lstStyle/>
                    <a:p>
                      <a:pPr algn="l"/>
                      <a:r>
                        <a:rPr sz="900" b="1">
                          <a:solidFill>
                            <a:srgbClr val="0F2140"/>
                          </a:solidFill>
                        </a:rPr>
                        <a:t>Best for</a:t>
                      </a:r>
                    </a:p>
                  </a:txBody>
                  <a:tcPr>
                    <a:solidFill>
                      <a:srgbClr val="F0F7FF"/>
                    </a:solidFill>
                  </a:tcPr>
                </a:tc>
                <a:tc>
                  <a:txBody>
                    <a:bodyPr lIns="73152" rIns="73152"/>
                    <a:lstStyle/>
                    <a:p>
                      <a:pPr algn="l"/>
                      <a:r>
                        <a:rPr sz="900" b="0">
                          <a:solidFill>
                            <a:srgbClr val="1E293B"/>
                          </a:solidFill>
                        </a:rPr>
                        <a:t>1–2 analyst fintech, PA licence</a:t>
                      </a:r>
                    </a:p>
                  </a:txBody>
                  <a:tcPr>
                    <a:solidFill>
                      <a:srgbClr val="F0F7FF"/>
                    </a:solidFill>
                  </a:tcPr>
                </a:tc>
                <a:tc>
                  <a:txBody>
                    <a:bodyPr lIns="73152" rIns="73152"/>
                    <a:lstStyle/>
                    <a:p>
                      <a:pPr algn="l"/>
                      <a:r>
                        <a:rPr sz="900" b="0">
                          <a:solidFill>
                            <a:srgbClr val="1E293B"/>
                          </a:solidFill>
                        </a:rPr>
                        <a:t>3–10 analyst team; NBFC or trade finance</a:t>
                      </a:r>
                    </a:p>
                  </a:txBody>
                  <a:tcPr>
                    <a:solidFill>
                      <a:srgbClr val="F0F7FF"/>
                    </a:solidFill>
                  </a:tcPr>
                </a:tc>
                <a:tc>
                  <a:txBody>
                    <a:bodyPr lIns="73152" rIns="73152"/>
                    <a:lstStyle/>
                    <a:p>
                      <a:pPr algn="l"/>
                      <a:r>
                        <a:rPr sz="900" b="0">
                          <a:solidFill>
                            <a:srgbClr val="1E293B"/>
                          </a:solidFill>
                        </a:rPr>
                        <a:t>AD Category-I bank or large NBFC, 10+ analysts</a:t>
                      </a:r>
                    </a:p>
                  </a:txBody>
                  <a:tcPr>
                    <a:solidFill>
                      <a:srgbClr val="F0F7FF"/>
                    </a:solidFill>
                  </a:tcPr>
                </a:tc>
              </a:tr>
              <a:tr h="467650">
                <a:tc>
                  <a:txBody>
                    <a:bodyPr lIns="73152" rIns="73152"/>
                    <a:lstStyle/>
                    <a:p>
                      <a:pPr algn="l"/>
                      <a:r>
                        <a:rPr sz="900" b="1">
                          <a:solidFill>
                            <a:srgbClr val="0F2140"/>
                          </a:solidFill>
                        </a:rPr>
                        <a:t>Price</a:t>
                      </a:r>
                    </a:p>
                  </a:txBody>
                  <a:tcPr>
                    <a:solidFill>
                      <a:srgbClr val="FFFFFF"/>
                    </a:solidFill>
                  </a:tcPr>
                </a:tc>
                <a:tc>
                  <a:txBody>
                    <a:bodyPr lIns="73152" rIns="73152"/>
                    <a:lstStyle/>
                    <a:p>
                      <a:pPr algn="l"/>
                      <a:r>
                        <a:rPr sz="900" b="0">
                          <a:solidFill>
                            <a:srgbClr val="1E293B"/>
                          </a:solidFill>
                        </a:rPr>
                        <a:t>Rs. 12,000 / analyst / month</a:t>
                      </a:r>
                    </a:p>
                  </a:txBody>
                  <a:tcPr>
                    <a:solidFill>
                      <a:srgbClr val="FFFFFF"/>
                    </a:solidFill>
                  </a:tcPr>
                </a:tc>
                <a:tc>
                  <a:txBody>
                    <a:bodyPr lIns="73152" rIns="73152"/>
                    <a:lstStyle/>
                    <a:p>
                      <a:pPr algn="l"/>
                      <a:r>
                        <a:rPr sz="900" b="0">
                          <a:solidFill>
                            <a:srgbClr val="1E293B"/>
                          </a:solidFill>
                        </a:rPr>
                        <a:t>Rs. 14,000 / analyst / month</a:t>
                      </a:r>
                    </a:p>
                  </a:txBody>
                  <a:tcPr>
                    <a:solidFill>
                      <a:srgbClr val="FFFFFF"/>
                    </a:solidFill>
                  </a:tcPr>
                </a:tc>
                <a:tc>
                  <a:txBody>
                    <a:bodyPr lIns="73152" rIns="73152"/>
                    <a:lstStyle/>
                    <a:p>
                      <a:pPr algn="l"/>
                      <a:r>
                        <a:rPr sz="900" b="0">
                          <a:solidFill>
                            <a:srgbClr val="1E293B"/>
                          </a:solidFill>
                        </a:rPr>
                        <a:t>Custom (Rs. 15,000+ / analyst / month)</a:t>
                      </a:r>
                    </a:p>
                  </a:txBody>
                  <a:tcPr>
                    <a:solidFill>
                      <a:srgbClr val="FFFFFF"/>
                    </a:solidFill>
                  </a:tcPr>
                </a:tc>
              </a:tr>
              <a:tr h="467650">
                <a:tc>
                  <a:txBody>
                    <a:bodyPr lIns="73152" rIns="73152"/>
                    <a:lstStyle/>
                    <a:p>
                      <a:pPr algn="l"/>
                      <a:r>
                        <a:rPr sz="900" b="1">
                          <a:solidFill>
                            <a:srgbClr val="0F2140"/>
                          </a:solidFill>
                        </a:rPr>
                        <a:t>Commitment</a:t>
                      </a:r>
                    </a:p>
                  </a:txBody>
                  <a:tcPr>
                    <a:solidFill>
                      <a:srgbClr val="F0F7FF"/>
                    </a:solidFill>
                  </a:tcPr>
                </a:tc>
                <a:tc>
                  <a:txBody>
                    <a:bodyPr lIns="73152" rIns="73152"/>
                    <a:lstStyle/>
                    <a:p>
                      <a:pPr algn="l"/>
                      <a:r>
                        <a:rPr sz="900" b="0">
                          <a:solidFill>
                            <a:srgbClr val="1E293B"/>
                          </a:solidFill>
                        </a:rPr>
                        <a:t>Month-to-month</a:t>
                      </a:r>
                    </a:p>
                  </a:txBody>
                  <a:tcPr>
                    <a:solidFill>
                      <a:srgbClr val="F0F7FF"/>
                    </a:solidFill>
                  </a:tcPr>
                </a:tc>
                <a:tc>
                  <a:txBody>
                    <a:bodyPr lIns="73152" rIns="73152"/>
                    <a:lstStyle/>
                    <a:p>
                      <a:pPr algn="l"/>
                      <a:r>
                        <a:rPr sz="900" b="0">
                          <a:solidFill>
                            <a:srgbClr val="1E293B"/>
                          </a:solidFill>
                        </a:rPr>
                        <a:t>12-month</a:t>
                      </a:r>
                    </a:p>
                  </a:txBody>
                  <a:tcPr>
                    <a:solidFill>
                      <a:srgbClr val="F0F7FF"/>
                    </a:solidFill>
                  </a:tcPr>
                </a:tc>
                <a:tc>
                  <a:txBody>
                    <a:bodyPr lIns="73152" rIns="73152"/>
                    <a:lstStyle/>
                    <a:p>
                      <a:pPr algn="l"/>
                      <a:r>
                        <a:rPr sz="900" b="0">
                          <a:solidFill>
                            <a:srgbClr val="1E293B"/>
                          </a:solidFill>
                        </a:rPr>
                        <a:t>24-month</a:t>
                      </a:r>
                    </a:p>
                  </a:txBody>
                  <a:tcPr>
                    <a:solidFill>
                      <a:srgbClr val="F0F7FF"/>
                    </a:solidFill>
                  </a:tcPr>
                </a:tc>
              </a:tr>
              <a:tr h="467650">
                <a:tc>
                  <a:txBody>
                    <a:bodyPr lIns="73152" rIns="73152"/>
                    <a:lstStyle/>
                    <a:p>
                      <a:pPr algn="l"/>
                      <a:r>
                        <a:rPr sz="900" b="1">
                          <a:solidFill>
                            <a:srgbClr val="0F2140"/>
                          </a:solidFill>
                        </a:rPr>
                        <a:t>Agents</a:t>
                      </a:r>
                    </a:p>
                  </a:txBody>
                  <a:tcPr>
                    <a:solidFill>
                      <a:srgbClr val="FFFFFF"/>
                    </a:solidFill>
                  </a:tcPr>
                </a:tc>
                <a:tc>
                  <a:txBody>
                    <a:bodyPr lIns="73152" rIns="73152"/>
                    <a:lstStyle/>
                    <a:p>
                      <a:pPr algn="l"/>
                      <a:r>
                        <a:rPr sz="900" b="0">
                          <a:solidFill>
                            <a:srgbClr val="1E293B"/>
                          </a:solidFill>
                        </a:rPr>
                        <a:t>Sanctions + Customer Risk (required pair)</a:t>
                      </a:r>
                    </a:p>
                  </a:txBody>
                  <a:tcPr>
                    <a:solidFill>
                      <a:srgbClr val="FFFFFF"/>
                    </a:solidFill>
                  </a:tcPr>
                </a:tc>
                <a:tc>
                  <a:txBody>
                    <a:bodyPr lIns="73152" rIns="73152"/>
                    <a:lstStyle/>
                    <a:p>
                      <a:pPr algn="l"/>
                      <a:r>
                        <a:rPr sz="900" b="0">
                          <a:solidFill>
                            <a:srgbClr val="1E293B"/>
                          </a:solidFill>
                        </a:rPr>
                        <a:t>All 4 agents + Regulatory Intelligence</a:t>
                      </a:r>
                    </a:p>
                  </a:txBody>
                  <a:tcPr>
                    <a:solidFill>
                      <a:srgbClr val="FFFFFF"/>
                    </a:solidFill>
                  </a:tcPr>
                </a:tc>
                <a:tc>
                  <a:txBody>
                    <a:bodyPr lIns="73152" rIns="73152"/>
                    <a:lstStyle/>
                    <a:p>
                      <a:pPr algn="l"/>
                      <a:r>
                        <a:rPr sz="900" b="0">
                          <a:solidFill>
                            <a:srgbClr val="1E293B"/>
                          </a:solidFill>
                        </a:rPr>
                        <a:t>All 4 + Reg Intel + advisory compliance review</a:t>
                      </a:r>
                    </a:p>
                  </a:txBody>
                  <a:tcPr>
                    <a:solidFill>
                      <a:srgbClr val="FFFFFF"/>
                    </a:solidFill>
                  </a:tcPr>
                </a:tc>
              </a:tr>
              <a:tr h="467650">
                <a:tc>
                  <a:txBody>
                    <a:bodyPr lIns="73152" rIns="73152"/>
                    <a:lstStyle/>
                    <a:p>
                      <a:pPr algn="l"/>
                      <a:r>
                        <a:rPr sz="900" b="1">
                          <a:solidFill>
                            <a:srgbClr val="0F2140"/>
                          </a:solidFill>
                        </a:rPr>
                        <a:t>Auth</a:t>
                      </a:r>
                    </a:p>
                  </a:txBody>
                  <a:tcPr>
                    <a:solidFill>
                      <a:srgbClr val="F0F7FF"/>
                    </a:solidFill>
                  </a:tcPr>
                </a:tc>
                <a:tc>
                  <a:txBody>
                    <a:bodyPr lIns="73152" rIns="73152"/>
                    <a:lstStyle/>
                    <a:p>
                      <a:pPr algn="l"/>
                      <a:r>
                        <a:rPr sz="900" b="0">
                          <a:solidFill>
                            <a:srgbClr val="1E293B"/>
                          </a:solidFill>
                        </a:rPr>
                        <a:t>Standard RBAC</a:t>
                      </a:r>
                    </a:p>
                  </a:txBody>
                  <a:tcPr>
                    <a:solidFill>
                      <a:srgbClr val="F0F7FF"/>
                    </a:solidFill>
                  </a:tcPr>
                </a:tc>
                <a:tc>
                  <a:txBody>
                    <a:bodyPr lIns="73152" rIns="73152"/>
                    <a:lstStyle/>
                    <a:p>
                      <a:pPr algn="l"/>
                      <a:r>
                        <a:rPr sz="900" b="0">
                          <a:solidFill>
                            <a:srgbClr val="1E293B"/>
                          </a:solidFill>
                        </a:rPr>
                        <a:t>Full RBAC + SSO ready</a:t>
                      </a:r>
                    </a:p>
                  </a:txBody>
                  <a:tcPr>
                    <a:solidFill>
                      <a:srgbClr val="F0F7FF"/>
                    </a:solidFill>
                  </a:tcPr>
                </a:tc>
                <a:tc>
                  <a:txBody>
                    <a:bodyPr lIns="73152" rIns="73152"/>
                    <a:lstStyle/>
                    <a:p>
                      <a:pPr algn="l"/>
                      <a:r>
                        <a:rPr sz="900" b="0">
                          <a:solidFill>
                            <a:srgbClr val="1E293B"/>
                          </a:solidFill>
                        </a:rPr>
                        <a:t>SSO (Azure AD / Okta); IP allowlist; dedicated tenant</a:t>
                      </a:r>
                    </a:p>
                  </a:txBody>
                  <a:tcPr>
                    <a:solidFill>
                      <a:srgbClr val="F0F7FF"/>
                    </a:solidFill>
                  </a:tcPr>
                </a:tc>
              </a:tr>
              <a:tr h="467652">
                <a:tc>
                  <a:txBody>
                    <a:bodyPr lIns="73152" rIns="73152"/>
                    <a:lstStyle/>
                    <a:p>
                      <a:pPr algn="l"/>
                      <a:r>
                        <a:rPr sz="900" b="1">
                          <a:solidFill>
                            <a:srgbClr val="0F2140"/>
                          </a:solidFill>
                        </a:rPr>
                        <a:t>Support</a:t>
                      </a:r>
                    </a:p>
                  </a:txBody>
                  <a:tcPr>
                    <a:solidFill>
                      <a:srgbClr val="FFFFFF"/>
                    </a:solidFill>
                  </a:tcPr>
                </a:tc>
                <a:tc>
                  <a:txBody>
                    <a:bodyPr lIns="73152" rIns="73152"/>
                    <a:lstStyle/>
                    <a:p>
                      <a:pPr algn="l"/>
                      <a:r>
                        <a:rPr sz="900" b="0">
                          <a:solidFill>
                            <a:srgbClr val="1E293B"/>
                          </a:solidFill>
                        </a:rPr>
                        <a:t>Email + help docs</a:t>
                      </a:r>
                    </a:p>
                  </a:txBody>
                  <a:tcPr>
                    <a:solidFill>
                      <a:srgbClr val="FFFFFF"/>
                    </a:solidFill>
                  </a:tcPr>
                </a:tc>
                <a:tc>
                  <a:txBody>
                    <a:bodyPr lIns="73152" rIns="73152"/>
                    <a:lstStyle/>
                    <a:p>
                      <a:pPr algn="l"/>
                      <a:r>
                        <a:rPr sz="900" b="0">
                          <a:solidFill>
                            <a:srgbClr val="1E293B"/>
                          </a:solidFill>
                        </a:rPr>
                        <a:t>Dedicated CSM + quarterly MLRO review</a:t>
                      </a:r>
                    </a:p>
                  </a:txBody>
                  <a:tcPr>
                    <a:solidFill>
                      <a:srgbClr val="FFFFFF"/>
                    </a:solidFill>
                  </a:tcPr>
                </a:tc>
                <a:tc>
                  <a:txBody>
                    <a:bodyPr lIns="73152" rIns="73152"/>
                    <a:lstStyle/>
                    <a:p>
                      <a:pPr algn="l"/>
                      <a:r>
                        <a:rPr sz="900" b="0">
                          <a:solidFill>
                            <a:srgbClr val="1E293B"/>
                          </a:solidFill>
                        </a:rPr>
                        <a:t>Named CSM + compliance advisor + SLA</a:t>
                      </a:r>
                    </a:p>
                  </a:txBody>
                  <a:tcPr>
                    <a:solidFill>
                      <a:srgbClr val="FFFFFF"/>
                    </a:solidFill>
                  </a:tcPr>
                </a:tc>
              </a:tr>
            </a:tbl>
          </a:graphicData>
        </a:graphic>
      </p:graphicFrame>
      <p:sp>
        <p:nvSpPr>
          <p:cNvPr id="7" name="Rectangle 6"/>
          <p:cNvSpPr/>
          <p:nvPr/>
        </p:nvSpPr>
        <p:spPr>
          <a:xfrm>
            <a:off x="274320" y="4480560"/>
            <a:ext cx="64008" cy="566928"/>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4480560"/>
            <a:ext cx="3611879" cy="566928"/>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950">
                <a:solidFill>
                  <a:srgbClr val="1E293B"/>
                </a:solidFill>
              </a:rPr>
              <a:t>PRICING ANCHOR: Rs. 12,000/month &lt; 2 days of a junior compliance analyst in Mumbai. ROI: same cost, double the throughput.</a:t>
            </a:r>
          </a:p>
        </p:txBody>
      </p:sp>
      <p:sp>
        <p:nvSpPr>
          <p:cNvPr id="9" name="Rectangle 8"/>
          <p:cNvSpPr/>
          <p:nvPr/>
        </p:nvSpPr>
        <p:spPr>
          <a:xfrm>
            <a:off x="4096512" y="4480560"/>
            <a:ext cx="64008" cy="566928"/>
          </a:xfrm>
          <a:prstGeom prst="rect">
            <a:avLst/>
          </a:prstGeom>
          <a:solidFill>
            <a:srgbClr val="B45B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87952" y="4480560"/>
            <a:ext cx="3611879" cy="566928"/>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950">
                <a:solidFill>
                  <a:srgbClr val="1E293B"/>
                </a:solidFill>
              </a:rPr>
              <a:t>LAND &amp; EXPAND: Starter (2 agents) → add Trade Doc or TxMon → Enterprise (on-premise). Each expansion is one conversation, not a renegotiation.</a:t>
            </a:r>
          </a:p>
        </p:txBody>
      </p:sp>
      <p:sp>
        <p:nvSpPr>
          <p:cNvPr id="11" name="Rectangle 10"/>
          <p:cNvSpPr/>
          <p:nvPr/>
        </p:nvSpPr>
        <p:spPr>
          <a:xfrm>
            <a:off x="8202168" y="4480560"/>
            <a:ext cx="64008" cy="566928"/>
          </a:xfrm>
          <a:prstGeom prst="rect">
            <a:avLst/>
          </a:prstGeom>
          <a:solidFill>
            <a:srgbClr val="05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93608" y="4480560"/>
            <a:ext cx="3621023" cy="566928"/>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950">
                <a:solidFill>
                  <a:srgbClr val="1E293B"/>
                </a:solidFill>
              </a:rPr>
              <a:t>STICKINESS: 18 months of compliance decisions in ScreenDesk = very high switching cost. The audit trail is the system of record.</a:t>
            </a:r>
          </a:p>
        </p:txBody>
      </p:sp>
      <p:graphicFrame>
        <p:nvGraphicFramePr>
          <p:cNvPr id="13" name="Table 12"/>
          <p:cNvGraphicFramePr>
            <a:graphicFrameLocks noGrp="1"/>
          </p:cNvGraphicFramePr>
          <p:nvPr/>
        </p:nvGraphicFramePr>
        <p:xfrm>
          <a:off x="274320" y="5193792"/>
          <a:ext cx="11612880" cy="1170432"/>
        </p:xfrm>
        <a:graphic>
          <a:graphicData uri="http://schemas.openxmlformats.org/drawingml/2006/table">
            <a:tbl>
              <a:tblPr firstRow="1" bandRow="1">
                <a:tableStyleId>{5C22544A-7EE6-4342-B048-85BDC9FD1C3A}</a:tableStyleId>
              </a:tblPr>
              <a:tblGrid>
                <a:gridCol w="2103120"/>
                <a:gridCol w="9509760"/>
              </a:tblGrid>
              <a:tr h="292608">
                <a:tc>
                  <a:txBody>
                    <a:bodyPr lIns="73152" rIns="73152"/>
                    <a:lstStyle/>
                    <a:p>
                      <a:pPr algn="l"/>
                      <a:r>
                        <a:rPr sz="950" b="1">
                          <a:solidFill>
                            <a:srgbClr val="FFFFFF"/>
                          </a:solidFill>
                        </a:rPr>
                        <a:t>Pilot Element</a:t>
                      </a:r>
                    </a:p>
                  </a:txBody>
                  <a:tcPr>
                    <a:solidFill>
                      <a:srgbClr val="0F2140"/>
                    </a:solidFill>
                  </a:tcPr>
                </a:tc>
                <a:tc>
                  <a:txBody>
                    <a:bodyPr lIns="73152" rIns="73152"/>
                    <a:lstStyle/>
                    <a:p>
                      <a:pPr algn="l"/>
                      <a:r>
                        <a:rPr sz="950" b="1">
                          <a:solidFill>
                            <a:srgbClr val="FFFFFF"/>
                          </a:solidFill>
                        </a:rPr>
                        <a:t>Detail</a:t>
                      </a:r>
                    </a:p>
                  </a:txBody>
                  <a:tcPr>
                    <a:solidFill>
                      <a:srgbClr val="0F2140"/>
                    </a:solidFill>
                  </a:tcPr>
                </a:tc>
              </a:tr>
              <a:tr h="292608">
                <a:tc>
                  <a:txBody>
                    <a:bodyPr lIns="73152" rIns="73152"/>
                    <a:lstStyle/>
                    <a:p>
                      <a:pPr algn="l"/>
                      <a:r>
                        <a:rPr sz="900" b="1">
                          <a:solidFill>
                            <a:srgbClr val="0F2140"/>
                          </a:solidFill>
                        </a:rPr>
                        <a:t>Duration + Cost</a:t>
                      </a:r>
                    </a:p>
                  </a:txBody>
                  <a:tcPr>
                    <a:solidFill>
                      <a:srgbClr val="F0F7FF"/>
                    </a:solidFill>
                  </a:tcPr>
                </a:tc>
                <a:tc>
                  <a:txBody>
                    <a:bodyPr lIns="73152" rIns="73152"/>
                    <a:lstStyle/>
                    <a:p>
                      <a:pPr algn="l"/>
                      <a:r>
                        <a:rPr sz="900" b="0">
                          <a:solidFill>
                            <a:srgbClr val="1E293B"/>
                          </a:solidFill>
                        </a:rPr>
                        <a:t>60–90 days free for design partners. Both sides agree on success metric (MTD target) before go-live.</a:t>
                      </a:r>
                    </a:p>
                  </a:txBody>
                  <a:tcPr>
                    <a:solidFill>
                      <a:srgbClr val="F0F7FF"/>
                    </a:solidFill>
                  </a:tcPr>
                </a:tc>
              </a:tr>
              <a:tr h="292608">
                <a:tc>
                  <a:txBody>
                    <a:bodyPr lIns="73152" rIns="73152"/>
                    <a:lstStyle/>
                    <a:p>
                      <a:pPr algn="l"/>
                      <a:r>
                        <a:rPr sz="900" b="1">
                          <a:solidFill>
                            <a:srgbClr val="0F2140"/>
                          </a:solidFill>
                        </a:rPr>
                        <a:t>Review cadence</a:t>
                      </a:r>
                    </a:p>
                  </a:txBody>
                  <a:tcPr>
                    <a:solidFill>
                      <a:srgbClr val="FFFFFF"/>
                    </a:solidFill>
                  </a:tcPr>
                </a:tc>
                <a:tc>
                  <a:txBody>
                    <a:bodyPr lIns="73152" rIns="73152"/>
                    <a:lstStyle/>
                    <a:p>
                      <a:pPr algn="l"/>
                      <a:r>
                        <a:rPr sz="900" b="0">
                          <a:solidFill>
                            <a:srgbClr val="1E293B"/>
                          </a:solidFill>
                        </a:rPr>
                        <a:t>Week 4: analyst + MLRO friction check. Week 8: formal metrics review + paid conversion proposal.</a:t>
                      </a:r>
                    </a:p>
                  </a:txBody>
                  <a:tcPr>
                    <a:solidFill>
                      <a:srgbClr val="FFFFFF"/>
                    </a:solidFill>
                  </a:tcPr>
                </a:tc>
              </a:tr>
              <a:tr h="292608">
                <a:tc>
                  <a:txBody>
                    <a:bodyPr lIns="73152" rIns="73152"/>
                    <a:lstStyle/>
                    <a:p>
                      <a:pPr algn="l"/>
                      <a:r>
                        <a:rPr sz="900" b="1">
                          <a:solidFill>
                            <a:srgbClr val="0F2140"/>
                          </a:solidFill>
                        </a:rPr>
                        <a:t>Professional services</a:t>
                      </a:r>
                    </a:p>
                  </a:txBody>
                  <a:tcPr>
                    <a:solidFill>
                      <a:srgbClr val="F0F7FF"/>
                    </a:solidFill>
                  </a:tcPr>
                </a:tc>
                <a:tc>
                  <a:txBody>
                    <a:bodyPr lIns="73152" rIns="73152"/>
                    <a:lstStyle/>
                    <a:p>
                      <a:pPr algn="l"/>
                      <a:r>
                        <a:rPr sz="900" b="0">
                          <a:solidFill>
                            <a:srgbClr val="1E293B"/>
                          </a:solidFill>
                        </a:rPr>
                        <a:t>Compliance Methodology Review Rs. 2L  ·  API Integration Rs. 1.5L  ·  MLRO Training Rs. 50K/session</a:t>
                      </a:r>
                    </a:p>
                  </a:txBody>
                  <a:tcPr>
                    <a:solidFill>
                      <a:srgbClr val="F0F7FF"/>
                    </a:solidFill>
                  </a:tcPr>
                </a:tc>
              </a:tr>
            </a:tbl>
          </a:graphicData>
        </a:graphic>
      </p:graphicFrame>
      <p:sp>
        <p:nvSpPr>
          <p:cNvPr id="14" name="TextBox 13"/>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08</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Metrics Framework</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How we know if the product is working</a:t>
            </a:r>
          </a:p>
        </p:txBody>
      </p:sp>
      <p:sp>
        <p:nvSpPr>
          <p:cNvPr id="6" name="Rectangle 5"/>
          <p:cNvSpPr/>
          <p:nvPr/>
        </p:nvSpPr>
        <p:spPr>
          <a:xfrm>
            <a:off x="274320" y="1051560"/>
            <a:ext cx="11612880" cy="65836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64008" cy="658368"/>
          </a:xfrm>
          <a:prstGeom prst="rect">
            <a:avLst/>
          </a:prstGeom>
          <a:solidFill>
            <a:srgbClr val="00C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2743200" cy="256032"/>
          </a:xfrm>
          <a:prstGeom prst="rect">
            <a:avLst/>
          </a:prstGeom>
          <a:noFill/>
        </p:spPr>
        <p:txBody>
          <a:bodyPr wrap="square">
            <a:spAutoFit/>
          </a:bodyPr>
          <a:lstStyle/>
          <a:p>
            <a:pPr algn="l"/>
            <a:r>
              <a:rPr sz="900" b="1">
                <a:solidFill>
                  <a:srgbClr val="00C2A8"/>
                </a:solidFill>
              </a:rPr>
              <a:t>NORTH STAR METRIC</a:t>
            </a:r>
          </a:p>
        </p:txBody>
      </p:sp>
      <p:sp>
        <p:nvSpPr>
          <p:cNvPr id="9" name="TextBox 8"/>
          <p:cNvSpPr txBox="1"/>
          <p:nvPr/>
        </p:nvSpPr>
        <p:spPr>
          <a:xfrm>
            <a:off x="502920" y="1371600"/>
            <a:ext cx="11155680" cy="274320"/>
          </a:xfrm>
          <a:prstGeom prst="rect">
            <a:avLst/>
          </a:prstGeom>
          <a:noFill/>
        </p:spPr>
        <p:txBody>
          <a:bodyPr wrap="square">
            <a:spAutoFit/>
          </a:bodyPr>
          <a:lstStyle/>
          <a:p>
            <a:pPr algn="l"/>
            <a:r>
              <a:rPr sz="1050" b="0">
                <a:solidFill>
                  <a:srgbClr val="FFFFFF"/>
                </a:solidFill>
              </a:rPr>
              <a:t>Rationale Coverage Rate = 100%  —  Every decision carries a written, analyst-signed rationale. Structurally enforced: the system cannot record a decision without a rationale field submitted.</a:t>
            </a:r>
          </a:p>
        </p:txBody>
      </p:sp>
      <p:graphicFrame>
        <p:nvGraphicFramePr>
          <p:cNvPr id="10" name="Table 9"/>
          <p:cNvGraphicFramePr>
            <a:graphicFrameLocks noGrp="1"/>
          </p:cNvGraphicFramePr>
          <p:nvPr/>
        </p:nvGraphicFramePr>
        <p:xfrm>
          <a:off x="274320" y="1874519"/>
          <a:ext cx="11612880" cy="3657600"/>
        </p:xfrm>
        <a:graphic>
          <a:graphicData uri="http://schemas.openxmlformats.org/drawingml/2006/table">
            <a:tbl>
              <a:tblPr firstRow="1" bandRow="1">
                <a:tableStyleId>{5C22544A-7EE6-4342-B048-85BDC9FD1C3A}</a:tableStyleId>
              </a:tblPr>
              <a:tblGrid>
                <a:gridCol w="1234440"/>
                <a:gridCol w="2697480"/>
                <a:gridCol w="2286000"/>
                <a:gridCol w="5394960"/>
              </a:tblGrid>
              <a:tr h="365760">
                <a:tc>
                  <a:txBody>
                    <a:bodyPr lIns="73152" rIns="73152"/>
                    <a:lstStyle/>
                    <a:p>
                      <a:pPr algn="l"/>
                      <a:r>
                        <a:rPr sz="950" b="1">
                          <a:solidFill>
                            <a:srgbClr val="FFFFFF"/>
                          </a:solidFill>
                        </a:rPr>
                        <a:t>Category</a:t>
                      </a:r>
                    </a:p>
                  </a:txBody>
                  <a:tcPr>
                    <a:solidFill>
                      <a:srgbClr val="0F2140"/>
                    </a:solidFill>
                  </a:tcPr>
                </a:tc>
                <a:tc>
                  <a:txBody>
                    <a:bodyPr lIns="73152" rIns="73152"/>
                    <a:lstStyle/>
                    <a:p>
                      <a:pPr algn="l"/>
                      <a:r>
                        <a:rPr sz="950" b="1">
                          <a:solidFill>
                            <a:srgbClr val="FFFFFF"/>
                          </a:solidFill>
                        </a:rPr>
                        <a:t>Metric</a:t>
                      </a:r>
                    </a:p>
                  </a:txBody>
                  <a:tcPr>
                    <a:solidFill>
                      <a:srgbClr val="0F2140"/>
                    </a:solidFill>
                  </a:tcPr>
                </a:tc>
                <a:tc>
                  <a:txBody>
                    <a:bodyPr lIns="73152" rIns="73152"/>
                    <a:lstStyle/>
                    <a:p>
                      <a:pPr algn="l"/>
                      <a:r>
                        <a:rPr sz="950" b="1">
                          <a:solidFill>
                            <a:srgbClr val="FFFFFF"/>
                          </a:solidFill>
                        </a:rPr>
                        <a:t>Target</a:t>
                      </a:r>
                    </a:p>
                  </a:txBody>
                  <a:tcPr>
                    <a:solidFill>
                      <a:srgbClr val="0F2140"/>
                    </a:solidFill>
                  </a:tcPr>
                </a:tc>
                <a:tc>
                  <a:txBody>
                    <a:bodyPr lIns="73152" rIns="73152"/>
                    <a:lstStyle/>
                    <a:p>
                      <a:pPr algn="l"/>
                      <a:r>
                        <a:rPr sz="950" b="1">
                          <a:solidFill>
                            <a:srgbClr val="FFFFFF"/>
                          </a:solidFill>
                        </a:rPr>
                        <a:t>Why It Matters</a:t>
                      </a:r>
                    </a:p>
                  </a:txBody>
                  <a:tcPr>
                    <a:solidFill>
                      <a:srgbClr val="0F2140"/>
                    </a:solidFill>
                  </a:tcPr>
                </a:tc>
              </a:tr>
              <a:tr h="365760">
                <a:tc>
                  <a:txBody>
                    <a:bodyPr lIns="73152" rIns="73152"/>
                    <a:lstStyle/>
                    <a:p>
                      <a:pPr algn="l"/>
                      <a:r>
                        <a:rPr sz="900" b="1">
                          <a:solidFill>
                            <a:srgbClr val="0F2140"/>
                          </a:solidFill>
                        </a:rPr>
                        <a:t>Product</a:t>
                      </a:r>
                    </a:p>
                  </a:txBody>
                  <a:tcPr>
                    <a:solidFill>
                      <a:srgbClr val="F0F7FF"/>
                    </a:solidFill>
                  </a:tcPr>
                </a:tc>
                <a:tc>
                  <a:txBody>
                    <a:bodyPr lIns="73152" rIns="73152"/>
                    <a:lstStyle/>
                    <a:p>
                      <a:pPr algn="l"/>
                      <a:r>
                        <a:rPr sz="900" b="0">
                          <a:solidFill>
                            <a:srgbClr val="1E293B"/>
                          </a:solidFill>
                        </a:rPr>
                        <a:t>Mean Time-to-Disposition (MTD)</a:t>
                      </a:r>
                    </a:p>
                  </a:txBody>
                  <a:tcPr>
                    <a:solidFill>
                      <a:srgbClr val="F0F7FF"/>
                    </a:solidFill>
                  </a:tcPr>
                </a:tc>
                <a:tc>
                  <a:txBody>
                    <a:bodyPr lIns="73152" rIns="73152"/>
                    <a:lstStyle/>
                    <a:p>
                      <a:pPr algn="l"/>
                      <a:r>
                        <a:rPr sz="900" b="0">
                          <a:solidFill>
                            <a:srgbClr val="1E293B"/>
                          </a:solidFill>
                        </a:rPr>
                        <a:t>&lt; 4 min  (baseline 8–12 min)</a:t>
                      </a:r>
                    </a:p>
                  </a:txBody>
                  <a:tcPr>
                    <a:solidFill>
                      <a:srgbClr val="F0F7FF"/>
                    </a:solidFill>
                  </a:tcPr>
                </a:tc>
                <a:tc>
                  <a:txBody>
                    <a:bodyPr lIns="73152" rIns="73152"/>
                    <a:lstStyle/>
                    <a:p>
                      <a:pPr algn="l"/>
                      <a:r>
                        <a:rPr sz="900" b="0">
                          <a:solidFill>
                            <a:srgbClr val="1E293B"/>
                          </a:solidFill>
                        </a:rPr>
                        <a:t>Primary analyst value prop; closes the conversion conversation</a:t>
                      </a:r>
                    </a:p>
                  </a:txBody>
                  <a:tcPr>
                    <a:solidFill>
                      <a:srgbClr val="F0F7FF"/>
                    </a:solidFill>
                  </a:tcPr>
                </a:tc>
              </a:tr>
              <a:tr h="365760">
                <a:tc>
                  <a:txBody>
                    <a:bodyPr lIns="73152" rIns="73152"/>
                    <a:lstStyle/>
                    <a:p>
                      <a:pPr algn="l"/>
                      <a:r>
                        <a:rPr sz="900" b="1">
                          <a:solidFill>
                            <a:srgbClr val="0F2140"/>
                          </a:solidFill>
                        </a:rPr>
                        <a:t>Product</a:t>
                      </a:r>
                    </a:p>
                  </a:txBody>
                  <a:tcPr>
                    <a:solidFill>
                      <a:srgbClr val="FFFFFF"/>
                    </a:solidFill>
                  </a:tcPr>
                </a:tc>
                <a:tc>
                  <a:txBody>
                    <a:bodyPr lIns="73152" rIns="73152"/>
                    <a:lstStyle/>
                    <a:p>
                      <a:pPr algn="l"/>
                      <a:r>
                        <a:rPr sz="900" b="0">
                          <a:solidFill>
                            <a:srgbClr val="1E293B"/>
                          </a:solidFill>
                        </a:rPr>
                        <a:t>False Positive Rate</a:t>
                      </a:r>
                    </a:p>
                  </a:txBody>
                  <a:tcPr>
                    <a:solidFill>
                      <a:srgbClr val="FFFFFF"/>
                    </a:solidFill>
                  </a:tcPr>
                </a:tc>
                <a:tc>
                  <a:txBody>
                    <a:bodyPr lIns="73152" rIns="73152"/>
                    <a:lstStyle/>
                    <a:p>
                      <a:pPr algn="l"/>
                      <a:r>
                        <a:rPr sz="900" b="0">
                          <a:solidFill>
                            <a:srgbClr val="1E293B"/>
                          </a:solidFill>
                        </a:rPr>
                        <a:t>&lt; 5% of surfaced hits</a:t>
                      </a:r>
                    </a:p>
                  </a:txBody>
                  <a:tcPr>
                    <a:solidFill>
                      <a:srgbClr val="FFFFFF"/>
                    </a:solidFill>
                  </a:tcPr>
                </a:tc>
                <a:tc>
                  <a:txBody>
                    <a:bodyPr lIns="73152" rIns="73152"/>
                    <a:lstStyle/>
                    <a:p>
                      <a:pPr algn="l"/>
                      <a:r>
                        <a:rPr sz="900" b="0">
                          <a:solidFill>
                            <a:srgbClr val="1E293B"/>
                          </a:solidFill>
                        </a:rPr>
                        <a:t>Too high = alert fatigue and analyst distrust of the tool</a:t>
                      </a:r>
                    </a:p>
                  </a:txBody>
                  <a:tcPr>
                    <a:solidFill>
                      <a:srgbClr val="FFFFFF"/>
                    </a:solidFill>
                  </a:tcPr>
                </a:tc>
              </a:tr>
              <a:tr h="365760">
                <a:tc>
                  <a:txBody>
                    <a:bodyPr lIns="73152" rIns="73152"/>
                    <a:lstStyle/>
                    <a:p>
                      <a:pPr algn="l"/>
                      <a:r>
                        <a:rPr sz="900" b="1">
                          <a:solidFill>
                            <a:srgbClr val="0F2140"/>
                          </a:solidFill>
                        </a:rPr>
                        <a:t>Product</a:t>
                      </a:r>
                    </a:p>
                  </a:txBody>
                  <a:tcPr>
                    <a:solidFill>
                      <a:srgbClr val="F0F7FF"/>
                    </a:solidFill>
                  </a:tcPr>
                </a:tc>
                <a:tc>
                  <a:txBody>
                    <a:bodyPr lIns="73152" rIns="73152"/>
                    <a:lstStyle/>
                    <a:p>
                      <a:pPr algn="l"/>
                      <a:r>
                        <a:rPr sz="900" b="0">
                          <a:solidFill>
                            <a:srgbClr val="1E293B"/>
                          </a:solidFill>
                        </a:rPr>
                        <a:t>AI Rationale Acceptance Rate</a:t>
                      </a:r>
                    </a:p>
                  </a:txBody>
                  <a:tcPr>
                    <a:solidFill>
                      <a:srgbClr val="F0F7FF"/>
                    </a:solidFill>
                  </a:tcPr>
                </a:tc>
                <a:tc>
                  <a:txBody>
                    <a:bodyPr lIns="73152" rIns="73152"/>
                    <a:lstStyle/>
                    <a:p>
                      <a:pPr algn="l"/>
                      <a:r>
                        <a:rPr sz="900" b="0">
                          <a:solidFill>
                            <a:srgbClr val="1E293B"/>
                          </a:solidFill>
                        </a:rPr>
                        <a:t>&gt; 70%</a:t>
                      </a:r>
                    </a:p>
                  </a:txBody>
                  <a:tcPr>
                    <a:solidFill>
                      <a:srgbClr val="F0F7FF"/>
                    </a:solidFill>
                  </a:tcPr>
                </a:tc>
                <a:tc>
                  <a:txBody>
                    <a:bodyPr lIns="73152" rIns="73152"/>
                    <a:lstStyle/>
                    <a:p>
                      <a:pPr algn="l"/>
                      <a:r>
                        <a:rPr sz="900" b="0">
                          <a:solidFill>
                            <a:srgbClr val="1E293B"/>
                          </a:solidFill>
                        </a:rPr>
                        <a:t>&lt; 70% means analysts rewrite from scratch — no time saving</a:t>
                      </a:r>
                    </a:p>
                  </a:txBody>
                  <a:tcPr>
                    <a:solidFill>
                      <a:srgbClr val="F0F7FF"/>
                    </a:solidFill>
                  </a:tcPr>
                </a:tc>
              </a:tr>
              <a:tr h="365760">
                <a:tc>
                  <a:txBody>
                    <a:bodyPr lIns="73152" rIns="73152"/>
                    <a:lstStyle/>
                    <a:p>
                      <a:pPr algn="l"/>
                      <a:r>
                        <a:rPr sz="900" b="1">
                          <a:solidFill>
                            <a:srgbClr val="0F2140"/>
                          </a:solidFill>
                        </a:rPr>
                        <a:t>Product</a:t>
                      </a:r>
                    </a:p>
                  </a:txBody>
                  <a:tcPr>
                    <a:solidFill>
                      <a:srgbClr val="FFFFFF"/>
                    </a:solidFill>
                  </a:tcPr>
                </a:tc>
                <a:tc>
                  <a:txBody>
                    <a:bodyPr lIns="73152" rIns="73152"/>
                    <a:lstStyle/>
                    <a:p>
                      <a:pPr algn="l"/>
                      <a:r>
                        <a:rPr sz="900" b="0">
                          <a:solidFill>
                            <a:srgbClr val="1E293B"/>
                          </a:solidFill>
                        </a:rPr>
                        <a:t>Override Rate</a:t>
                      </a:r>
                    </a:p>
                  </a:txBody>
                  <a:tcPr>
                    <a:solidFill>
                      <a:srgbClr val="FFFFFF"/>
                    </a:solidFill>
                  </a:tcPr>
                </a:tc>
                <a:tc>
                  <a:txBody>
                    <a:bodyPr lIns="73152" rIns="73152"/>
                    <a:lstStyle/>
                    <a:p>
                      <a:pPr algn="l"/>
                      <a:r>
                        <a:rPr sz="900" b="0">
                          <a:solidFill>
                            <a:srgbClr val="1E293B"/>
                          </a:solidFill>
                        </a:rPr>
                        <a:t>&lt; 10% of cases</a:t>
                      </a:r>
                    </a:p>
                  </a:txBody>
                  <a:tcPr>
                    <a:solidFill>
                      <a:srgbClr val="FFFFFF"/>
                    </a:solidFill>
                  </a:tcPr>
                </a:tc>
                <a:tc>
                  <a:txBody>
                    <a:bodyPr lIns="73152" rIns="73152"/>
                    <a:lstStyle/>
                    <a:p>
                      <a:pPr algn="l"/>
                      <a:r>
                        <a:rPr sz="900" b="0">
                          <a:solidFill>
                            <a:srgbClr val="1E293B"/>
                          </a:solidFill>
                        </a:rPr>
                        <a:t>&gt; 10% signals misconfigured scoring thresholds</a:t>
                      </a:r>
                    </a:p>
                  </a:txBody>
                  <a:tcPr>
                    <a:solidFill>
                      <a:srgbClr val="FFFFFF"/>
                    </a:solidFill>
                  </a:tcPr>
                </a:tc>
              </a:tr>
              <a:tr h="365760">
                <a:tc>
                  <a:txBody>
                    <a:bodyPr lIns="73152" rIns="73152"/>
                    <a:lstStyle/>
                    <a:p>
                      <a:pPr algn="l"/>
                      <a:r>
                        <a:rPr sz="900" b="1">
                          <a:solidFill>
                            <a:srgbClr val="0F2140"/>
                          </a:solidFill>
                        </a:rPr>
                        <a:t>Business</a:t>
                      </a:r>
                    </a:p>
                  </a:txBody>
                  <a:tcPr>
                    <a:solidFill>
                      <a:srgbClr val="F0F7FF"/>
                    </a:solidFill>
                  </a:tcPr>
                </a:tc>
                <a:tc>
                  <a:txBody>
                    <a:bodyPr lIns="73152" rIns="73152"/>
                    <a:lstStyle/>
                    <a:p>
                      <a:pPr algn="l"/>
                      <a:r>
                        <a:rPr sz="900" b="0">
                          <a:solidFill>
                            <a:srgbClr val="1E293B"/>
                          </a:solidFill>
                        </a:rPr>
                        <a:t>Monthly Recurring Revenue (MRR)</a:t>
                      </a:r>
                    </a:p>
                  </a:txBody>
                  <a:tcPr>
                    <a:solidFill>
                      <a:srgbClr val="F0F7FF"/>
                    </a:solidFill>
                  </a:tcPr>
                </a:tc>
                <a:tc>
                  <a:txBody>
                    <a:bodyPr lIns="73152" rIns="73152"/>
                    <a:lstStyle/>
                    <a:p>
                      <a:pPr algn="l"/>
                      <a:r>
                        <a:rPr sz="900" b="0">
                          <a:solidFill>
                            <a:srgbClr val="1E293B"/>
                          </a:solidFill>
                        </a:rPr>
                        <a:t>Rs. 20L by Month 9</a:t>
                      </a:r>
                    </a:p>
                  </a:txBody>
                  <a:tcPr>
                    <a:solidFill>
                      <a:srgbClr val="F0F7FF"/>
                    </a:solidFill>
                  </a:tcPr>
                </a:tc>
                <a:tc>
                  <a:txBody>
                    <a:bodyPr lIns="73152" rIns="73152"/>
                    <a:lstStyle/>
                    <a:p>
                      <a:pPr algn="l"/>
                      <a:r>
                        <a:rPr sz="900" b="0">
                          <a:solidFill>
                            <a:srgbClr val="1E293B"/>
                          </a:solidFill>
                        </a:rPr>
                        <a:t>Top-line health; primary investor and board metric</a:t>
                      </a:r>
                    </a:p>
                  </a:txBody>
                  <a:tcPr>
                    <a:solidFill>
                      <a:srgbClr val="F0F7FF"/>
                    </a:solidFill>
                  </a:tcPr>
                </a:tc>
              </a:tr>
              <a:tr h="365760">
                <a:tc>
                  <a:txBody>
                    <a:bodyPr lIns="73152" rIns="73152"/>
                    <a:lstStyle/>
                    <a:p>
                      <a:pPr algn="l"/>
                      <a:r>
                        <a:rPr sz="900" b="1">
                          <a:solidFill>
                            <a:srgbClr val="0F2140"/>
                          </a:solidFill>
                        </a:rPr>
                        <a:t>Business</a:t>
                      </a:r>
                    </a:p>
                  </a:txBody>
                  <a:tcPr>
                    <a:solidFill>
                      <a:srgbClr val="FFFFFF"/>
                    </a:solidFill>
                  </a:tcPr>
                </a:tc>
                <a:tc>
                  <a:txBody>
                    <a:bodyPr lIns="73152" rIns="73152"/>
                    <a:lstStyle/>
                    <a:p>
                      <a:pPr algn="l"/>
                      <a:r>
                        <a:rPr sz="900" b="0">
                          <a:solidFill>
                            <a:srgbClr val="1E293B"/>
                          </a:solidFill>
                        </a:rPr>
                        <a:t>Net Revenue Retention (NRR)</a:t>
                      </a:r>
                    </a:p>
                  </a:txBody>
                  <a:tcPr>
                    <a:solidFill>
                      <a:srgbClr val="FFFFFF"/>
                    </a:solidFill>
                  </a:tcPr>
                </a:tc>
                <a:tc>
                  <a:txBody>
                    <a:bodyPr lIns="73152" rIns="73152"/>
                    <a:lstStyle/>
                    <a:p>
                      <a:pPr algn="l"/>
                      <a:r>
                        <a:rPr sz="900" b="0">
                          <a:solidFill>
                            <a:srgbClr val="1E293B"/>
                          </a:solidFill>
                        </a:rPr>
                        <a:t>&gt; 110% at Month 12</a:t>
                      </a:r>
                    </a:p>
                  </a:txBody>
                  <a:tcPr>
                    <a:solidFill>
                      <a:srgbClr val="FFFFFF"/>
                    </a:solidFill>
                  </a:tcPr>
                </a:tc>
                <a:tc>
                  <a:txBody>
                    <a:bodyPr lIns="73152" rIns="73152"/>
                    <a:lstStyle/>
                    <a:p>
                      <a:pPr algn="l"/>
                      <a:r>
                        <a:rPr sz="900" b="0">
                          <a:solidFill>
                            <a:srgbClr val="1E293B"/>
                          </a:solidFill>
                        </a:rPr>
                        <a:t>NRR &gt; 100% confirms land-and-expand motion is working</a:t>
                      </a:r>
                    </a:p>
                  </a:txBody>
                  <a:tcPr>
                    <a:solidFill>
                      <a:srgbClr val="FFFFFF"/>
                    </a:solidFill>
                  </a:tcPr>
                </a:tc>
              </a:tr>
              <a:tr h="365760">
                <a:tc>
                  <a:txBody>
                    <a:bodyPr lIns="73152" rIns="73152"/>
                    <a:lstStyle/>
                    <a:p>
                      <a:pPr algn="l"/>
                      <a:r>
                        <a:rPr sz="900" b="1">
                          <a:solidFill>
                            <a:srgbClr val="0F2140"/>
                          </a:solidFill>
                        </a:rPr>
                        <a:t>Business</a:t>
                      </a:r>
                    </a:p>
                  </a:txBody>
                  <a:tcPr>
                    <a:solidFill>
                      <a:srgbClr val="F0F7FF"/>
                    </a:solidFill>
                  </a:tcPr>
                </a:tc>
                <a:tc>
                  <a:txBody>
                    <a:bodyPr lIns="73152" rIns="73152"/>
                    <a:lstStyle/>
                    <a:p>
                      <a:pPr algn="l"/>
                      <a:r>
                        <a:rPr sz="900" b="0">
                          <a:solidFill>
                            <a:srgbClr val="1E293B"/>
                          </a:solidFill>
                        </a:rPr>
                        <a:t>Pilot-to-Paid Conversion Rate</a:t>
                      </a:r>
                    </a:p>
                  </a:txBody>
                  <a:tcPr>
                    <a:solidFill>
                      <a:srgbClr val="F0F7FF"/>
                    </a:solidFill>
                  </a:tcPr>
                </a:tc>
                <a:tc>
                  <a:txBody>
                    <a:bodyPr lIns="73152" rIns="73152"/>
                    <a:lstStyle/>
                    <a:p>
                      <a:pPr algn="l"/>
                      <a:r>
                        <a:rPr sz="900" b="0">
                          <a:solidFill>
                            <a:srgbClr val="1E293B"/>
                          </a:solidFill>
                        </a:rPr>
                        <a:t>&gt; 67%  (2 of 3 per cohort)</a:t>
                      </a:r>
                    </a:p>
                  </a:txBody>
                  <a:tcPr>
                    <a:solidFill>
                      <a:srgbClr val="F0F7FF"/>
                    </a:solidFill>
                  </a:tcPr>
                </a:tc>
                <a:tc>
                  <a:txBody>
                    <a:bodyPr lIns="73152" rIns="73152"/>
                    <a:lstStyle/>
                    <a:p>
                      <a:pPr algn="l"/>
                      <a:r>
                        <a:rPr sz="900" b="0">
                          <a:solidFill>
                            <a:srgbClr val="1E293B"/>
                          </a:solidFill>
                        </a:rPr>
                        <a:t>Measures whether the pilot structure is working</a:t>
                      </a:r>
                    </a:p>
                  </a:txBody>
                  <a:tcPr>
                    <a:solidFill>
                      <a:srgbClr val="F0F7FF"/>
                    </a:solidFill>
                  </a:tcPr>
                </a:tc>
              </a:tr>
              <a:tr h="365760">
                <a:tc>
                  <a:txBody>
                    <a:bodyPr lIns="73152" rIns="73152"/>
                    <a:lstStyle/>
                    <a:p>
                      <a:pPr algn="l"/>
                      <a:r>
                        <a:rPr sz="900" b="1">
                          <a:solidFill>
                            <a:srgbClr val="0F2140"/>
                          </a:solidFill>
                        </a:rPr>
                        <a:t>MLRO</a:t>
                      </a:r>
                    </a:p>
                  </a:txBody>
                  <a:tcPr>
                    <a:solidFill>
                      <a:srgbClr val="FFFFFF"/>
                    </a:solidFill>
                  </a:tcPr>
                </a:tc>
                <a:tc>
                  <a:txBody>
                    <a:bodyPr lIns="73152" rIns="73152"/>
                    <a:lstStyle/>
                    <a:p>
                      <a:pPr algn="l"/>
                      <a:r>
                        <a:rPr sz="900" b="0">
                          <a:solidFill>
                            <a:srgbClr val="1E293B"/>
                          </a:solidFill>
                        </a:rPr>
                        <a:t>ESCALATE Rate</a:t>
                      </a:r>
                    </a:p>
                  </a:txBody>
                  <a:tcPr>
                    <a:solidFill>
                      <a:srgbClr val="FFFFFF"/>
                    </a:solidFill>
                  </a:tcPr>
                </a:tc>
                <a:tc>
                  <a:txBody>
                    <a:bodyPr lIns="73152" rIns="73152"/>
                    <a:lstStyle/>
                    <a:p>
                      <a:pPr algn="l"/>
                      <a:r>
                        <a:rPr sz="900" b="0">
                          <a:solidFill>
                            <a:srgbClr val="1E293B"/>
                          </a:solidFill>
                        </a:rPr>
                        <a:t>5–12% of cases</a:t>
                      </a:r>
                    </a:p>
                  </a:txBody>
                  <a:tcPr>
                    <a:solidFill>
                      <a:srgbClr val="FFFFFF"/>
                    </a:solidFill>
                  </a:tcPr>
                </a:tc>
                <a:tc>
                  <a:txBody>
                    <a:bodyPr lIns="73152" rIns="73152"/>
                    <a:lstStyle/>
                    <a:p>
                      <a:pPr algn="l"/>
                      <a:r>
                        <a:rPr sz="900" b="0">
                          <a:solidFill>
                            <a:srgbClr val="1E293B"/>
                          </a:solidFill>
                        </a:rPr>
                        <a:t>Too low = under-escalation; too high = miscalibration</a:t>
                      </a:r>
                    </a:p>
                  </a:txBody>
                  <a:tcPr>
                    <a:solidFill>
                      <a:srgbClr val="FFFFFF"/>
                    </a:solidFill>
                  </a:tcPr>
                </a:tc>
              </a:tr>
              <a:tr h="365760">
                <a:tc>
                  <a:txBody>
                    <a:bodyPr lIns="73152" rIns="73152"/>
                    <a:lstStyle/>
                    <a:p>
                      <a:pPr algn="l"/>
                      <a:r>
                        <a:rPr sz="900" b="1">
                          <a:solidFill>
                            <a:srgbClr val="0F2140"/>
                          </a:solidFill>
                        </a:rPr>
                        <a:t>MLRO</a:t>
                      </a:r>
                    </a:p>
                  </a:txBody>
                  <a:tcPr>
                    <a:solidFill>
                      <a:srgbClr val="F0F7FF"/>
                    </a:solidFill>
                  </a:tcPr>
                </a:tc>
                <a:tc>
                  <a:txBody>
                    <a:bodyPr lIns="73152" rIns="73152"/>
                    <a:lstStyle/>
                    <a:p>
                      <a:pPr algn="l"/>
                      <a:r>
                        <a:rPr sz="900" b="0">
                          <a:solidFill>
                            <a:srgbClr val="1E293B"/>
                          </a:solidFill>
                        </a:rPr>
                        <a:t>Decisions with Override Rationale</a:t>
                      </a:r>
                    </a:p>
                  </a:txBody>
                  <a:tcPr>
                    <a:solidFill>
                      <a:srgbClr val="F0F7FF"/>
                    </a:solidFill>
                  </a:tcPr>
                </a:tc>
                <a:tc>
                  <a:txBody>
                    <a:bodyPr lIns="73152" rIns="73152"/>
                    <a:lstStyle/>
                    <a:p>
                      <a:pPr algn="l"/>
                      <a:r>
                        <a:rPr sz="900" b="0">
                          <a:solidFill>
                            <a:srgbClr val="1E293B"/>
                          </a:solidFill>
                        </a:rPr>
                        <a:t>100% of overrides</a:t>
                      </a:r>
                    </a:p>
                  </a:txBody>
                  <a:tcPr>
                    <a:solidFill>
                      <a:srgbClr val="F0F7FF"/>
                    </a:solidFill>
                  </a:tcPr>
                </a:tc>
                <a:tc>
                  <a:txBody>
                    <a:bodyPr lIns="73152" rIns="73152"/>
                    <a:lstStyle/>
                    <a:p>
                      <a:pPr algn="l"/>
                      <a:r>
                        <a:rPr sz="900" b="0">
                          <a:solidFill>
                            <a:srgbClr val="1E293B"/>
                          </a:solidFill>
                        </a:rPr>
                        <a:t>Regulatory requirement. Must be 100% at all times.</a:t>
                      </a:r>
                    </a:p>
                  </a:txBody>
                  <a:tcPr>
                    <a:solidFill>
                      <a:srgbClr val="F0F7FF"/>
                    </a:solidFill>
                  </a:tcPr>
                </a:tc>
              </a:tr>
            </a:tbl>
          </a:graphicData>
        </a:graphic>
      </p:graphicFrame>
      <p:sp>
        <p:nvSpPr>
          <p:cNvPr id="11" name="TextBox 10"/>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09</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Channel Plan</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Three channels — one priority order</a:t>
            </a:r>
          </a:p>
        </p:txBody>
      </p:sp>
      <p:graphicFrame>
        <p:nvGraphicFramePr>
          <p:cNvPr id="6" name="Table 5"/>
          <p:cNvGraphicFramePr>
            <a:graphicFrameLocks noGrp="1"/>
          </p:cNvGraphicFramePr>
          <p:nvPr/>
        </p:nvGraphicFramePr>
        <p:xfrm>
          <a:off x="274320" y="1024128"/>
          <a:ext cx="11612880" cy="749808"/>
        </p:xfrm>
        <a:graphic>
          <a:graphicData uri="http://schemas.openxmlformats.org/drawingml/2006/table">
            <a:tbl>
              <a:tblPr firstRow="1" bandRow="1">
                <a:tableStyleId>{5C22544A-7EE6-4342-B048-85BDC9FD1C3A}</a:tableStyleId>
              </a:tblPr>
              <a:tblGrid>
                <a:gridCol w="2331720"/>
                <a:gridCol w="4937760"/>
                <a:gridCol w="1325880"/>
                <a:gridCol w="1325880"/>
                <a:gridCol w="1691640"/>
              </a:tblGrid>
              <a:tr h="187452">
                <a:tc>
                  <a:txBody>
                    <a:bodyPr lIns="73152" rIns="73152"/>
                    <a:lstStyle/>
                    <a:p>
                      <a:pPr algn="l"/>
                      <a:r>
                        <a:rPr sz="950" b="1">
                          <a:solidFill>
                            <a:srgbClr val="FFFFFF"/>
                          </a:solidFill>
                        </a:rPr>
                        <a:t>Channel</a:t>
                      </a:r>
                    </a:p>
                  </a:txBody>
                  <a:tcPr>
                    <a:solidFill>
                      <a:srgbClr val="0F2140"/>
                    </a:solidFill>
                  </a:tcPr>
                </a:tc>
                <a:tc>
                  <a:txBody>
                    <a:bodyPr lIns="73152" rIns="73152"/>
                    <a:lstStyle/>
                    <a:p>
                      <a:pPr algn="l"/>
                      <a:r>
                        <a:rPr sz="950" b="1">
                          <a:solidFill>
                            <a:srgbClr val="FFFFFF"/>
                          </a:solidFill>
                        </a:rPr>
                        <a:t>Description</a:t>
                      </a:r>
                    </a:p>
                  </a:txBody>
                  <a:tcPr>
                    <a:solidFill>
                      <a:srgbClr val="0F2140"/>
                    </a:solidFill>
                  </a:tcPr>
                </a:tc>
                <a:tc>
                  <a:txBody>
                    <a:bodyPr lIns="73152" rIns="73152"/>
                    <a:lstStyle/>
                    <a:p>
                      <a:pPr algn="l"/>
                      <a:r>
                        <a:rPr sz="950" b="1">
                          <a:solidFill>
                            <a:srgbClr val="FFFFFF"/>
                          </a:solidFill>
                        </a:rPr>
                        <a:t>Year 1</a:t>
                      </a:r>
                    </a:p>
                  </a:txBody>
                  <a:tcPr>
                    <a:solidFill>
                      <a:srgbClr val="0F2140"/>
                    </a:solidFill>
                  </a:tcPr>
                </a:tc>
                <a:tc>
                  <a:txBody>
                    <a:bodyPr lIns="73152" rIns="73152"/>
                    <a:lstStyle/>
                    <a:p>
                      <a:pPr algn="l"/>
                      <a:r>
                        <a:rPr sz="950" b="1">
                          <a:solidFill>
                            <a:srgbClr val="FFFFFF"/>
                          </a:solidFill>
                        </a:rPr>
                        <a:t>Year 2</a:t>
                      </a:r>
                    </a:p>
                  </a:txBody>
                  <a:tcPr>
                    <a:solidFill>
                      <a:srgbClr val="0F2140"/>
                    </a:solidFill>
                  </a:tcPr>
                </a:tc>
                <a:tc>
                  <a:txBody>
                    <a:bodyPr lIns="73152" rIns="73152"/>
                    <a:lstStyle/>
                    <a:p>
                      <a:pPr algn="l"/>
                      <a:r>
                        <a:rPr sz="950" b="1">
                          <a:solidFill>
                            <a:srgbClr val="FFFFFF"/>
                          </a:solidFill>
                        </a:rPr>
                        <a:t>Year 3</a:t>
                      </a:r>
                    </a:p>
                  </a:txBody>
                  <a:tcPr>
                    <a:solidFill>
                      <a:srgbClr val="0F2140"/>
                    </a:solidFill>
                  </a:tcPr>
                </a:tc>
              </a:tr>
              <a:tr h="187452">
                <a:tc>
                  <a:txBody>
                    <a:bodyPr lIns="73152" rIns="73152"/>
                    <a:lstStyle/>
                    <a:p>
                      <a:pPr algn="l"/>
                      <a:r>
                        <a:rPr sz="900" b="1">
                          <a:solidFill>
                            <a:srgbClr val="0F2140"/>
                          </a:solidFill>
                        </a:rPr>
                        <a:t>1. Direct Sales (Founder-Led)</a:t>
                      </a:r>
                    </a:p>
                  </a:txBody>
                  <a:tcPr>
                    <a:solidFill>
                      <a:srgbClr val="F0F7FF"/>
                    </a:solidFill>
                  </a:tcPr>
                </a:tc>
                <a:tc>
                  <a:txBody>
                    <a:bodyPr lIns="73152" rIns="73152"/>
                    <a:lstStyle/>
                    <a:p>
                      <a:pPr algn="l"/>
                      <a:r>
                        <a:rPr sz="900" b="0">
                          <a:solidFill>
                            <a:srgbClr val="1E293B"/>
                          </a:solidFill>
                        </a:rPr>
                        <a:t>Warm-intro outreach; 6-stage funnel</a:t>
                      </a:r>
                    </a:p>
                  </a:txBody>
                  <a:tcPr>
                    <a:solidFill>
                      <a:srgbClr val="F0F7FF"/>
                    </a:solidFill>
                  </a:tcPr>
                </a:tc>
                <a:tc>
                  <a:txBody>
                    <a:bodyPr lIns="73152" rIns="73152"/>
                    <a:lstStyle/>
                    <a:p>
                      <a:pPr algn="l"/>
                      <a:r>
                        <a:rPr sz="900" b="0">
                          <a:solidFill>
                            <a:srgbClr val="1E293B"/>
                          </a:solidFill>
                        </a:rPr>
                        <a:t>90%</a:t>
                      </a:r>
                    </a:p>
                  </a:txBody>
                  <a:tcPr>
                    <a:solidFill>
                      <a:srgbClr val="F0F7FF"/>
                    </a:solidFill>
                  </a:tcPr>
                </a:tc>
                <a:tc>
                  <a:txBody>
                    <a:bodyPr lIns="73152" rIns="73152"/>
                    <a:lstStyle/>
                    <a:p>
                      <a:pPr algn="l"/>
                      <a:r>
                        <a:rPr sz="900" b="0">
                          <a:solidFill>
                            <a:srgbClr val="1E293B"/>
                          </a:solidFill>
                        </a:rPr>
                        <a:t>60%</a:t>
                      </a:r>
                    </a:p>
                  </a:txBody>
                  <a:tcPr>
                    <a:solidFill>
                      <a:srgbClr val="F0F7FF"/>
                    </a:solidFill>
                  </a:tcPr>
                </a:tc>
                <a:tc>
                  <a:txBody>
                    <a:bodyPr lIns="73152" rIns="73152"/>
                    <a:lstStyle/>
                    <a:p>
                      <a:pPr algn="l"/>
                      <a:r>
                        <a:rPr sz="900" b="0">
                          <a:solidFill>
                            <a:srgbClr val="1E293B"/>
                          </a:solidFill>
                        </a:rPr>
                        <a:t>40%</a:t>
                      </a:r>
                    </a:p>
                  </a:txBody>
                  <a:tcPr>
                    <a:solidFill>
                      <a:srgbClr val="F0F7FF"/>
                    </a:solidFill>
                  </a:tcPr>
                </a:tc>
              </a:tr>
              <a:tr h="187452">
                <a:tc>
                  <a:txBody>
                    <a:bodyPr lIns="73152" rIns="73152"/>
                    <a:lstStyle/>
                    <a:p>
                      <a:pPr algn="l"/>
                      <a:r>
                        <a:rPr sz="900" b="1">
                          <a:solidFill>
                            <a:srgbClr val="0F2140"/>
                          </a:solidFill>
                        </a:rPr>
                        <a:t>2. Partner Referral</a:t>
                      </a:r>
                    </a:p>
                  </a:txBody>
                  <a:tcPr>
                    <a:solidFill>
                      <a:srgbClr val="FFFFFF"/>
                    </a:solidFill>
                  </a:tcPr>
                </a:tc>
                <a:tc>
                  <a:txBody>
                    <a:bodyPr lIns="73152" rIns="73152"/>
                    <a:lstStyle/>
                    <a:p>
                      <a:pPr algn="l"/>
                      <a:r>
                        <a:rPr sz="900" b="0">
                          <a:solidFill>
                            <a:srgbClr val="1E293B"/>
                          </a:solidFill>
                        </a:rPr>
                        <a:t>Consulting firms + associations</a:t>
                      </a:r>
                    </a:p>
                  </a:txBody>
                  <a:tcPr>
                    <a:solidFill>
                      <a:srgbClr val="FFFFFF"/>
                    </a:solidFill>
                  </a:tcPr>
                </a:tc>
                <a:tc>
                  <a:txBody>
                    <a:bodyPr lIns="73152" rIns="73152"/>
                    <a:lstStyle/>
                    <a:p>
                      <a:pPr algn="l"/>
                      <a:r>
                        <a:rPr sz="900" b="0">
                          <a:solidFill>
                            <a:srgbClr val="1E293B"/>
                          </a:solidFill>
                        </a:rPr>
                        <a:t>10%</a:t>
                      </a:r>
                    </a:p>
                  </a:txBody>
                  <a:tcPr>
                    <a:solidFill>
                      <a:srgbClr val="FFFFFF"/>
                    </a:solidFill>
                  </a:tcPr>
                </a:tc>
                <a:tc>
                  <a:txBody>
                    <a:bodyPr lIns="73152" rIns="73152"/>
                    <a:lstStyle/>
                    <a:p>
                      <a:pPr algn="l"/>
                      <a:r>
                        <a:rPr sz="900" b="0">
                          <a:solidFill>
                            <a:srgbClr val="1E293B"/>
                          </a:solidFill>
                        </a:rPr>
                        <a:t>30%</a:t>
                      </a:r>
                    </a:p>
                  </a:txBody>
                  <a:tcPr>
                    <a:solidFill>
                      <a:srgbClr val="FFFFFF"/>
                    </a:solidFill>
                  </a:tcPr>
                </a:tc>
                <a:tc>
                  <a:txBody>
                    <a:bodyPr lIns="73152" rIns="73152"/>
                    <a:lstStyle/>
                    <a:p>
                      <a:pPr algn="l"/>
                      <a:r>
                        <a:rPr sz="900" b="0">
                          <a:solidFill>
                            <a:srgbClr val="1E293B"/>
                          </a:solidFill>
                        </a:rPr>
                        <a:t>35%</a:t>
                      </a:r>
                    </a:p>
                  </a:txBody>
                  <a:tcPr>
                    <a:solidFill>
                      <a:srgbClr val="FFFFFF"/>
                    </a:solidFill>
                  </a:tcPr>
                </a:tc>
              </a:tr>
              <a:tr h="187452">
                <a:tc>
                  <a:txBody>
                    <a:bodyPr lIns="73152" rIns="73152"/>
                    <a:lstStyle/>
                    <a:p>
                      <a:pPr algn="l"/>
                      <a:r>
                        <a:rPr sz="900" b="1">
                          <a:solidFill>
                            <a:srgbClr val="0F2140"/>
                          </a:solidFill>
                        </a:rPr>
                        <a:t>3. Inbound / Content</a:t>
                      </a:r>
                    </a:p>
                  </a:txBody>
                  <a:tcPr>
                    <a:solidFill>
                      <a:srgbClr val="F0F7FF"/>
                    </a:solidFill>
                  </a:tcPr>
                </a:tc>
                <a:tc>
                  <a:txBody>
                    <a:bodyPr lIns="73152" rIns="73152"/>
                    <a:lstStyle/>
                    <a:p>
                      <a:pPr algn="l"/>
                      <a:r>
                        <a:rPr sz="900" b="0">
                          <a:solidFill>
                            <a:srgbClr val="1E293B"/>
                          </a:solidFill>
                        </a:rPr>
                        <a:t>Thought leadership + community</a:t>
                      </a:r>
                    </a:p>
                  </a:txBody>
                  <a:tcPr>
                    <a:solidFill>
                      <a:srgbClr val="F0F7FF"/>
                    </a:solidFill>
                  </a:tcPr>
                </a:tc>
                <a:tc>
                  <a:txBody>
                    <a:bodyPr lIns="73152" rIns="73152"/>
                    <a:lstStyle/>
                    <a:p>
                      <a:pPr algn="l"/>
                      <a:r>
                        <a:rPr sz="900" b="0">
                          <a:solidFill>
                            <a:srgbClr val="1E293B"/>
                          </a:solidFill>
                        </a:rPr>
                        <a:t>&lt;5%</a:t>
                      </a:r>
                    </a:p>
                  </a:txBody>
                  <a:tcPr>
                    <a:solidFill>
                      <a:srgbClr val="F0F7FF"/>
                    </a:solidFill>
                  </a:tcPr>
                </a:tc>
                <a:tc>
                  <a:txBody>
                    <a:bodyPr lIns="73152" rIns="73152"/>
                    <a:lstStyle/>
                    <a:p>
                      <a:pPr algn="l"/>
                      <a:r>
                        <a:rPr sz="900" b="0">
                          <a:solidFill>
                            <a:srgbClr val="1E293B"/>
                          </a:solidFill>
                        </a:rPr>
                        <a:t>10%</a:t>
                      </a:r>
                    </a:p>
                  </a:txBody>
                  <a:tcPr>
                    <a:solidFill>
                      <a:srgbClr val="F0F7FF"/>
                    </a:solidFill>
                  </a:tcPr>
                </a:tc>
                <a:tc>
                  <a:txBody>
                    <a:bodyPr lIns="73152" rIns="73152"/>
                    <a:lstStyle/>
                    <a:p>
                      <a:pPr algn="l"/>
                      <a:r>
                        <a:rPr sz="900" b="0">
                          <a:solidFill>
                            <a:srgbClr val="1E293B"/>
                          </a:solidFill>
                        </a:rPr>
                        <a:t>25%</a:t>
                      </a:r>
                    </a:p>
                  </a:txBody>
                  <a:tcPr>
                    <a:solidFill>
                      <a:srgbClr val="F0F7FF"/>
                    </a:solidFill>
                  </a:tcPr>
                </a:tc>
              </a:tr>
            </a:tbl>
          </a:graphicData>
        </a:graphic>
      </p:graphicFrame>
      <p:sp>
        <p:nvSpPr>
          <p:cNvPr id="7" name="Rectangle 6"/>
          <p:cNvSpPr/>
          <p:nvPr/>
        </p:nvSpPr>
        <p:spPr>
          <a:xfrm>
            <a:off x="274320" y="1901952"/>
            <a:ext cx="54864" cy="1481328"/>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7472" y="1901952"/>
            <a:ext cx="3657600" cy="1481328"/>
          </a:xfrm>
          <a:prstGeom prst="rect">
            <a:avLst/>
          </a:prstGeom>
          <a:solidFill>
            <a:srgbClr val="D0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993392"/>
            <a:ext cx="3429000" cy="274320"/>
          </a:xfrm>
          <a:prstGeom prst="rect">
            <a:avLst/>
          </a:prstGeom>
          <a:noFill/>
        </p:spPr>
        <p:txBody>
          <a:bodyPr wrap="square">
            <a:spAutoFit/>
          </a:bodyPr>
          <a:lstStyle/>
          <a:p>
            <a:pPr algn="l"/>
            <a:r>
              <a:rPr sz="1100" b="1">
                <a:solidFill>
                  <a:srgbClr val="00A890"/>
                </a:solidFill>
              </a:rPr>
              <a:t>Direct Sales (Founder-Led)</a:t>
            </a:r>
          </a:p>
        </p:txBody>
      </p:sp>
      <p:sp>
        <p:nvSpPr>
          <p:cNvPr id="10" name="TextBox 9"/>
          <p:cNvSpPr txBox="1"/>
          <p:nvPr/>
        </p:nvSpPr>
        <p:spPr>
          <a:xfrm>
            <a:off x="475488" y="2359152"/>
            <a:ext cx="1097280" cy="201168"/>
          </a:xfrm>
          <a:prstGeom prst="rect">
            <a:avLst/>
          </a:prstGeom>
          <a:noFill/>
        </p:spPr>
        <p:txBody>
          <a:bodyPr wrap="square">
            <a:spAutoFit/>
          </a:bodyPr>
          <a:lstStyle/>
          <a:p>
            <a:pPr algn="l"/>
            <a:r>
              <a:rPr sz="800" b="0">
                <a:solidFill>
                  <a:srgbClr val="94A3B8"/>
                </a:solidFill>
              </a:rPr>
              <a:t>Year 1</a:t>
            </a:r>
          </a:p>
        </p:txBody>
      </p:sp>
      <p:sp>
        <p:nvSpPr>
          <p:cNvPr id="11" name="TextBox 10"/>
          <p:cNvSpPr txBox="1"/>
          <p:nvPr/>
        </p:nvSpPr>
        <p:spPr>
          <a:xfrm>
            <a:off x="475488" y="2560320"/>
            <a:ext cx="1097280" cy="384048"/>
          </a:xfrm>
          <a:prstGeom prst="rect">
            <a:avLst/>
          </a:prstGeom>
          <a:noFill/>
        </p:spPr>
        <p:txBody>
          <a:bodyPr wrap="square">
            <a:spAutoFit/>
          </a:bodyPr>
          <a:lstStyle/>
          <a:p>
            <a:pPr algn="l"/>
            <a:r>
              <a:rPr sz="1800" b="1">
                <a:solidFill>
                  <a:srgbClr val="00A890"/>
                </a:solidFill>
              </a:rPr>
              <a:t>90%</a:t>
            </a:r>
          </a:p>
        </p:txBody>
      </p:sp>
      <p:sp>
        <p:nvSpPr>
          <p:cNvPr id="12" name="TextBox 11"/>
          <p:cNvSpPr txBox="1"/>
          <p:nvPr/>
        </p:nvSpPr>
        <p:spPr>
          <a:xfrm>
            <a:off x="1618488" y="2359152"/>
            <a:ext cx="1097280" cy="201168"/>
          </a:xfrm>
          <a:prstGeom prst="rect">
            <a:avLst/>
          </a:prstGeom>
          <a:noFill/>
        </p:spPr>
        <p:txBody>
          <a:bodyPr wrap="square">
            <a:spAutoFit/>
          </a:bodyPr>
          <a:lstStyle/>
          <a:p>
            <a:pPr algn="l"/>
            <a:r>
              <a:rPr sz="800" b="0">
                <a:solidFill>
                  <a:srgbClr val="94A3B8"/>
                </a:solidFill>
              </a:rPr>
              <a:t>Year 2</a:t>
            </a:r>
          </a:p>
        </p:txBody>
      </p:sp>
      <p:sp>
        <p:nvSpPr>
          <p:cNvPr id="13" name="TextBox 12"/>
          <p:cNvSpPr txBox="1"/>
          <p:nvPr/>
        </p:nvSpPr>
        <p:spPr>
          <a:xfrm>
            <a:off x="1618488" y="2560320"/>
            <a:ext cx="1097280" cy="384048"/>
          </a:xfrm>
          <a:prstGeom prst="rect">
            <a:avLst/>
          </a:prstGeom>
          <a:noFill/>
        </p:spPr>
        <p:txBody>
          <a:bodyPr wrap="square">
            <a:spAutoFit/>
          </a:bodyPr>
          <a:lstStyle/>
          <a:p>
            <a:pPr algn="l"/>
            <a:r>
              <a:rPr sz="1800" b="1">
                <a:solidFill>
                  <a:srgbClr val="00A890"/>
                </a:solidFill>
              </a:rPr>
              <a:t>60%</a:t>
            </a:r>
          </a:p>
        </p:txBody>
      </p:sp>
      <p:sp>
        <p:nvSpPr>
          <p:cNvPr id="14" name="TextBox 13"/>
          <p:cNvSpPr txBox="1"/>
          <p:nvPr/>
        </p:nvSpPr>
        <p:spPr>
          <a:xfrm>
            <a:off x="2761488" y="2359152"/>
            <a:ext cx="1097280" cy="201168"/>
          </a:xfrm>
          <a:prstGeom prst="rect">
            <a:avLst/>
          </a:prstGeom>
          <a:noFill/>
        </p:spPr>
        <p:txBody>
          <a:bodyPr wrap="square">
            <a:spAutoFit/>
          </a:bodyPr>
          <a:lstStyle/>
          <a:p>
            <a:pPr algn="l"/>
            <a:r>
              <a:rPr sz="800" b="0">
                <a:solidFill>
                  <a:srgbClr val="94A3B8"/>
                </a:solidFill>
              </a:rPr>
              <a:t>Year 3</a:t>
            </a:r>
          </a:p>
        </p:txBody>
      </p:sp>
      <p:sp>
        <p:nvSpPr>
          <p:cNvPr id="15" name="TextBox 14"/>
          <p:cNvSpPr txBox="1"/>
          <p:nvPr/>
        </p:nvSpPr>
        <p:spPr>
          <a:xfrm>
            <a:off x="2761488" y="2560320"/>
            <a:ext cx="1097280" cy="384048"/>
          </a:xfrm>
          <a:prstGeom prst="rect">
            <a:avLst/>
          </a:prstGeom>
          <a:noFill/>
        </p:spPr>
        <p:txBody>
          <a:bodyPr wrap="square">
            <a:spAutoFit/>
          </a:bodyPr>
          <a:lstStyle/>
          <a:p>
            <a:pPr algn="l"/>
            <a:r>
              <a:rPr sz="1800" b="1">
                <a:solidFill>
                  <a:srgbClr val="00A890"/>
                </a:solidFill>
              </a:rPr>
              <a:t>40%</a:t>
            </a:r>
          </a:p>
        </p:txBody>
      </p:sp>
      <p:sp>
        <p:nvSpPr>
          <p:cNvPr id="16" name="Rectangle 15"/>
          <p:cNvSpPr/>
          <p:nvPr/>
        </p:nvSpPr>
        <p:spPr>
          <a:xfrm>
            <a:off x="4041648" y="1901952"/>
            <a:ext cx="8119872" cy="1481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Warm-intro outreach via IITM/IIM alumni network, shared investors, IFF/NASSCOM events. 6-stage funnel: Identify → Warm Intro → Discovery → Demo → Pilot Offer → Conversion at Week 8. Target: 5 warm intros per month.</a:t>
            </a:r>
          </a:p>
        </p:txBody>
      </p:sp>
      <p:sp>
        <p:nvSpPr>
          <p:cNvPr id="17" name="Rectangle 16"/>
          <p:cNvSpPr/>
          <p:nvPr/>
        </p:nvSpPr>
        <p:spPr>
          <a:xfrm>
            <a:off x="274320" y="1901952"/>
            <a:ext cx="64008" cy="1481328"/>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3529584"/>
            <a:ext cx="54864" cy="1481328"/>
          </a:xfrm>
          <a:prstGeom prst="rect">
            <a:avLst/>
          </a:prstGeom>
          <a:solidFill>
            <a:srgbClr val="B45B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7472" y="3529584"/>
            <a:ext cx="3657600" cy="1481328"/>
          </a:xfrm>
          <a:prstGeom prst="rect">
            <a:avLst/>
          </a:prstGeom>
          <a:solidFill>
            <a:srgbClr val="FFF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3621024"/>
            <a:ext cx="3429000" cy="274320"/>
          </a:xfrm>
          <a:prstGeom prst="rect">
            <a:avLst/>
          </a:prstGeom>
          <a:noFill/>
        </p:spPr>
        <p:txBody>
          <a:bodyPr wrap="square">
            <a:spAutoFit/>
          </a:bodyPr>
          <a:lstStyle/>
          <a:p>
            <a:pPr algn="l"/>
            <a:r>
              <a:rPr sz="1100" b="1">
                <a:solidFill>
                  <a:srgbClr val="B45B09"/>
                </a:solidFill>
              </a:rPr>
              <a:t>Partner Referral</a:t>
            </a:r>
          </a:p>
        </p:txBody>
      </p:sp>
      <p:sp>
        <p:nvSpPr>
          <p:cNvPr id="21" name="TextBox 20"/>
          <p:cNvSpPr txBox="1"/>
          <p:nvPr/>
        </p:nvSpPr>
        <p:spPr>
          <a:xfrm>
            <a:off x="475488" y="3986784"/>
            <a:ext cx="1097280" cy="201168"/>
          </a:xfrm>
          <a:prstGeom prst="rect">
            <a:avLst/>
          </a:prstGeom>
          <a:noFill/>
        </p:spPr>
        <p:txBody>
          <a:bodyPr wrap="square">
            <a:spAutoFit/>
          </a:bodyPr>
          <a:lstStyle/>
          <a:p>
            <a:pPr algn="l"/>
            <a:r>
              <a:rPr sz="800" b="0">
                <a:solidFill>
                  <a:srgbClr val="94A3B8"/>
                </a:solidFill>
              </a:rPr>
              <a:t>Year 1</a:t>
            </a:r>
          </a:p>
        </p:txBody>
      </p:sp>
      <p:sp>
        <p:nvSpPr>
          <p:cNvPr id="22" name="TextBox 21"/>
          <p:cNvSpPr txBox="1"/>
          <p:nvPr/>
        </p:nvSpPr>
        <p:spPr>
          <a:xfrm>
            <a:off x="475488" y="4187952"/>
            <a:ext cx="1097280" cy="384048"/>
          </a:xfrm>
          <a:prstGeom prst="rect">
            <a:avLst/>
          </a:prstGeom>
          <a:noFill/>
        </p:spPr>
        <p:txBody>
          <a:bodyPr wrap="square">
            <a:spAutoFit/>
          </a:bodyPr>
          <a:lstStyle/>
          <a:p>
            <a:pPr algn="l"/>
            <a:r>
              <a:rPr sz="1800" b="1">
                <a:solidFill>
                  <a:srgbClr val="B45B09"/>
                </a:solidFill>
              </a:rPr>
              <a:t>10%</a:t>
            </a:r>
          </a:p>
        </p:txBody>
      </p:sp>
      <p:sp>
        <p:nvSpPr>
          <p:cNvPr id="23" name="TextBox 22"/>
          <p:cNvSpPr txBox="1"/>
          <p:nvPr/>
        </p:nvSpPr>
        <p:spPr>
          <a:xfrm>
            <a:off x="1618488" y="3986784"/>
            <a:ext cx="1097280" cy="201168"/>
          </a:xfrm>
          <a:prstGeom prst="rect">
            <a:avLst/>
          </a:prstGeom>
          <a:noFill/>
        </p:spPr>
        <p:txBody>
          <a:bodyPr wrap="square">
            <a:spAutoFit/>
          </a:bodyPr>
          <a:lstStyle/>
          <a:p>
            <a:pPr algn="l"/>
            <a:r>
              <a:rPr sz="800" b="0">
                <a:solidFill>
                  <a:srgbClr val="94A3B8"/>
                </a:solidFill>
              </a:rPr>
              <a:t>Year 2</a:t>
            </a:r>
          </a:p>
        </p:txBody>
      </p:sp>
      <p:sp>
        <p:nvSpPr>
          <p:cNvPr id="24" name="TextBox 23"/>
          <p:cNvSpPr txBox="1"/>
          <p:nvPr/>
        </p:nvSpPr>
        <p:spPr>
          <a:xfrm>
            <a:off x="1618488" y="4187952"/>
            <a:ext cx="1097280" cy="384048"/>
          </a:xfrm>
          <a:prstGeom prst="rect">
            <a:avLst/>
          </a:prstGeom>
          <a:noFill/>
        </p:spPr>
        <p:txBody>
          <a:bodyPr wrap="square">
            <a:spAutoFit/>
          </a:bodyPr>
          <a:lstStyle/>
          <a:p>
            <a:pPr algn="l"/>
            <a:r>
              <a:rPr sz="1800" b="1">
                <a:solidFill>
                  <a:srgbClr val="B45B09"/>
                </a:solidFill>
              </a:rPr>
              <a:t>30%</a:t>
            </a:r>
          </a:p>
        </p:txBody>
      </p:sp>
      <p:sp>
        <p:nvSpPr>
          <p:cNvPr id="25" name="TextBox 24"/>
          <p:cNvSpPr txBox="1"/>
          <p:nvPr/>
        </p:nvSpPr>
        <p:spPr>
          <a:xfrm>
            <a:off x="2761488" y="3986784"/>
            <a:ext cx="1097280" cy="201168"/>
          </a:xfrm>
          <a:prstGeom prst="rect">
            <a:avLst/>
          </a:prstGeom>
          <a:noFill/>
        </p:spPr>
        <p:txBody>
          <a:bodyPr wrap="square">
            <a:spAutoFit/>
          </a:bodyPr>
          <a:lstStyle/>
          <a:p>
            <a:pPr algn="l"/>
            <a:r>
              <a:rPr sz="800" b="0">
                <a:solidFill>
                  <a:srgbClr val="94A3B8"/>
                </a:solidFill>
              </a:rPr>
              <a:t>Year 3</a:t>
            </a:r>
          </a:p>
        </p:txBody>
      </p:sp>
      <p:sp>
        <p:nvSpPr>
          <p:cNvPr id="26" name="TextBox 25"/>
          <p:cNvSpPr txBox="1"/>
          <p:nvPr/>
        </p:nvSpPr>
        <p:spPr>
          <a:xfrm>
            <a:off x="2761488" y="4187952"/>
            <a:ext cx="1097280" cy="384048"/>
          </a:xfrm>
          <a:prstGeom prst="rect">
            <a:avLst/>
          </a:prstGeom>
          <a:noFill/>
        </p:spPr>
        <p:txBody>
          <a:bodyPr wrap="square">
            <a:spAutoFit/>
          </a:bodyPr>
          <a:lstStyle/>
          <a:p>
            <a:pPr algn="l"/>
            <a:r>
              <a:rPr sz="1800" b="1">
                <a:solidFill>
                  <a:srgbClr val="B45B09"/>
                </a:solidFill>
              </a:rPr>
              <a:t>35%</a:t>
            </a:r>
          </a:p>
        </p:txBody>
      </p:sp>
      <p:sp>
        <p:nvSpPr>
          <p:cNvPr id="27" name="Rectangle 26"/>
          <p:cNvSpPr/>
          <p:nvPr/>
        </p:nvSpPr>
        <p:spPr>
          <a:xfrm>
            <a:off x="4041648" y="3529584"/>
            <a:ext cx="8119872" cy="1481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Compliance consulting firms (Deloitte Risk, EY Forensics, PwC Financial Crime): 15% referral commission + co-branded methodology. Fintech associations (IFF, NASSCOM, ACAMS India) for credibility and warm intros to MLROs.</a:t>
            </a:r>
          </a:p>
        </p:txBody>
      </p:sp>
      <p:sp>
        <p:nvSpPr>
          <p:cNvPr id="28" name="Rectangle 27"/>
          <p:cNvSpPr/>
          <p:nvPr/>
        </p:nvSpPr>
        <p:spPr>
          <a:xfrm>
            <a:off x="274320" y="3529584"/>
            <a:ext cx="64008" cy="1481328"/>
          </a:xfrm>
          <a:prstGeom prst="rect">
            <a:avLst/>
          </a:prstGeom>
          <a:solidFill>
            <a:srgbClr val="B45B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5157216"/>
            <a:ext cx="54864" cy="148132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47472" y="5157216"/>
            <a:ext cx="3657600" cy="1481328"/>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 y="5248656"/>
            <a:ext cx="3429000" cy="274320"/>
          </a:xfrm>
          <a:prstGeom prst="rect">
            <a:avLst/>
          </a:prstGeom>
          <a:noFill/>
        </p:spPr>
        <p:txBody>
          <a:bodyPr wrap="square">
            <a:spAutoFit/>
          </a:bodyPr>
          <a:lstStyle/>
          <a:p>
            <a:pPr algn="l"/>
            <a:r>
              <a:rPr sz="1100" b="1">
                <a:solidFill>
                  <a:srgbClr val="6D28D9"/>
                </a:solidFill>
              </a:rPr>
              <a:t>Inbound / Content</a:t>
            </a:r>
          </a:p>
        </p:txBody>
      </p:sp>
      <p:sp>
        <p:nvSpPr>
          <p:cNvPr id="32" name="TextBox 31"/>
          <p:cNvSpPr txBox="1"/>
          <p:nvPr/>
        </p:nvSpPr>
        <p:spPr>
          <a:xfrm>
            <a:off x="475488" y="5614416"/>
            <a:ext cx="1097280" cy="201168"/>
          </a:xfrm>
          <a:prstGeom prst="rect">
            <a:avLst/>
          </a:prstGeom>
          <a:noFill/>
        </p:spPr>
        <p:txBody>
          <a:bodyPr wrap="square">
            <a:spAutoFit/>
          </a:bodyPr>
          <a:lstStyle/>
          <a:p>
            <a:pPr algn="l"/>
            <a:r>
              <a:rPr sz="800" b="0">
                <a:solidFill>
                  <a:srgbClr val="94A3B8"/>
                </a:solidFill>
              </a:rPr>
              <a:t>Year 1</a:t>
            </a:r>
          </a:p>
        </p:txBody>
      </p:sp>
      <p:sp>
        <p:nvSpPr>
          <p:cNvPr id="33" name="TextBox 32"/>
          <p:cNvSpPr txBox="1"/>
          <p:nvPr/>
        </p:nvSpPr>
        <p:spPr>
          <a:xfrm>
            <a:off x="475488" y="5815584"/>
            <a:ext cx="1097280" cy="384048"/>
          </a:xfrm>
          <a:prstGeom prst="rect">
            <a:avLst/>
          </a:prstGeom>
          <a:noFill/>
        </p:spPr>
        <p:txBody>
          <a:bodyPr wrap="square">
            <a:spAutoFit/>
          </a:bodyPr>
          <a:lstStyle/>
          <a:p>
            <a:pPr algn="l"/>
            <a:r>
              <a:rPr sz="1800" b="1">
                <a:solidFill>
                  <a:srgbClr val="6D28D9"/>
                </a:solidFill>
              </a:rPr>
              <a:t>&lt;5%</a:t>
            </a:r>
          </a:p>
        </p:txBody>
      </p:sp>
      <p:sp>
        <p:nvSpPr>
          <p:cNvPr id="34" name="TextBox 33"/>
          <p:cNvSpPr txBox="1"/>
          <p:nvPr/>
        </p:nvSpPr>
        <p:spPr>
          <a:xfrm>
            <a:off x="1618488" y="5614416"/>
            <a:ext cx="1097280" cy="201168"/>
          </a:xfrm>
          <a:prstGeom prst="rect">
            <a:avLst/>
          </a:prstGeom>
          <a:noFill/>
        </p:spPr>
        <p:txBody>
          <a:bodyPr wrap="square">
            <a:spAutoFit/>
          </a:bodyPr>
          <a:lstStyle/>
          <a:p>
            <a:pPr algn="l"/>
            <a:r>
              <a:rPr sz="800" b="0">
                <a:solidFill>
                  <a:srgbClr val="94A3B8"/>
                </a:solidFill>
              </a:rPr>
              <a:t>Year 2</a:t>
            </a:r>
          </a:p>
        </p:txBody>
      </p:sp>
      <p:sp>
        <p:nvSpPr>
          <p:cNvPr id="35" name="TextBox 34"/>
          <p:cNvSpPr txBox="1"/>
          <p:nvPr/>
        </p:nvSpPr>
        <p:spPr>
          <a:xfrm>
            <a:off x="1618488" y="5815584"/>
            <a:ext cx="1097280" cy="384048"/>
          </a:xfrm>
          <a:prstGeom prst="rect">
            <a:avLst/>
          </a:prstGeom>
          <a:noFill/>
        </p:spPr>
        <p:txBody>
          <a:bodyPr wrap="square">
            <a:spAutoFit/>
          </a:bodyPr>
          <a:lstStyle/>
          <a:p>
            <a:pPr algn="l"/>
            <a:r>
              <a:rPr sz="1800" b="1">
                <a:solidFill>
                  <a:srgbClr val="6D28D9"/>
                </a:solidFill>
              </a:rPr>
              <a:t>10%</a:t>
            </a:r>
          </a:p>
        </p:txBody>
      </p:sp>
      <p:sp>
        <p:nvSpPr>
          <p:cNvPr id="36" name="TextBox 35"/>
          <p:cNvSpPr txBox="1"/>
          <p:nvPr/>
        </p:nvSpPr>
        <p:spPr>
          <a:xfrm>
            <a:off x="2761488" y="5614416"/>
            <a:ext cx="1097280" cy="201168"/>
          </a:xfrm>
          <a:prstGeom prst="rect">
            <a:avLst/>
          </a:prstGeom>
          <a:noFill/>
        </p:spPr>
        <p:txBody>
          <a:bodyPr wrap="square">
            <a:spAutoFit/>
          </a:bodyPr>
          <a:lstStyle/>
          <a:p>
            <a:pPr algn="l"/>
            <a:r>
              <a:rPr sz="800" b="0">
                <a:solidFill>
                  <a:srgbClr val="94A3B8"/>
                </a:solidFill>
              </a:rPr>
              <a:t>Year 3</a:t>
            </a:r>
          </a:p>
        </p:txBody>
      </p:sp>
      <p:sp>
        <p:nvSpPr>
          <p:cNvPr id="37" name="TextBox 36"/>
          <p:cNvSpPr txBox="1"/>
          <p:nvPr/>
        </p:nvSpPr>
        <p:spPr>
          <a:xfrm>
            <a:off x="2761488" y="5815584"/>
            <a:ext cx="1097280" cy="384048"/>
          </a:xfrm>
          <a:prstGeom prst="rect">
            <a:avLst/>
          </a:prstGeom>
          <a:noFill/>
        </p:spPr>
        <p:txBody>
          <a:bodyPr wrap="square">
            <a:spAutoFit/>
          </a:bodyPr>
          <a:lstStyle/>
          <a:p>
            <a:pPr algn="l"/>
            <a:r>
              <a:rPr sz="1800" b="1">
                <a:solidFill>
                  <a:srgbClr val="6D28D9"/>
                </a:solidFill>
              </a:rPr>
              <a:t>25%</a:t>
            </a:r>
          </a:p>
        </p:txBody>
      </p:sp>
      <p:sp>
        <p:nvSpPr>
          <p:cNvPr id="38" name="Rectangle 37"/>
          <p:cNvSpPr/>
          <p:nvPr/>
        </p:nvSpPr>
        <p:spPr>
          <a:xfrm>
            <a:off x="4041648" y="5157216"/>
            <a:ext cx="8119872" cy="1481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LinkedIn + blog: tactical how-to posts for analysts; regulatory briefings for MLROs; 'Why AI should never make a compliance decision' for category narrative. Annual India Cross-Border Compliance Benchmarking Report as cornerstone content asset.</a:t>
            </a:r>
          </a:p>
        </p:txBody>
      </p:sp>
      <p:sp>
        <p:nvSpPr>
          <p:cNvPr id="39" name="Rectangle 38"/>
          <p:cNvSpPr/>
          <p:nvPr/>
        </p:nvSpPr>
        <p:spPr>
          <a:xfrm>
            <a:off x="274320" y="5157216"/>
            <a:ext cx="64008" cy="148132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10</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Launch Plan</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From working prototype to paid revenue — 12-month roadmap</a:t>
            </a:r>
          </a:p>
        </p:txBody>
      </p:sp>
      <p:graphicFrame>
        <p:nvGraphicFramePr>
          <p:cNvPr id="6" name="Table 5"/>
          <p:cNvGraphicFramePr>
            <a:graphicFrameLocks noGrp="1"/>
          </p:cNvGraphicFramePr>
          <p:nvPr/>
        </p:nvGraphicFramePr>
        <p:xfrm>
          <a:off x="274320" y="1024128"/>
          <a:ext cx="11612880" cy="658368"/>
        </p:xfrm>
        <a:graphic>
          <a:graphicData uri="http://schemas.openxmlformats.org/drawingml/2006/table">
            <a:tbl>
              <a:tblPr firstRow="1" bandRow="1">
                <a:tableStyleId>{5C22544A-7EE6-4342-B048-85BDC9FD1C3A}</a:tableStyleId>
              </a:tblPr>
              <a:tblGrid>
                <a:gridCol w="1234440"/>
                <a:gridCol w="3520440"/>
                <a:gridCol w="2057400"/>
                <a:gridCol w="4800600"/>
              </a:tblGrid>
              <a:tr h="131673">
                <a:tc>
                  <a:txBody>
                    <a:bodyPr lIns="73152" rIns="73152"/>
                    <a:lstStyle/>
                    <a:p>
                      <a:pPr algn="l"/>
                      <a:r>
                        <a:rPr sz="950" b="1">
                          <a:solidFill>
                            <a:srgbClr val="FFFFFF"/>
                          </a:solidFill>
                        </a:rPr>
                        <a:t>Phase</a:t>
                      </a:r>
                    </a:p>
                  </a:txBody>
                  <a:tcPr>
                    <a:solidFill>
                      <a:srgbClr val="0F2140"/>
                    </a:solidFill>
                  </a:tcPr>
                </a:tc>
                <a:tc>
                  <a:txBody>
                    <a:bodyPr lIns="73152" rIns="73152"/>
                    <a:lstStyle/>
                    <a:p>
                      <a:pPr algn="l"/>
                      <a:r>
                        <a:rPr sz="950" b="1">
                          <a:solidFill>
                            <a:srgbClr val="FFFFFF"/>
                          </a:solidFill>
                        </a:rPr>
                        <a:t>Name</a:t>
                      </a:r>
                    </a:p>
                  </a:txBody>
                  <a:tcPr>
                    <a:solidFill>
                      <a:srgbClr val="0F2140"/>
                    </a:solidFill>
                  </a:tcPr>
                </a:tc>
                <a:tc>
                  <a:txBody>
                    <a:bodyPr lIns="73152" rIns="73152"/>
                    <a:lstStyle/>
                    <a:p>
                      <a:pPr algn="l"/>
                      <a:r>
                        <a:rPr sz="950" b="1">
                          <a:solidFill>
                            <a:srgbClr val="FFFFFF"/>
                          </a:solidFill>
                        </a:rPr>
                        <a:t>Duration</a:t>
                      </a:r>
                    </a:p>
                  </a:txBody>
                  <a:tcPr>
                    <a:solidFill>
                      <a:srgbClr val="0F2140"/>
                    </a:solidFill>
                  </a:tcPr>
                </a:tc>
                <a:tc>
                  <a:txBody>
                    <a:bodyPr lIns="73152" rIns="73152"/>
                    <a:lstStyle/>
                    <a:p>
                      <a:pPr algn="l"/>
                      <a:r>
                        <a:rPr sz="950" b="1">
                          <a:solidFill>
                            <a:srgbClr val="FFFFFF"/>
                          </a:solidFill>
                        </a:rPr>
                        <a:t>Revenue</a:t>
                      </a:r>
                    </a:p>
                  </a:txBody>
                  <a:tcPr>
                    <a:solidFill>
                      <a:srgbClr val="0F2140"/>
                    </a:solidFill>
                  </a:tcPr>
                </a:tc>
              </a:tr>
              <a:tr h="131673">
                <a:tc>
                  <a:txBody>
                    <a:bodyPr lIns="73152" rIns="73152"/>
                    <a:lstStyle/>
                    <a:p>
                      <a:pPr algn="l"/>
                      <a:r>
                        <a:rPr sz="900" b="1">
                          <a:solidFill>
                            <a:srgbClr val="0F2140"/>
                          </a:solidFill>
                        </a:rPr>
                        <a:t>Phase 0</a:t>
                      </a:r>
                    </a:p>
                  </a:txBody>
                  <a:tcPr>
                    <a:solidFill>
                      <a:srgbClr val="F0F7FF"/>
                    </a:solidFill>
                  </a:tcPr>
                </a:tc>
                <a:tc>
                  <a:txBody>
                    <a:bodyPr lIns="73152" rIns="73152"/>
                    <a:lstStyle/>
                    <a:p>
                      <a:pPr algn="l"/>
                      <a:r>
                        <a:rPr sz="900" b="0">
                          <a:solidFill>
                            <a:srgbClr val="1E293B"/>
                          </a:solidFill>
                        </a:rPr>
                        <a:t>Pre-Launch: Fix the Blockers</a:t>
                      </a:r>
                    </a:p>
                  </a:txBody>
                  <a:tcPr>
                    <a:solidFill>
                      <a:srgbClr val="F0F7FF"/>
                    </a:solidFill>
                  </a:tcPr>
                </a:tc>
                <a:tc>
                  <a:txBody>
                    <a:bodyPr lIns="73152" rIns="73152"/>
                    <a:lstStyle/>
                    <a:p>
                      <a:pPr algn="l"/>
                      <a:r>
                        <a:rPr sz="900" b="0">
                          <a:solidFill>
                            <a:srgbClr val="1E293B"/>
                          </a:solidFill>
                        </a:rPr>
                        <a:t>4–6 Weeks</a:t>
                      </a:r>
                    </a:p>
                  </a:txBody>
                  <a:tcPr>
                    <a:solidFill>
                      <a:srgbClr val="F0F7FF"/>
                    </a:solidFill>
                  </a:tcPr>
                </a:tc>
                <a:tc>
                  <a:txBody>
                    <a:bodyPr lIns="73152" rIns="73152"/>
                    <a:lstStyle/>
                    <a:p>
                      <a:pPr algn="l"/>
                      <a:r>
                        <a:rPr sz="900" b="0">
                          <a:solidFill>
                            <a:srgbClr val="1E293B"/>
                          </a:solidFill>
                        </a:rPr>
                        <a:t>Rs. 0</a:t>
                      </a:r>
                    </a:p>
                  </a:txBody>
                  <a:tcPr>
                    <a:solidFill>
                      <a:srgbClr val="F0F7FF"/>
                    </a:solidFill>
                  </a:tcPr>
                </a:tc>
              </a:tr>
              <a:tr h="131673">
                <a:tc>
                  <a:txBody>
                    <a:bodyPr lIns="73152" rIns="73152"/>
                    <a:lstStyle/>
                    <a:p>
                      <a:pPr algn="l"/>
                      <a:r>
                        <a:rPr sz="900" b="1">
                          <a:solidFill>
                            <a:srgbClr val="0F2140"/>
                          </a:solidFill>
                        </a:rPr>
                        <a:t>Phase 1</a:t>
                      </a:r>
                    </a:p>
                  </a:txBody>
                  <a:tcPr>
                    <a:solidFill>
                      <a:srgbClr val="FFFFFF"/>
                    </a:solidFill>
                  </a:tcPr>
                </a:tc>
                <a:tc>
                  <a:txBody>
                    <a:bodyPr lIns="73152" rIns="73152"/>
                    <a:lstStyle/>
                    <a:p>
                      <a:pPr algn="l"/>
                      <a:r>
                        <a:rPr sz="900" b="0">
                          <a:solidFill>
                            <a:srgbClr val="1E293B"/>
                          </a:solidFill>
                        </a:rPr>
                        <a:t>Design-Partner Pilots</a:t>
                      </a:r>
                    </a:p>
                  </a:txBody>
                  <a:tcPr>
                    <a:solidFill>
                      <a:srgbClr val="FFFFFF"/>
                    </a:solidFill>
                  </a:tcPr>
                </a:tc>
                <a:tc>
                  <a:txBody>
                    <a:bodyPr lIns="73152" rIns="73152"/>
                    <a:lstStyle/>
                    <a:p>
                      <a:pPr algn="l"/>
                      <a:r>
                        <a:rPr sz="900" b="0">
                          <a:solidFill>
                            <a:srgbClr val="1E293B"/>
                          </a:solidFill>
                        </a:rPr>
                        <a:t>Months 1–3</a:t>
                      </a:r>
                    </a:p>
                  </a:txBody>
                  <a:tcPr>
                    <a:solidFill>
                      <a:srgbClr val="FFFFFF"/>
                    </a:solidFill>
                  </a:tcPr>
                </a:tc>
                <a:tc>
                  <a:txBody>
                    <a:bodyPr lIns="73152" rIns="73152"/>
                    <a:lstStyle/>
                    <a:p>
                      <a:pPr algn="l"/>
                      <a:r>
                        <a:rPr sz="900" b="0">
                          <a:solidFill>
                            <a:srgbClr val="1E293B"/>
                          </a:solidFill>
                        </a:rPr>
                        <a:t>Rs. 0 (free)</a:t>
                      </a:r>
                    </a:p>
                  </a:txBody>
                  <a:tcPr>
                    <a:solidFill>
                      <a:srgbClr val="FFFFFF"/>
                    </a:solidFill>
                  </a:tcPr>
                </a:tc>
              </a:tr>
              <a:tr h="131673">
                <a:tc>
                  <a:txBody>
                    <a:bodyPr lIns="73152" rIns="73152"/>
                    <a:lstStyle/>
                    <a:p>
                      <a:pPr algn="l"/>
                      <a:r>
                        <a:rPr sz="900" b="1">
                          <a:solidFill>
                            <a:srgbClr val="0F2140"/>
                          </a:solidFill>
                        </a:rPr>
                        <a:t>Phase 2</a:t>
                      </a:r>
                    </a:p>
                  </a:txBody>
                  <a:tcPr>
                    <a:solidFill>
                      <a:srgbClr val="F0F7FF"/>
                    </a:solidFill>
                  </a:tcPr>
                </a:tc>
                <a:tc>
                  <a:txBody>
                    <a:bodyPr lIns="73152" rIns="73152"/>
                    <a:lstStyle/>
                    <a:p>
                      <a:pPr algn="l"/>
                      <a:r>
                        <a:rPr sz="900" b="0">
                          <a:solidFill>
                            <a:srgbClr val="1E293B"/>
                          </a:solidFill>
                        </a:rPr>
                        <a:t>Paid Conversion &amp; Market Entry</a:t>
                      </a:r>
                    </a:p>
                  </a:txBody>
                  <a:tcPr>
                    <a:solidFill>
                      <a:srgbClr val="F0F7FF"/>
                    </a:solidFill>
                  </a:tcPr>
                </a:tc>
                <a:tc>
                  <a:txBody>
                    <a:bodyPr lIns="73152" rIns="73152"/>
                    <a:lstStyle/>
                    <a:p>
                      <a:pPr algn="l"/>
                      <a:r>
                        <a:rPr sz="900" b="0">
                          <a:solidFill>
                            <a:srgbClr val="1E293B"/>
                          </a:solidFill>
                        </a:rPr>
                        <a:t>Months 3–6</a:t>
                      </a:r>
                    </a:p>
                  </a:txBody>
                  <a:tcPr>
                    <a:solidFill>
                      <a:srgbClr val="F0F7FF"/>
                    </a:solidFill>
                  </a:tcPr>
                </a:tc>
                <a:tc>
                  <a:txBody>
                    <a:bodyPr lIns="73152" rIns="73152"/>
                    <a:lstStyle/>
                    <a:p>
                      <a:pPr algn="l"/>
                      <a:r>
                        <a:rPr sz="900" b="0">
                          <a:solidFill>
                            <a:srgbClr val="1E293B"/>
                          </a:solidFill>
                        </a:rPr>
                        <a:t>Rs. 5–10L MRR</a:t>
                      </a:r>
                    </a:p>
                  </a:txBody>
                  <a:tcPr>
                    <a:solidFill>
                      <a:srgbClr val="F0F7FF"/>
                    </a:solidFill>
                  </a:tcPr>
                </a:tc>
              </a:tr>
              <a:tr h="131676">
                <a:tc>
                  <a:txBody>
                    <a:bodyPr lIns="73152" rIns="73152"/>
                    <a:lstStyle/>
                    <a:p>
                      <a:pPr algn="l"/>
                      <a:r>
                        <a:rPr sz="900" b="1">
                          <a:solidFill>
                            <a:srgbClr val="0F2140"/>
                          </a:solidFill>
                        </a:rPr>
                        <a:t>Phase 3</a:t>
                      </a:r>
                    </a:p>
                  </a:txBody>
                  <a:tcPr>
                    <a:solidFill>
                      <a:srgbClr val="FFFFFF"/>
                    </a:solidFill>
                  </a:tcPr>
                </a:tc>
                <a:tc>
                  <a:txBody>
                    <a:bodyPr lIns="73152" rIns="73152"/>
                    <a:lstStyle/>
                    <a:p>
                      <a:pPr algn="l"/>
                      <a:r>
                        <a:rPr sz="900" b="0">
                          <a:solidFill>
                            <a:srgbClr val="1E293B"/>
                          </a:solidFill>
                        </a:rPr>
                        <a:t>Scale</a:t>
                      </a:r>
                    </a:p>
                  </a:txBody>
                  <a:tcPr>
                    <a:solidFill>
                      <a:srgbClr val="FFFFFF"/>
                    </a:solidFill>
                  </a:tcPr>
                </a:tc>
                <a:tc>
                  <a:txBody>
                    <a:bodyPr lIns="73152" rIns="73152"/>
                    <a:lstStyle/>
                    <a:p>
                      <a:pPr algn="l"/>
                      <a:r>
                        <a:rPr sz="900" b="0">
                          <a:solidFill>
                            <a:srgbClr val="1E293B"/>
                          </a:solidFill>
                        </a:rPr>
                        <a:t>Months 6–12</a:t>
                      </a:r>
                    </a:p>
                  </a:txBody>
                  <a:tcPr>
                    <a:solidFill>
                      <a:srgbClr val="FFFFFF"/>
                    </a:solidFill>
                  </a:tcPr>
                </a:tc>
                <a:tc>
                  <a:txBody>
                    <a:bodyPr lIns="73152" rIns="73152"/>
                    <a:lstStyle/>
                    <a:p>
                      <a:pPr algn="l"/>
                      <a:r>
                        <a:rPr sz="900" b="0">
                          <a:solidFill>
                            <a:srgbClr val="1E293B"/>
                          </a:solidFill>
                        </a:rPr>
                        <a:t>Rs. 15–20L ARR</a:t>
                      </a:r>
                    </a:p>
                  </a:txBody>
                  <a:tcPr>
                    <a:solidFill>
                      <a:srgbClr val="FFFFFF"/>
                    </a:solidFill>
                  </a:tcPr>
                </a:tc>
              </a:tr>
            </a:tbl>
          </a:graphicData>
        </a:graphic>
      </p:graphicFrame>
      <p:sp>
        <p:nvSpPr>
          <p:cNvPr id="7" name="Rectangle 6"/>
          <p:cNvSpPr/>
          <p:nvPr/>
        </p:nvSpPr>
        <p:spPr>
          <a:xfrm>
            <a:off x="274320" y="1828800"/>
            <a:ext cx="2834640" cy="438912"/>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883664"/>
            <a:ext cx="1097280" cy="201168"/>
          </a:xfrm>
          <a:prstGeom prst="rect">
            <a:avLst/>
          </a:prstGeom>
          <a:noFill/>
        </p:spPr>
        <p:txBody>
          <a:bodyPr wrap="square">
            <a:spAutoFit/>
          </a:bodyPr>
          <a:lstStyle/>
          <a:p>
            <a:pPr algn="l"/>
            <a:r>
              <a:rPr sz="850" b="1">
                <a:solidFill>
                  <a:srgbClr val="DC2626"/>
                </a:solidFill>
              </a:rPr>
              <a:t>PHASE 0</a:t>
            </a:r>
          </a:p>
        </p:txBody>
      </p:sp>
      <p:sp>
        <p:nvSpPr>
          <p:cNvPr id="9" name="TextBox 8"/>
          <p:cNvSpPr txBox="1"/>
          <p:nvPr/>
        </p:nvSpPr>
        <p:spPr>
          <a:xfrm>
            <a:off x="365760" y="2066543"/>
            <a:ext cx="2651760" cy="182880"/>
          </a:xfrm>
          <a:prstGeom prst="rect">
            <a:avLst/>
          </a:prstGeom>
          <a:noFill/>
        </p:spPr>
        <p:txBody>
          <a:bodyPr wrap="square">
            <a:spAutoFit/>
          </a:bodyPr>
          <a:lstStyle/>
          <a:p>
            <a:pPr algn="l"/>
            <a:r>
              <a:rPr sz="800" b="0">
                <a:solidFill>
                  <a:srgbClr val="94A3B8"/>
                </a:solidFill>
              </a:rPr>
              <a:t>4–6 weeks</a:t>
            </a:r>
          </a:p>
        </p:txBody>
      </p:sp>
      <p:sp>
        <p:nvSpPr>
          <p:cNvPr id="10" name="TextBox 9"/>
          <p:cNvSpPr txBox="1"/>
          <p:nvPr/>
        </p:nvSpPr>
        <p:spPr>
          <a:xfrm>
            <a:off x="1508760" y="1901952"/>
            <a:ext cx="1508760" cy="292608"/>
          </a:xfrm>
          <a:prstGeom prst="rect">
            <a:avLst/>
          </a:prstGeom>
          <a:noFill/>
        </p:spPr>
        <p:txBody>
          <a:bodyPr wrap="square">
            <a:spAutoFit/>
          </a:bodyPr>
          <a:lstStyle/>
          <a:p>
            <a:pPr algn="l"/>
            <a:r>
              <a:rPr sz="1100" b="1">
                <a:solidFill>
                  <a:srgbClr val="FFFFFF"/>
                </a:solidFill>
              </a:rPr>
              <a:t>Pre-Launch</a:t>
            </a:r>
          </a:p>
        </p:txBody>
      </p:sp>
      <p:sp>
        <p:nvSpPr>
          <p:cNvPr id="11" name="Rectangle 10"/>
          <p:cNvSpPr/>
          <p:nvPr/>
        </p:nvSpPr>
        <p:spPr>
          <a:xfrm>
            <a:off x="274320" y="2286000"/>
            <a:ext cx="2834640" cy="17190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73152" bIns="54864"/>
          <a:lstStyle/>
          <a:p>
            <a:pPr algn="ctr">
              <a:spcBef>
                <a:spcPts val="0"/>
              </a:spcBef>
            </a:pPr>
            <a:r>
              <a:rPr sz="850" b="1">
                <a:solidFill>
                  <a:srgbClr val="DC2626"/>
                </a:solidFill>
              </a:rPr>
              <a:t>▶  </a:t>
            </a:r>
            <a:r>
              <a:rPr sz="900">
                <a:solidFill>
                  <a:srgbClr val="1E293B"/>
                </a:solidFill>
              </a:rPr>
              <a:t>BLOCKER 1: Integrate live OFAC, UN, EU, PEP feeds with daily refresh</a:t>
            </a:r>
          </a:p>
          <a:p>
            <a:pPr>
              <a:spcBef>
                <a:spcPts val="300"/>
              </a:spcBef>
            </a:pPr>
            <a:r>
              <a:rPr sz="850" b="1">
                <a:solidFill>
                  <a:srgbClr val="DC2626"/>
                </a:solidFill>
              </a:rPr>
              <a:t>▶  </a:t>
            </a:r>
            <a:r>
              <a:rPr sz="900">
                <a:solidFill>
                  <a:srgbClr val="1E293B"/>
                </a:solidFill>
              </a:rPr>
              <a:t>BLOCKER 2: Session auth with Analyst / Officer / MLRO roles</a:t>
            </a:r>
          </a:p>
          <a:p>
            <a:pPr>
              <a:spcBef>
                <a:spcPts val="300"/>
              </a:spcBef>
            </a:pPr>
            <a:r>
              <a:rPr sz="850" b="1">
                <a:solidFill>
                  <a:srgbClr val="DC2626"/>
                </a:solidFill>
              </a:rPr>
              <a:t>▶  </a:t>
            </a:r>
            <a:r>
              <a:rPr sz="900">
                <a:solidFill>
                  <a:srgbClr val="1E293B"/>
                </a:solidFill>
              </a:rPr>
              <a:t>BLOCKER 3: Gunicorn + Nginx production server; debug=False; HTTPS</a:t>
            </a:r>
          </a:p>
          <a:p>
            <a:pPr>
              <a:spcBef>
                <a:spcPts val="300"/>
              </a:spcBef>
            </a:pPr>
            <a:r>
              <a:rPr sz="850" b="1">
                <a:solidFill>
                  <a:srgbClr val="DC2626"/>
                </a:solidFill>
              </a:rPr>
              <a:t>▶  </a:t>
            </a:r>
            <a:r>
              <a:rPr sz="900">
                <a:solidFill>
                  <a:srgbClr val="1E293B"/>
                </a:solidFill>
              </a:rPr>
              <a:t>Prepare pilot agreement template with liability clause</a:t>
            </a:r>
          </a:p>
        </p:txBody>
      </p:sp>
      <p:sp>
        <p:nvSpPr>
          <p:cNvPr id="12" name="Rectangle 11"/>
          <p:cNvSpPr/>
          <p:nvPr/>
        </p:nvSpPr>
        <p:spPr>
          <a:xfrm>
            <a:off x="3182112" y="1828800"/>
            <a:ext cx="2834640" cy="438912"/>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73552" y="1883664"/>
            <a:ext cx="1097280" cy="201168"/>
          </a:xfrm>
          <a:prstGeom prst="rect">
            <a:avLst/>
          </a:prstGeom>
          <a:noFill/>
        </p:spPr>
        <p:txBody>
          <a:bodyPr wrap="square">
            <a:spAutoFit/>
          </a:bodyPr>
          <a:lstStyle/>
          <a:p>
            <a:pPr algn="l"/>
            <a:r>
              <a:rPr sz="850" b="1">
                <a:solidFill>
                  <a:srgbClr val="B45B09"/>
                </a:solidFill>
              </a:rPr>
              <a:t>PHASE 1</a:t>
            </a:r>
          </a:p>
        </p:txBody>
      </p:sp>
      <p:sp>
        <p:nvSpPr>
          <p:cNvPr id="14" name="TextBox 13"/>
          <p:cNvSpPr txBox="1"/>
          <p:nvPr/>
        </p:nvSpPr>
        <p:spPr>
          <a:xfrm>
            <a:off x="3273552" y="2066543"/>
            <a:ext cx="2651760" cy="182880"/>
          </a:xfrm>
          <a:prstGeom prst="rect">
            <a:avLst/>
          </a:prstGeom>
          <a:noFill/>
        </p:spPr>
        <p:txBody>
          <a:bodyPr wrap="square">
            <a:spAutoFit/>
          </a:bodyPr>
          <a:lstStyle/>
          <a:p>
            <a:pPr algn="l"/>
            <a:r>
              <a:rPr sz="800" b="0">
                <a:solidFill>
                  <a:srgbClr val="94A3B8"/>
                </a:solidFill>
              </a:rPr>
              <a:t>Months 1–3</a:t>
            </a:r>
          </a:p>
        </p:txBody>
      </p:sp>
      <p:sp>
        <p:nvSpPr>
          <p:cNvPr id="15" name="TextBox 14"/>
          <p:cNvSpPr txBox="1"/>
          <p:nvPr/>
        </p:nvSpPr>
        <p:spPr>
          <a:xfrm>
            <a:off x="4416552" y="1901952"/>
            <a:ext cx="1508760" cy="292608"/>
          </a:xfrm>
          <a:prstGeom prst="rect">
            <a:avLst/>
          </a:prstGeom>
          <a:noFill/>
        </p:spPr>
        <p:txBody>
          <a:bodyPr wrap="square">
            <a:spAutoFit/>
          </a:bodyPr>
          <a:lstStyle/>
          <a:p>
            <a:pPr algn="l"/>
            <a:r>
              <a:rPr sz="1100" b="1">
                <a:solidFill>
                  <a:srgbClr val="FFFFFF"/>
                </a:solidFill>
              </a:rPr>
              <a:t>Design-Partner Pilots</a:t>
            </a:r>
          </a:p>
        </p:txBody>
      </p:sp>
      <p:sp>
        <p:nvSpPr>
          <p:cNvPr id="16" name="Rectangle 15"/>
          <p:cNvSpPr/>
          <p:nvPr/>
        </p:nvSpPr>
        <p:spPr>
          <a:xfrm>
            <a:off x="3182112" y="2286000"/>
            <a:ext cx="2834640" cy="17190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73152" bIns="54864"/>
          <a:lstStyle/>
          <a:p>
            <a:pPr algn="ctr">
              <a:spcBef>
                <a:spcPts val="0"/>
              </a:spcBef>
            </a:pPr>
            <a:r>
              <a:rPr sz="850" b="1">
                <a:solidFill>
                  <a:srgbClr val="B45B09"/>
                </a:solidFill>
              </a:rPr>
              <a:t>▶  </a:t>
            </a:r>
            <a:r>
              <a:rPr sz="900">
                <a:solidFill>
                  <a:srgbClr val="1E293B"/>
                </a:solidFill>
              </a:rPr>
              <a:t>Launch 3 simultaneous free pilots</a:t>
            </a:r>
          </a:p>
          <a:p>
            <a:pPr>
              <a:spcBef>
                <a:spcPts val="300"/>
              </a:spcBef>
            </a:pPr>
            <a:r>
              <a:rPr sz="850" b="1">
                <a:solidFill>
                  <a:srgbClr val="B45B09"/>
                </a:solidFill>
              </a:rPr>
              <a:t>▶  </a:t>
            </a:r>
            <a:r>
              <a:rPr sz="900">
                <a:solidFill>
                  <a:srgbClr val="1E293B"/>
                </a:solidFill>
              </a:rPr>
              <a:t>Week 4: analyst + MLRO friction check</a:t>
            </a:r>
          </a:p>
          <a:p>
            <a:pPr>
              <a:spcBef>
                <a:spcPts val="300"/>
              </a:spcBef>
            </a:pPr>
            <a:r>
              <a:rPr sz="850" b="1">
                <a:solidFill>
                  <a:srgbClr val="B45B09"/>
                </a:solidFill>
              </a:rPr>
              <a:t>▶  </a:t>
            </a:r>
            <a:r>
              <a:rPr sz="900">
                <a:solidFill>
                  <a:srgbClr val="1E293B"/>
                </a:solidFill>
              </a:rPr>
              <a:t>Week 8: metrics vs. baseline + paid conversion proposal</a:t>
            </a:r>
          </a:p>
          <a:p>
            <a:pPr>
              <a:spcBef>
                <a:spcPts val="300"/>
              </a:spcBef>
            </a:pPr>
            <a:r>
              <a:rPr sz="850" b="1">
                <a:solidFill>
                  <a:srgbClr val="B45B09"/>
                </a:solidFill>
              </a:rPr>
              <a:t>▶  </a:t>
            </a:r>
            <a:r>
              <a:rPr sz="900">
                <a:solidFill>
                  <a:srgbClr val="1E293B"/>
                </a:solidFill>
              </a:rPr>
              <a:t>Month 2: begin second cohort outreach</a:t>
            </a:r>
          </a:p>
        </p:txBody>
      </p:sp>
      <p:sp>
        <p:nvSpPr>
          <p:cNvPr id="17" name="Rectangle 16"/>
          <p:cNvSpPr/>
          <p:nvPr/>
        </p:nvSpPr>
        <p:spPr>
          <a:xfrm>
            <a:off x="6080760" y="1828800"/>
            <a:ext cx="2834640" cy="438912"/>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1883664"/>
            <a:ext cx="1097280" cy="201168"/>
          </a:xfrm>
          <a:prstGeom prst="rect">
            <a:avLst/>
          </a:prstGeom>
          <a:noFill/>
        </p:spPr>
        <p:txBody>
          <a:bodyPr wrap="square">
            <a:spAutoFit/>
          </a:bodyPr>
          <a:lstStyle/>
          <a:p>
            <a:pPr algn="l"/>
            <a:r>
              <a:rPr sz="850" b="1">
                <a:solidFill>
                  <a:srgbClr val="00A890"/>
                </a:solidFill>
              </a:rPr>
              <a:t>PHASE 2</a:t>
            </a:r>
          </a:p>
        </p:txBody>
      </p:sp>
      <p:sp>
        <p:nvSpPr>
          <p:cNvPr id="19" name="TextBox 18"/>
          <p:cNvSpPr txBox="1"/>
          <p:nvPr/>
        </p:nvSpPr>
        <p:spPr>
          <a:xfrm>
            <a:off x="6172200" y="2066543"/>
            <a:ext cx="2651760" cy="182880"/>
          </a:xfrm>
          <a:prstGeom prst="rect">
            <a:avLst/>
          </a:prstGeom>
          <a:noFill/>
        </p:spPr>
        <p:txBody>
          <a:bodyPr wrap="square">
            <a:spAutoFit/>
          </a:bodyPr>
          <a:lstStyle/>
          <a:p>
            <a:pPr algn="l"/>
            <a:r>
              <a:rPr sz="800" b="0">
                <a:solidFill>
                  <a:srgbClr val="94A3B8"/>
                </a:solidFill>
              </a:rPr>
              <a:t>Months 3–6</a:t>
            </a:r>
          </a:p>
        </p:txBody>
      </p:sp>
      <p:sp>
        <p:nvSpPr>
          <p:cNvPr id="20" name="TextBox 19"/>
          <p:cNvSpPr txBox="1"/>
          <p:nvPr/>
        </p:nvSpPr>
        <p:spPr>
          <a:xfrm>
            <a:off x="7315200" y="1901952"/>
            <a:ext cx="1508760" cy="292608"/>
          </a:xfrm>
          <a:prstGeom prst="rect">
            <a:avLst/>
          </a:prstGeom>
          <a:noFill/>
        </p:spPr>
        <p:txBody>
          <a:bodyPr wrap="square">
            <a:spAutoFit/>
          </a:bodyPr>
          <a:lstStyle/>
          <a:p>
            <a:pPr algn="l"/>
            <a:r>
              <a:rPr sz="1100" b="1">
                <a:solidFill>
                  <a:srgbClr val="FFFFFF"/>
                </a:solidFill>
              </a:rPr>
              <a:t>Paid Conversion</a:t>
            </a:r>
          </a:p>
        </p:txBody>
      </p:sp>
      <p:sp>
        <p:nvSpPr>
          <p:cNvPr id="21" name="Rectangle 20"/>
          <p:cNvSpPr/>
          <p:nvPr/>
        </p:nvSpPr>
        <p:spPr>
          <a:xfrm>
            <a:off x="6080760" y="2286000"/>
            <a:ext cx="2834640" cy="17190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73152" bIns="54864"/>
          <a:lstStyle/>
          <a:p>
            <a:pPr algn="ctr">
              <a:spcBef>
                <a:spcPts val="0"/>
              </a:spcBef>
            </a:pPr>
            <a:r>
              <a:rPr sz="850" b="1">
                <a:solidFill>
                  <a:srgbClr val="00A890"/>
                </a:solidFill>
              </a:rPr>
              <a:t>▶  </a:t>
            </a:r>
            <a:r>
              <a:rPr sz="900">
                <a:solidFill>
                  <a:srgbClr val="1E293B"/>
                </a:solidFill>
              </a:rPr>
              <a:t>Convert 2 of 3 pilots to paid (Starter or Professional)</a:t>
            </a:r>
          </a:p>
          <a:p>
            <a:pPr>
              <a:spcBef>
                <a:spcPts val="300"/>
              </a:spcBef>
            </a:pPr>
            <a:r>
              <a:rPr sz="850" b="1">
                <a:solidFill>
                  <a:srgbClr val="00A890"/>
                </a:solidFill>
              </a:rPr>
              <a:t>▶  </a:t>
            </a:r>
            <a:r>
              <a:rPr sz="900">
                <a:solidFill>
                  <a:srgbClr val="1E293B"/>
                </a:solidFill>
              </a:rPr>
              <a:t>First case study published (MTD improvement)</a:t>
            </a:r>
          </a:p>
          <a:p>
            <a:pPr>
              <a:spcBef>
                <a:spcPts val="300"/>
              </a:spcBef>
            </a:pPr>
            <a:r>
              <a:rPr sz="850" b="1">
                <a:solidFill>
                  <a:srgbClr val="00A890"/>
                </a:solidFill>
              </a:rPr>
              <a:t>▶  </a:t>
            </a:r>
            <a:r>
              <a:rPr sz="900">
                <a:solidFill>
                  <a:srgbClr val="1E293B"/>
                </a:solidFill>
              </a:rPr>
              <a:t>Second pilot cohort launched</a:t>
            </a:r>
          </a:p>
          <a:p>
            <a:pPr>
              <a:spcBef>
                <a:spcPts val="300"/>
              </a:spcBef>
            </a:pPr>
            <a:r>
              <a:rPr sz="850" b="1">
                <a:solidFill>
                  <a:srgbClr val="00A890"/>
                </a:solidFill>
              </a:rPr>
              <a:t>▶  </a:t>
            </a:r>
            <a:r>
              <a:rPr sz="900">
                <a:solidFill>
                  <a:srgbClr val="1E293B"/>
                </a:solidFill>
              </a:rPr>
              <a:t>Activate first consulting firm referral partnership</a:t>
            </a:r>
          </a:p>
        </p:txBody>
      </p:sp>
      <p:sp>
        <p:nvSpPr>
          <p:cNvPr id="22" name="Rectangle 21"/>
          <p:cNvSpPr/>
          <p:nvPr/>
        </p:nvSpPr>
        <p:spPr>
          <a:xfrm>
            <a:off x="8979408" y="1828800"/>
            <a:ext cx="2834640" cy="438912"/>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70848" y="1883664"/>
            <a:ext cx="1097280" cy="201168"/>
          </a:xfrm>
          <a:prstGeom prst="rect">
            <a:avLst/>
          </a:prstGeom>
          <a:noFill/>
        </p:spPr>
        <p:txBody>
          <a:bodyPr wrap="square">
            <a:spAutoFit/>
          </a:bodyPr>
          <a:lstStyle/>
          <a:p>
            <a:pPr algn="l"/>
            <a:r>
              <a:rPr sz="850" b="1">
                <a:solidFill>
                  <a:srgbClr val="058C69"/>
                </a:solidFill>
              </a:rPr>
              <a:t>PHASE 3</a:t>
            </a:r>
          </a:p>
        </p:txBody>
      </p:sp>
      <p:sp>
        <p:nvSpPr>
          <p:cNvPr id="24" name="TextBox 23"/>
          <p:cNvSpPr txBox="1"/>
          <p:nvPr/>
        </p:nvSpPr>
        <p:spPr>
          <a:xfrm>
            <a:off x="9070848" y="2066543"/>
            <a:ext cx="2651760" cy="182880"/>
          </a:xfrm>
          <a:prstGeom prst="rect">
            <a:avLst/>
          </a:prstGeom>
          <a:noFill/>
        </p:spPr>
        <p:txBody>
          <a:bodyPr wrap="square">
            <a:spAutoFit/>
          </a:bodyPr>
          <a:lstStyle/>
          <a:p>
            <a:pPr algn="l"/>
            <a:r>
              <a:rPr sz="800" b="0">
                <a:solidFill>
                  <a:srgbClr val="94A3B8"/>
                </a:solidFill>
              </a:rPr>
              <a:t>Months 6–12</a:t>
            </a:r>
          </a:p>
        </p:txBody>
      </p:sp>
      <p:sp>
        <p:nvSpPr>
          <p:cNvPr id="25" name="TextBox 24"/>
          <p:cNvSpPr txBox="1"/>
          <p:nvPr/>
        </p:nvSpPr>
        <p:spPr>
          <a:xfrm>
            <a:off x="10213848" y="1901952"/>
            <a:ext cx="1508760" cy="292608"/>
          </a:xfrm>
          <a:prstGeom prst="rect">
            <a:avLst/>
          </a:prstGeom>
          <a:noFill/>
        </p:spPr>
        <p:txBody>
          <a:bodyPr wrap="square">
            <a:spAutoFit/>
          </a:bodyPr>
          <a:lstStyle/>
          <a:p>
            <a:pPr algn="l"/>
            <a:r>
              <a:rPr sz="1100" b="1">
                <a:solidFill>
                  <a:srgbClr val="FFFFFF"/>
                </a:solidFill>
              </a:rPr>
              <a:t>Scale</a:t>
            </a:r>
          </a:p>
        </p:txBody>
      </p:sp>
      <p:sp>
        <p:nvSpPr>
          <p:cNvPr id="26" name="Rectangle 25"/>
          <p:cNvSpPr/>
          <p:nvPr/>
        </p:nvSpPr>
        <p:spPr>
          <a:xfrm>
            <a:off x="8979408" y="2286000"/>
            <a:ext cx="2834640" cy="171907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73152" bIns="54864"/>
          <a:lstStyle/>
          <a:p>
            <a:pPr algn="ctr">
              <a:spcBef>
                <a:spcPts val="0"/>
              </a:spcBef>
            </a:pPr>
            <a:r>
              <a:rPr sz="850" b="1">
                <a:solidFill>
                  <a:srgbClr val="058C69"/>
                </a:solidFill>
              </a:rPr>
              <a:t>▶  </a:t>
            </a:r>
            <a:r>
              <a:rPr sz="900">
                <a:solidFill>
                  <a:srgbClr val="1E293B"/>
                </a:solidFill>
              </a:rPr>
              <a:t>8–12 customers; partner channel 15%+ of leads</a:t>
            </a:r>
          </a:p>
          <a:p>
            <a:pPr>
              <a:spcBef>
                <a:spcPts val="300"/>
              </a:spcBef>
            </a:pPr>
            <a:r>
              <a:rPr sz="850" b="1">
                <a:solidFill>
                  <a:srgbClr val="058C69"/>
                </a:solidFill>
              </a:rPr>
              <a:t>▶  </a:t>
            </a:r>
            <a:r>
              <a:rPr sz="900">
                <a:solidFill>
                  <a:srgbClr val="1E293B"/>
                </a:solidFill>
              </a:rPr>
              <a:t>Trade-finance NBFC segment entered</a:t>
            </a:r>
          </a:p>
          <a:p>
            <a:pPr>
              <a:spcBef>
                <a:spcPts val="300"/>
              </a:spcBef>
            </a:pPr>
            <a:r>
              <a:rPr sz="850" b="1">
                <a:solidFill>
                  <a:srgbClr val="058C69"/>
                </a:solidFill>
              </a:rPr>
              <a:t>▶  </a:t>
            </a:r>
            <a:r>
              <a:rPr sz="900">
                <a:solidFill>
                  <a:srgbClr val="1E293B"/>
                </a:solidFill>
              </a:rPr>
              <a:t>RBI Regulatory Sandbox application filed</a:t>
            </a:r>
          </a:p>
          <a:p>
            <a:pPr>
              <a:spcBef>
                <a:spcPts val="300"/>
              </a:spcBef>
            </a:pPr>
            <a:r>
              <a:rPr sz="850" b="1">
                <a:solidFill>
                  <a:srgbClr val="058C69"/>
                </a:solidFill>
              </a:rPr>
              <a:t>▶  </a:t>
            </a:r>
            <a:r>
              <a:rPr sz="900">
                <a:solidFill>
                  <a:srgbClr val="1E293B"/>
                </a:solidFill>
              </a:rPr>
              <a:t>Hire dedicated sales head if MRR &gt; Rs. 10L</a:t>
            </a:r>
          </a:p>
        </p:txBody>
      </p:sp>
      <p:sp>
        <p:nvSpPr>
          <p:cNvPr id="27" name="Rectangle 26"/>
          <p:cNvSpPr/>
          <p:nvPr/>
        </p:nvSpPr>
        <p:spPr>
          <a:xfrm>
            <a:off x="274320" y="5468112"/>
            <a:ext cx="64008" cy="62179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5468112"/>
            <a:ext cx="11521440" cy="621792"/>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000">
                <a:solidFill>
                  <a:srgbClr val="1E293B"/>
                </a:solidFill>
              </a:rPr>
              <a:t>Pipeline discipline: do not wait for Phase 1 to close before building Phase 2 pipeline. 3 simultaneous pilots reduces customer concentration risk. Cap any single customer at 30% of ARR.</a:t>
            </a:r>
          </a:p>
        </p:txBody>
      </p:sp>
      <p:sp>
        <p:nvSpPr>
          <p:cNvPr id="29" name="TextBox 28"/>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11</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Risks &amp; Mitigations</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Risk register — launch blockers, high-impact risks, and controls</a:t>
            </a:r>
          </a:p>
        </p:txBody>
      </p:sp>
      <p:graphicFrame>
        <p:nvGraphicFramePr>
          <p:cNvPr id="6" name="Table 5"/>
          <p:cNvGraphicFramePr>
            <a:graphicFrameLocks noGrp="1"/>
          </p:cNvGraphicFramePr>
          <p:nvPr/>
        </p:nvGraphicFramePr>
        <p:xfrm>
          <a:off x="274320" y="1024128"/>
          <a:ext cx="11612880" cy="4983480"/>
        </p:xfrm>
        <a:graphic>
          <a:graphicData uri="http://schemas.openxmlformats.org/drawingml/2006/table">
            <a:tbl>
              <a:tblPr firstRow="1" bandRow="1">
                <a:tableStyleId>{5C22544A-7EE6-4342-B048-85BDC9FD1C3A}</a:tableStyleId>
              </a:tblPr>
              <a:tblGrid>
                <a:gridCol w="777240"/>
                <a:gridCol w="3200400"/>
                <a:gridCol w="1051560"/>
                <a:gridCol w="1188720"/>
                <a:gridCol w="1051560"/>
                <a:gridCol w="4343400"/>
              </a:tblGrid>
              <a:tr h="311467">
                <a:tc>
                  <a:txBody>
                    <a:bodyPr lIns="73152" rIns="73152"/>
                    <a:lstStyle/>
                    <a:p>
                      <a:pPr algn="l"/>
                      <a:r>
                        <a:rPr sz="950" b="1">
                          <a:solidFill>
                            <a:srgbClr val="FFFFFF"/>
                          </a:solidFill>
                        </a:rPr>
                        <a:t>ID</a:t>
                      </a:r>
                    </a:p>
                  </a:txBody>
                  <a:tcPr>
                    <a:solidFill>
                      <a:srgbClr val="0F2140"/>
                    </a:solidFill>
                  </a:tcPr>
                </a:tc>
                <a:tc>
                  <a:txBody>
                    <a:bodyPr lIns="73152" rIns="73152"/>
                    <a:lstStyle/>
                    <a:p>
                      <a:pPr algn="l"/>
                      <a:r>
                        <a:rPr sz="950" b="1">
                          <a:solidFill>
                            <a:srgbClr val="FFFFFF"/>
                          </a:solidFill>
                        </a:rPr>
                        <a:t>Risk</a:t>
                      </a:r>
                    </a:p>
                  </a:txBody>
                  <a:tcPr>
                    <a:solidFill>
                      <a:srgbClr val="0F2140"/>
                    </a:solidFill>
                  </a:tcPr>
                </a:tc>
                <a:tc>
                  <a:txBody>
                    <a:bodyPr lIns="73152" rIns="73152"/>
                    <a:lstStyle/>
                    <a:p>
                      <a:pPr algn="l"/>
                      <a:r>
                        <a:rPr sz="950" b="1">
                          <a:solidFill>
                            <a:srgbClr val="FFFFFF"/>
                          </a:solidFill>
                        </a:rPr>
                        <a:t>Category</a:t>
                      </a:r>
                    </a:p>
                  </a:txBody>
                  <a:tcPr>
                    <a:solidFill>
                      <a:srgbClr val="0F2140"/>
                    </a:solidFill>
                  </a:tcPr>
                </a:tc>
                <a:tc>
                  <a:txBody>
                    <a:bodyPr lIns="73152" rIns="73152"/>
                    <a:lstStyle/>
                    <a:p>
                      <a:pPr algn="l"/>
                      <a:r>
                        <a:rPr sz="950" b="1">
                          <a:solidFill>
                            <a:srgbClr val="FFFFFF"/>
                          </a:solidFill>
                        </a:rPr>
                        <a:t>Likelihood</a:t>
                      </a:r>
                    </a:p>
                  </a:txBody>
                  <a:tcPr>
                    <a:solidFill>
                      <a:srgbClr val="0F2140"/>
                    </a:solidFill>
                  </a:tcPr>
                </a:tc>
                <a:tc>
                  <a:txBody>
                    <a:bodyPr lIns="73152" rIns="73152"/>
                    <a:lstStyle/>
                    <a:p>
                      <a:pPr algn="l"/>
                      <a:r>
                        <a:rPr sz="950" b="1">
                          <a:solidFill>
                            <a:srgbClr val="FFFFFF"/>
                          </a:solidFill>
                        </a:rPr>
                        <a:t>Impact</a:t>
                      </a:r>
                    </a:p>
                  </a:txBody>
                  <a:tcPr>
                    <a:solidFill>
                      <a:srgbClr val="0F2140"/>
                    </a:solidFill>
                  </a:tcPr>
                </a:tc>
                <a:tc>
                  <a:txBody>
                    <a:bodyPr lIns="73152" rIns="73152"/>
                    <a:lstStyle/>
                    <a:p>
                      <a:pPr algn="l"/>
                      <a:r>
                        <a:rPr sz="950" b="1">
                          <a:solidFill>
                            <a:srgbClr val="FFFFFF"/>
                          </a:solidFill>
                        </a:rPr>
                        <a:t>Residual / Status</a:t>
                      </a:r>
                    </a:p>
                  </a:txBody>
                  <a:tcPr>
                    <a:solidFill>
                      <a:srgbClr val="0F2140"/>
                    </a:solidFill>
                  </a:tcPr>
                </a:tc>
              </a:tr>
              <a:tr h="311467">
                <a:tc>
                  <a:txBody>
                    <a:bodyPr lIns="73152" rIns="73152"/>
                    <a:lstStyle/>
                    <a:p>
                      <a:pPr algn="l"/>
                      <a:r>
                        <a:rPr sz="900" b="1">
                          <a:solidFill>
                            <a:srgbClr val="0F2140"/>
                          </a:solidFill>
                        </a:rPr>
                        <a:t>R-PROD-1</a:t>
                      </a:r>
                    </a:p>
                  </a:txBody>
                  <a:tcPr>
                    <a:solidFill>
                      <a:srgbClr val="F0F7FF"/>
                    </a:solidFill>
                  </a:tcPr>
                </a:tc>
                <a:tc>
                  <a:txBody>
                    <a:bodyPr lIns="73152" rIns="73152"/>
                    <a:lstStyle/>
                    <a:p>
                      <a:pPr algn="l"/>
                      <a:r>
                        <a:rPr sz="900" b="0">
                          <a:solidFill>
                            <a:srgbClr val="1E293B"/>
                          </a:solidFill>
                        </a:rPr>
                        <a:t>Synthetic watchlist — no live sanctions coverage</a:t>
                      </a:r>
                    </a:p>
                  </a:txBody>
                  <a:tcPr>
                    <a:solidFill>
                      <a:srgbClr val="F0F7FF"/>
                    </a:solidFill>
                  </a:tcPr>
                </a:tc>
                <a:tc>
                  <a:txBody>
                    <a:bodyPr lIns="73152" rIns="73152"/>
                    <a:lstStyle/>
                    <a:p>
                      <a:pPr algn="l"/>
                      <a:r>
                        <a:rPr sz="900" b="0">
                          <a:solidFill>
                            <a:srgbClr val="1E293B"/>
                          </a:solidFill>
                        </a:rPr>
                        <a:t>Product</a:t>
                      </a:r>
                    </a:p>
                  </a:txBody>
                  <a:tcPr>
                    <a:solidFill>
                      <a:srgbClr val="F0F7FF"/>
                    </a:solidFill>
                  </a:tcPr>
                </a:tc>
                <a:tc>
                  <a:txBody>
                    <a:bodyPr lIns="73152" rIns="73152"/>
                    <a:lstStyle/>
                    <a:p>
                      <a:pPr algn="l"/>
                      <a:r>
                        <a:rPr sz="900" b="0">
                          <a:solidFill>
                            <a:srgbClr val="1E293B"/>
                          </a:solidFill>
                        </a:rPr>
                        <a:t>High (NOW)</a:t>
                      </a:r>
                    </a:p>
                  </a:txBody>
                  <a:tcPr>
                    <a:solidFill>
                      <a:srgbClr val="F0F7FF"/>
                    </a:solidFill>
                  </a:tcPr>
                </a:tc>
                <a:tc>
                  <a:txBody>
                    <a:bodyPr lIns="73152" rIns="73152"/>
                    <a:lstStyle/>
                    <a:p>
                      <a:pPr algn="l"/>
                      <a:r>
                        <a:rPr sz="900" b="0">
                          <a:solidFill>
                            <a:srgbClr val="1E293B"/>
                          </a:solidFill>
                        </a:rPr>
                        <a:t>Very High</a:t>
                      </a:r>
                    </a:p>
                  </a:txBody>
                  <a:tcPr>
                    <a:solidFill>
                      <a:srgbClr val="F0F7FF"/>
                    </a:solidFill>
                  </a:tcPr>
                </a:tc>
                <a:tc>
                  <a:txBody>
                    <a:bodyPr lIns="73152" rIns="73152"/>
                    <a:lstStyle/>
                    <a:p>
                      <a:pPr algn="l"/>
                      <a:r>
                        <a:rPr sz="900" b="0">
                          <a:solidFill>
                            <a:srgbClr val="1E293B"/>
                          </a:solidFill>
                        </a:rPr>
                        <a:t>LAUNCH BLOCKER — must resolve before go-live</a:t>
                      </a:r>
                    </a:p>
                  </a:txBody>
                  <a:tcPr>
                    <a:solidFill>
                      <a:srgbClr val="F0F7FF"/>
                    </a:solidFill>
                  </a:tcPr>
                </a:tc>
              </a:tr>
              <a:tr h="311467">
                <a:tc>
                  <a:txBody>
                    <a:bodyPr lIns="73152" rIns="73152"/>
                    <a:lstStyle/>
                    <a:p>
                      <a:pPr algn="l"/>
                      <a:r>
                        <a:rPr sz="900" b="1">
                          <a:solidFill>
                            <a:srgbClr val="0F2140"/>
                          </a:solidFill>
                        </a:rPr>
                        <a:t>R-OPS-3</a:t>
                      </a:r>
                    </a:p>
                  </a:txBody>
                  <a:tcPr>
                    <a:solidFill>
                      <a:srgbClr val="FFFFFF"/>
                    </a:solidFill>
                  </a:tcPr>
                </a:tc>
                <a:tc>
                  <a:txBody>
                    <a:bodyPr lIns="73152" rIns="73152"/>
                    <a:lstStyle/>
                    <a:p>
                      <a:pPr algn="l"/>
                      <a:r>
                        <a:rPr sz="900" b="0">
                          <a:solidFill>
                            <a:srgbClr val="1E293B"/>
                          </a:solidFill>
                        </a:rPr>
                        <a:t>No production auth / RBAC in current build</a:t>
                      </a:r>
                    </a:p>
                  </a:txBody>
                  <a:tcPr>
                    <a:solidFill>
                      <a:srgbClr val="FFFFFF"/>
                    </a:solidFill>
                  </a:tcPr>
                </a:tc>
                <a:tc>
                  <a:txBody>
                    <a:bodyPr lIns="73152" rIns="73152"/>
                    <a:lstStyle/>
                    <a:p>
                      <a:pPr algn="l"/>
                      <a:r>
                        <a:rPr sz="900" b="0">
                          <a:solidFill>
                            <a:srgbClr val="1E293B"/>
                          </a:solidFill>
                        </a:rPr>
                        <a:t>Operational</a:t>
                      </a:r>
                    </a:p>
                  </a:txBody>
                  <a:tcPr>
                    <a:solidFill>
                      <a:srgbClr val="FFFFFF"/>
                    </a:solidFill>
                  </a:tcPr>
                </a:tc>
                <a:tc>
                  <a:txBody>
                    <a:bodyPr lIns="73152" rIns="73152"/>
                    <a:lstStyle/>
                    <a:p>
                      <a:pPr algn="l"/>
                      <a:r>
                        <a:rPr sz="900" b="0">
                          <a:solidFill>
                            <a:srgbClr val="1E293B"/>
                          </a:solidFill>
                        </a:rPr>
                        <a:t>High (NOW)</a:t>
                      </a:r>
                    </a:p>
                  </a:txBody>
                  <a:tcPr>
                    <a:solidFill>
                      <a:srgbClr val="FFFFFF"/>
                    </a:solidFill>
                  </a:tcPr>
                </a:tc>
                <a:tc>
                  <a:txBody>
                    <a:bodyPr lIns="73152" rIns="73152"/>
                    <a:lstStyle/>
                    <a:p>
                      <a:pPr algn="l"/>
                      <a:r>
                        <a:rPr sz="900" b="0">
                          <a:solidFill>
                            <a:srgbClr val="1E293B"/>
                          </a:solidFill>
                        </a:rPr>
                        <a:t>High</a:t>
                      </a:r>
                    </a:p>
                  </a:txBody>
                  <a:tcPr>
                    <a:solidFill>
                      <a:srgbClr val="FFFFFF"/>
                    </a:solidFill>
                  </a:tcPr>
                </a:tc>
                <a:tc>
                  <a:txBody>
                    <a:bodyPr lIns="73152" rIns="73152"/>
                    <a:lstStyle/>
                    <a:p>
                      <a:pPr algn="l"/>
                      <a:r>
                        <a:rPr sz="900" b="0">
                          <a:solidFill>
                            <a:srgbClr val="1E293B"/>
                          </a:solidFill>
                        </a:rPr>
                        <a:t>LAUNCH BLOCKER — 1–2 weeks engineering</a:t>
                      </a:r>
                    </a:p>
                  </a:txBody>
                  <a:tcPr>
                    <a:solidFill>
                      <a:srgbClr val="FFFFFF"/>
                    </a:solidFill>
                  </a:tcPr>
                </a:tc>
              </a:tr>
              <a:tr h="311467">
                <a:tc>
                  <a:txBody>
                    <a:bodyPr lIns="73152" rIns="73152"/>
                    <a:lstStyle/>
                    <a:p>
                      <a:pPr algn="l"/>
                      <a:r>
                        <a:rPr sz="900" b="1">
                          <a:solidFill>
                            <a:srgbClr val="0F2140"/>
                          </a:solidFill>
                        </a:rPr>
                        <a:t>R-OPS-2</a:t>
                      </a:r>
                    </a:p>
                  </a:txBody>
                  <a:tcPr>
                    <a:solidFill>
                      <a:srgbClr val="F0F7FF"/>
                    </a:solidFill>
                  </a:tcPr>
                </a:tc>
                <a:tc>
                  <a:txBody>
                    <a:bodyPr lIns="73152" rIns="73152"/>
                    <a:lstStyle/>
                    <a:p>
                      <a:pPr algn="l"/>
                      <a:r>
                        <a:rPr sz="900" b="0">
                          <a:solidFill>
                            <a:srgbClr val="1E293B"/>
                          </a:solidFill>
                        </a:rPr>
                        <a:t>Flask dev server exposed in production</a:t>
                      </a:r>
                    </a:p>
                  </a:txBody>
                  <a:tcPr>
                    <a:solidFill>
                      <a:srgbClr val="F0F7FF"/>
                    </a:solidFill>
                  </a:tcPr>
                </a:tc>
                <a:tc>
                  <a:txBody>
                    <a:bodyPr lIns="73152" rIns="73152"/>
                    <a:lstStyle/>
                    <a:p>
                      <a:pPr algn="l"/>
                      <a:r>
                        <a:rPr sz="900" b="0">
                          <a:solidFill>
                            <a:srgbClr val="1E293B"/>
                          </a:solidFill>
                        </a:rPr>
                        <a:t>Operational</a:t>
                      </a:r>
                    </a:p>
                  </a:txBody>
                  <a:tcPr>
                    <a:solidFill>
                      <a:srgbClr val="F0F7FF"/>
                    </a:solidFill>
                  </a:tcPr>
                </a:tc>
                <a:tc>
                  <a:txBody>
                    <a:bodyPr lIns="73152" rIns="73152"/>
                    <a:lstStyle/>
                    <a:p>
                      <a:pPr algn="l"/>
                      <a:r>
                        <a:rPr sz="900" b="0">
                          <a:solidFill>
                            <a:srgbClr val="1E293B"/>
                          </a:solidFill>
                        </a:rPr>
                        <a:t>High (NOW)</a:t>
                      </a:r>
                    </a:p>
                  </a:txBody>
                  <a:tcPr>
                    <a:solidFill>
                      <a:srgbClr val="F0F7FF"/>
                    </a:solidFill>
                  </a:tcPr>
                </a:tc>
                <a:tc>
                  <a:txBody>
                    <a:bodyPr lIns="73152" rIns="73152"/>
                    <a:lstStyle/>
                    <a:p>
                      <a:pPr algn="l"/>
                      <a:r>
                        <a:rPr sz="900" b="0">
                          <a:solidFill>
                            <a:srgbClr val="1E293B"/>
                          </a:solidFill>
                        </a:rPr>
                        <a:t>High</a:t>
                      </a:r>
                    </a:p>
                  </a:txBody>
                  <a:tcPr>
                    <a:solidFill>
                      <a:srgbClr val="F0F7FF"/>
                    </a:solidFill>
                  </a:tcPr>
                </a:tc>
                <a:tc>
                  <a:txBody>
                    <a:bodyPr lIns="73152" rIns="73152"/>
                    <a:lstStyle/>
                    <a:p>
                      <a:pPr algn="l"/>
                      <a:r>
                        <a:rPr sz="900" b="0">
                          <a:solidFill>
                            <a:srgbClr val="1E293B"/>
                          </a:solidFill>
                        </a:rPr>
                        <a:t>LAUNCH BLOCKER — 1 day fix</a:t>
                      </a:r>
                    </a:p>
                  </a:txBody>
                  <a:tcPr>
                    <a:solidFill>
                      <a:srgbClr val="F0F7FF"/>
                    </a:solidFill>
                  </a:tcPr>
                </a:tc>
              </a:tr>
              <a:tr h="311467">
                <a:tc>
                  <a:txBody>
                    <a:bodyPr lIns="73152" rIns="73152"/>
                    <a:lstStyle/>
                    <a:p>
                      <a:pPr algn="l"/>
                      <a:r>
                        <a:rPr sz="900" b="1">
                          <a:solidFill>
                            <a:srgbClr val="0F2140"/>
                          </a:solidFill>
                        </a:rPr>
                        <a:t>R-REG-1</a:t>
                      </a:r>
                    </a:p>
                  </a:txBody>
                  <a:tcPr>
                    <a:solidFill>
                      <a:srgbClr val="FFFFFF"/>
                    </a:solidFill>
                  </a:tcPr>
                </a:tc>
                <a:tc>
                  <a:txBody>
                    <a:bodyPr lIns="73152" rIns="73152"/>
                    <a:lstStyle/>
                    <a:p>
                      <a:pPr algn="l"/>
                      <a:r>
                        <a:rPr sz="900" b="0">
                          <a:solidFill>
                            <a:srgbClr val="1E293B"/>
                          </a:solidFill>
                        </a:rPr>
                        <a:t>AI false negative — genuine sanctioned entity cleared</a:t>
                      </a:r>
                    </a:p>
                  </a:txBody>
                  <a:tcPr>
                    <a:solidFill>
                      <a:srgbClr val="FFFFFF"/>
                    </a:solidFill>
                  </a:tcPr>
                </a:tc>
                <a:tc>
                  <a:txBody>
                    <a:bodyPr lIns="73152" rIns="73152"/>
                    <a:lstStyle/>
                    <a:p>
                      <a:pPr algn="l"/>
                      <a:r>
                        <a:rPr sz="900" b="0">
                          <a:solidFill>
                            <a:srgbClr val="1E293B"/>
                          </a:solidFill>
                        </a:rPr>
                        <a:t>Regulatory</a:t>
                      </a:r>
                    </a:p>
                  </a:txBody>
                  <a:tcPr>
                    <a:solidFill>
                      <a:srgbClr val="FFFFFF"/>
                    </a:solidFill>
                  </a:tcPr>
                </a:tc>
                <a:tc>
                  <a:txBody>
                    <a:bodyPr lIns="73152" rIns="73152"/>
                    <a:lstStyle/>
                    <a:p>
                      <a:pPr algn="l"/>
                      <a:r>
                        <a:rPr sz="900" b="0">
                          <a:solidFill>
                            <a:srgbClr val="1E293B"/>
                          </a:solidFill>
                        </a:rPr>
                        <a:t>Low</a:t>
                      </a:r>
                    </a:p>
                  </a:txBody>
                  <a:tcPr>
                    <a:solidFill>
                      <a:srgbClr val="FFFFFF"/>
                    </a:solidFill>
                  </a:tcPr>
                </a:tc>
                <a:tc>
                  <a:txBody>
                    <a:bodyPr lIns="73152" rIns="73152"/>
                    <a:lstStyle/>
                    <a:p>
                      <a:pPr algn="l"/>
                      <a:r>
                        <a:rPr sz="900" b="0">
                          <a:solidFill>
                            <a:srgbClr val="1E293B"/>
                          </a:solidFill>
                        </a:rPr>
                        <a:t>Very High</a:t>
                      </a:r>
                    </a:p>
                  </a:txBody>
                  <a:tcPr>
                    <a:solidFill>
                      <a:srgbClr val="FFFFFF"/>
                    </a:solidFill>
                  </a:tcPr>
                </a:tc>
                <a:tc>
                  <a:txBody>
                    <a:bodyPr lIns="73152" rIns="73152"/>
                    <a:lstStyle/>
                    <a:p>
                      <a:pPr algn="l"/>
                      <a:r>
                        <a:rPr sz="900" b="0">
                          <a:solidFill>
                            <a:srgbClr val="1E293B"/>
                          </a:solidFill>
                        </a:rPr>
                        <a:t>Low — 4 structural safeguards (Level B, HitL, rationale, audit trail)</a:t>
                      </a:r>
                    </a:p>
                  </a:txBody>
                  <a:tcPr>
                    <a:solidFill>
                      <a:srgbClr val="FFFFFF"/>
                    </a:solidFill>
                  </a:tcPr>
                </a:tc>
              </a:tr>
              <a:tr h="311467">
                <a:tc>
                  <a:txBody>
                    <a:bodyPr lIns="73152" rIns="73152"/>
                    <a:lstStyle/>
                    <a:p>
                      <a:pPr algn="l"/>
                      <a:r>
                        <a:rPr sz="900" b="1">
                          <a:solidFill>
                            <a:srgbClr val="0F2140"/>
                          </a:solidFill>
                        </a:rPr>
                        <a:t>R-REG-3</a:t>
                      </a:r>
                    </a:p>
                  </a:txBody>
                  <a:tcPr>
                    <a:solidFill>
                      <a:srgbClr val="F0F7FF"/>
                    </a:solidFill>
                  </a:tcPr>
                </a:tc>
                <a:tc>
                  <a:txBody>
                    <a:bodyPr lIns="73152" rIns="73152"/>
                    <a:lstStyle/>
                    <a:p>
                      <a:pPr algn="l"/>
                      <a:r>
                        <a:rPr sz="900" b="0">
                          <a:solidFill>
                            <a:srgbClr val="1E293B"/>
                          </a:solidFill>
                        </a:rPr>
                        <a:t>Demo scores treated as validated compliance policy</a:t>
                      </a:r>
                    </a:p>
                  </a:txBody>
                  <a:tcPr>
                    <a:solidFill>
                      <a:srgbClr val="F0F7FF"/>
                    </a:solidFill>
                  </a:tcPr>
                </a:tc>
                <a:tc>
                  <a:txBody>
                    <a:bodyPr lIns="73152" rIns="73152"/>
                    <a:lstStyle/>
                    <a:p>
                      <a:pPr algn="l"/>
                      <a:r>
                        <a:rPr sz="900" b="0">
                          <a:solidFill>
                            <a:srgbClr val="1E293B"/>
                          </a:solidFill>
                        </a:rPr>
                        <a:t>Regulatory</a:t>
                      </a:r>
                    </a:p>
                  </a:txBody>
                  <a:tcPr>
                    <a:solidFill>
                      <a:srgbClr val="F0F7FF"/>
                    </a:solidFill>
                  </a:tcPr>
                </a:tc>
                <a:tc>
                  <a:txBody>
                    <a:bodyPr lIns="73152" rIns="73152"/>
                    <a:lstStyle/>
                    <a:p>
                      <a:pPr algn="l"/>
                      <a:r>
                        <a:rPr sz="900" b="0">
                          <a:solidFill>
                            <a:srgbClr val="1E293B"/>
                          </a:solidFill>
                        </a:rPr>
                        <a:t>Medium</a:t>
                      </a:r>
                    </a:p>
                  </a:txBody>
                  <a:tcPr>
                    <a:solidFill>
                      <a:srgbClr val="F0F7FF"/>
                    </a:solidFill>
                  </a:tcPr>
                </a:tc>
                <a:tc>
                  <a:txBody>
                    <a:bodyPr lIns="73152" rIns="73152"/>
                    <a:lstStyle/>
                    <a:p>
                      <a:pPr algn="l"/>
                      <a:r>
                        <a:rPr sz="900" b="0">
                          <a:solidFill>
                            <a:srgbClr val="1E293B"/>
                          </a:solidFill>
                        </a:rPr>
                        <a:t>High</a:t>
                      </a:r>
                    </a:p>
                  </a:txBody>
                  <a:tcPr>
                    <a:solidFill>
                      <a:srgbClr val="F0F7FF"/>
                    </a:solidFill>
                  </a:tcPr>
                </a:tc>
                <a:tc>
                  <a:txBody>
                    <a:bodyPr lIns="73152" rIns="73152"/>
                    <a:lstStyle/>
                    <a:p>
                      <a:pPr algn="l"/>
                      <a:r>
                        <a:rPr sz="900" b="0">
                          <a:solidFill>
                            <a:srgbClr val="1E293B"/>
                          </a:solidFill>
                        </a:rPr>
                        <a:t>Low — DEMO labels at every touchpoint; policy gate in pilot agreement</a:t>
                      </a:r>
                    </a:p>
                  </a:txBody>
                  <a:tcPr>
                    <a:solidFill>
                      <a:srgbClr val="F0F7FF"/>
                    </a:solidFill>
                  </a:tcPr>
                </a:tc>
              </a:tr>
              <a:tr h="311467">
                <a:tc>
                  <a:txBody>
                    <a:bodyPr lIns="73152" rIns="73152"/>
                    <a:lstStyle/>
                    <a:p>
                      <a:pPr algn="l"/>
                      <a:r>
                        <a:rPr sz="900" b="1">
                          <a:solidFill>
                            <a:srgbClr val="0F2140"/>
                          </a:solidFill>
                        </a:rPr>
                        <a:t>R-REP-2</a:t>
                      </a:r>
                    </a:p>
                  </a:txBody>
                  <a:tcPr>
                    <a:solidFill>
                      <a:srgbClr val="FFFFFF"/>
                    </a:solidFill>
                  </a:tcPr>
                </a:tc>
                <a:tc>
                  <a:txBody>
                    <a:bodyPr lIns="73152" rIns="73152"/>
                    <a:lstStyle/>
                    <a:p>
                      <a:pPr algn="l"/>
                      <a:r>
                        <a:rPr sz="900" b="0">
                          <a:solidFill>
                            <a:srgbClr val="1E293B"/>
                          </a:solidFill>
                        </a:rPr>
                        <a:t>APPROVE recommendation mistaken for regulatory sign-off</a:t>
                      </a:r>
                    </a:p>
                  </a:txBody>
                  <a:tcPr>
                    <a:solidFill>
                      <a:srgbClr val="FFFFFF"/>
                    </a:solidFill>
                  </a:tcPr>
                </a:tc>
                <a:tc>
                  <a:txBody>
                    <a:bodyPr lIns="73152" rIns="73152"/>
                    <a:lstStyle/>
                    <a:p>
                      <a:pPr algn="l"/>
                      <a:r>
                        <a:rPr sz="900" b="0">
                          <a:solidFill>
                            <a:srgbClr val="1E293B"/>
                          </a:solidFill>
                        </a:rPr>
                        <a:t>Reputational</a:t>
                      </a:r>
                    </a:p>
                  </a:txBody>
                  <a:tcPr>
                    <a:solidFill>
                      <a:srgbClr val="FFFFFF"/>
                    </a:solidFill>
                  </a:tcPr>
                </a:tc>
                <a:tc>
                  <a:txBody>
                    <a:bodyPr lIns="73152" rIns="73152"/>
                    <a:lstStyle/>
                    <a:p>
                      <a:pPr algn="l"/>
                      <a:r>
                        <a:rPr sz="900" b="0">
                          <a:solidFill>
                            <a:srgbClr val="1E293B"/>
                          </a:solidFill>
                        </a:rPr>
                        <a:t>Medium</a:t>
                      </a:r>
                    </a:p>
                  </a:txBody>
                  <a:tcPr>
                    <a:solidFill>
                      <a:srgbClr val="FFFFFF"/>
                    </a:solidFill>
                  </a:tcPr>
                </a:tc>
                <a:tc>
                  <a:txBody>
                    <a:bodyPr lIns="73152" rIns="73152"/>
                    <a:lstStyle/>
                    <a:p>
                      <a:pPr algn="l"/>
                      <a:r>
                        <a:rPr sz="900" b="0">
                          <a:solidFill>
                            <a:srgbClr val="1E293B"/>
                          </a:solidFill>
                        </a:rPr>
                        <a:t>Very High</a:t>
                      </a:r>
                    </a:p>
                  </a:txBody>
                  <a:tcPr>
                    <a:solidFill>
                      <a:srgbClr val="FFFFFF"/>
                    </a:solidFill>
                  </a:tcPr>
                </a:tc>
                <a:tc>
                  <a:txBody>
                    <a:bodyPr lIns="73152" rIns="73152"/>
                    <a:lstStyle/>
                    <a:p>
                      <a:pPr algn="l"/>
                      <a:r>
                        <a:rPr sz="900" b="0">
                          <a:solidFill>
                            <a:srgbClr val="1E293B"/>
                          </a:solidFill>
                        </a:rPr>
                        <a:t>Low — HitL structural; MSA liability clause</a:t>
                      </a:r>
                    </a:p>
                  </a:txBody>
                  <a:tcPr>
                    <a:solidFill>
                      <a:srgbClr val="FFFFFF"/>
                    </a:solidFill>
                  </a:tcPr>
                </a:tc>
              </a:tr>
              <a:tr h="311467">
                <a:tc>
                  <a:txBody>
                    <a:bodyPr lIns="73152" rIns="73152"/>
                    <a:lstStyle/>
                    <a:p>
                      <a:pPr algn="l"/>
                      <a:r>
                        <a:rPr sz="900" b="1">
                          <a:solidFill>
                            <a:srgbClr val="0F2140"/>
                          </a:solidFill>
                        </a:rPr>
                        <a:t>R-COM-1</a:t>
                      </a:r>
                    </a:p>
                  </a:txBody>
                  <a:tcPr>
                    <a:solidFill>
                      <a:srgbClr val="F0F7FF"/>
                    </a:solidFill>
                  </a:tcPr>
                </a:tc>
                <a:tc>
                  <a:txBody>
                    <a:bodyPr lIns="73152" rIns="73152"/>
                    <a:lstStyle/>
                    <a:p>
                      <a:pPr algn="l"/>
                      <a:r>
                        <a:rPr sz="900" b="0">
                          <a:solidFill>
                            <a:srgbClr val="1E293B"/>
                          </a:solidFill>
                        </a:rPr>
                        <a:t>Pilot-to-paid conversion below 67% target</a:t>
                      </a:r>
                    </a:p>
                  </a:txBody>
                  <a:tcPr>
                    <a:solidFill>
                      <a:srgbClr val="F0F7FF"/>
                    </a:solidFill>
                  </a:tcPr>
                </a:tc>
                <a:tc>
                  <a:txBody>
                    <a:bodyPr lIns="73152" rIns="73152"/>
                    <a:lstStyle/>
                    <a:p>
                      <a:pPr algn="l"/>
                      <a:r>
                        <a:rPr sz="900" b="0">
                          <a:solidFill>
                            <a:srgbClr val="1E293B"/>
                          </a:solidFill>
                        </a:rPr>
                        <a:t>Commercial</a:t>
                      </a:r>
                    </a:p>
                  </a:txBody>
                  <a:tcPr>
                    <a:solidFill>
                      <a:srgbClr val="F0F7FF"/>
                    </a:solidFill>
                  </a:tcPr>
                </a:tc>
                <a:tc>
                  <a:txBody>
                    <a:bodyPr lIns="73152" rIns="73152"/>
                    <a:lstStyle/>
                    <a:p>
                      <a:pPr algn="l"/>
                      <a:r>
                        <a:rPr sz="900" b="0">
                          <a:solidFill>
                            <a:srgbClr val="1E293B"/>
                          </a:solidFill>
                        </a:rPr>
                        <a:t>Medium</a:t>
                      </a:r>
                    </a:p>
                  </a:txBody>
                  <a:tcPr>
                    <a:solidFill>
                      <a:srgbClr val="F0F7FF"/>
                    </a:solidFill>
                  </a:tcPr>
                </a:tc>
                <a:tc>
                  <a:txBody>
                    <a:bodyPr lIns="73152" rIns="73152"/>
                    <a:lstStyle/>
                    <a:p>
                      <a:pPr algn="l"/>
                      <a:r>
                        <a:rPr sz="900" b="0">
                          <a:solidFill>
                            <a:srgbClr val="1E293B"/>
                          </a:solidFill>
                        </a:rPr>
                        <a:t>Medium</a:t>
                      </a:r>
                    </a:p>
                  </a:txBody>
                  <a:tcPr>
                    <a:solidFill>
                      <a:srgbClr val="F0F7FF"/>
                    </a:solidFill>
                  </a:tcPr>
                </a:tc>
                <a:tc>
                  <a:txBody>
                    <a:bodyPr lIns="73152" rIns="73152"/>
                    <a:lstStyle/>
                    <a:p>
                      <a:pPr algn="l"/>
                      <a:r>
                        <a:rPr sz="900" b="0">
                          <a:solidFill>
                            <a:srgbClr val="1E293B"/>
                          </a:solidFill>
                        </a:rPr>
                        <a:t>Medium — baseline discipline + MLRO-led reviews</a:t>
                      </a:r>
                    </a:p>
                  </a:txBody>
                  <a:tcPr>
                    <a:solidFill>
                      <a:srgbClr val="F0F7FF"/>
                    </a:solidFill>
                  </a:tcPr>
                </a:tc>
              </a:tr>
              <a:tr h="311467">
                <a:tc>
                  <a:txBody>
                    <a:bodyPr lIns="73152" rIns="73152"/>
                    <a:lstStyle/>
                    <a:p>
                      <a:pPr algn="l"/>
                      <a:r>
                        <a:rPr sz="900" b="1">
                          <a:solidFill>
                            <a:srgbClr val="0F2140"/>
                          </a:solidFill>
                        </a:rPr>
                        <a:t>R-COM-2</a:t>
                      </a:r>
                    </a:p>
                  </a:txBody>
                  <a:tcPr>
                    <a:solidFill>
                      <a:srgbClr val="FFFFFF"/>
                    </a:solidFill>
                  </a:tcPr>
                </a:tc>
                <a:tc>
                  <a:txBody>
                    <a:bodyPr lIns="73152" rIns="73152"/>
                    <a:lstStyle/>
                    <a:p>
                      <a:pPr algn="l"/>
                      <a:r>
                        <a:rPr sz="900" b="0">
                          <a:solidFill>
                            <a:srgbClr val="1E293B"/>
                          </a:solidFill>
                        </a:rPr>
                        <a:t>Customer concentration: 2 customers = 80% of ARR</a:t>
                      </a:r>
                    </a:p>
                  </a:txBody>
                  <a:tcPr>
                    <a:solidFill>
                      <a:srgbClr val="FFFFFF"/>
                    </a:solidFill>
                  </a:tcPr>
                </a:tc>
                <a:tc>
                  <a:txBody>
                    <a:bodyPr lIns="73152" rIns="73152"/>
                    <a:lstStyle/>
                    <a:p>
                      <a:pPr algn="l"/>
                      <a:r>
                        <a:rPr sz="900" b="0">
                          <a:solidFill>
                            <a:srgbClr val="1E293B"/>
                          </a:solidFill>
                        </a:rPr>
                        <a:t>Commercial</a:t>
                      </a:r>
                    </a:p>
                  </a:txBody>
                  <a:tcPr>
                    <a:solidFill>
                      <a:srgbClr val="FFFFFF"/>
                    </a:solidFill>
                  </a:tcPr>
                </a:tc>
                <a:tc>
                  <a:txBody>
                    <a:bodyPr lIns="73152" rIns="73152"/>
                    <a:lstStyle/>
                    <a:p>
                      <a:pPr algn="l"/>
                      <a:r>
                        <a:rPr sz="900" b="0">
                          <a:solidFill>
                            <a:srgbClr val="1E293B"/>
                          </a:solidFill>
                        </a:rPr>
                        <a:t>High (early)</a:t>
                      </a:r>
                    </a:p>
                  </a:txBody>
                  <a:tcPr>
                    <a:solidFill>
                      <a:srgbClr val="FFFFFF"/>
                    </a:solidFill>
                  </a:tcPr>
                </a:tc>
                <a:tc>
                  <a:txBody>
                    <a:bodyPr lIns="73152" rIns="73152"/>
                    <a:lstStyle/>
                    <a:p>
                      <a:pPr algn="l"/>
                      <a:r>
                        <a:rPr sz="900" b="0">
                          <a:solidFill>
                            <a:srgbClr val="1E293B"/>
                          </a:solidFill>
                        </a:rPr>
                        <a:t>Medium</a:t>
                      </a:r>
                    </a:p>
                  </a:txBody>
                  <a:tcPr>
                    <a:solidFill>
                      <a:srgbClr val="FFFFFF"/>
                    </a:solidFill>
                  </a:tcPr>
                </a:tc>
                <a:tc>
                  <a:txBody>
                    <a:bodyPr lIns="73152" rIns="73152"/>
                    <a:lstStyle/>
                    <a:p>
                      <a:pPr algn="l"/>
                      <a:r>
                        <a:rPr sz="900" b="0">
                          <a:solidFill>
                            <a:srgbClr val="1E293B"/>
                          </a:solidFill>
                        </a:rPr>
                        <a:t>Medium — 3 simultaneous pilots; 30% ARR cap</a:t>
                      </a:r>
                    </a:p>
                  </a:txBody>
                  <a:tcPr>
                    <a:solidFill>
                      <a:srgbClr val="FFFFFF"/>
                    </a:solidFill>
                  </a:tcPr>
                </a:tc>
              </a:tr>
              <a:tr h="311467">
                <a:tc>
                  <a:txBody>
                    <a:bodyPr lIns="73152" rIns="73152"/>
                    <a:lstStyle/>
                    <a:p>
                      <a:pPr algn="l"/>
                      <a:r>
                        <a:rPr sz="900" b="1">
                          <a:solidFill>
                            <a:srgbClr val="0F2140"/>
                          </a:solidFill>
                        </a:rPr>
                        <a:t>R-COM-3</a:t>
                      </a:r>
                    </a:p>
                  </a:txBody>
                  <a:tcPr>
                    <a:solidFill>
                      <a:srgbClr val="F0F7FF"/>
                    </a:solidFill>
                  </a:tcPr>
                </a:tc>
                <a:tc>
                  <a:txBody>
                    <a:bodyPr lIns="73152" rIns="73152"/>
                    <a:lstStyle/>
                    <a:p>
                      <a:pPr algn="l"/>
                      <a:r>
                        <a:rPr sz="900" b="0">
                          <a:solidFill>
                            <a:srgbClr val="1E293B"/>
                          </a:solidFill>
                        </a:rPr>
                        <a:t>Enterprise incumbent adds India AI layer</a:t>
                      </a:r>
                    </a:p>
                  </a:txBody>
                  <a:tcPr>
                    <a:solidFill>
                      <a:srgbClr val="F0F7FF"/>
                    </a:solidFill>
                  </a:tcPr>
                </a:tc>
                <a:tc>
                  <a:txBody>
                    <a:bodyPr lIns="73152" rIns="73152"/>
                    <a:lstStyle/>
                    <a:p>
                      <a:pPr algn="l"/>
                      <a:r>
                        <a:rPr sz="900" b="0">
                          <a:solidFill>
                            <a:srgbClr val="1E293B"/>
                          </a:solidFill>
                        </a:rPr>
                        <a:t>Commercial</a:t>
                      </a:r>
                    </a:p>
                  </a:txBody>
                  <a:tcPr>
                    <a:solidFill>
                      <a:srgbClr val="F0F7FF"/>
                    </a:solidFill>
                  </a:tcPr>
                </a:tc>
                <a:tc>
                  <a:txBody>
                    <a:bodyPr lIns="73152" rIns="73152"/>
                    <a:lstStyle/>
                    <a:p>
                      <a:pPr algn="l"/>
                      <a:r>
                        <a:rPr sz="900" b="0">
                          <a:solidFill>
                            <a:srgbClr val="1E293B"/>
                          </a:solidFill>
                        </a:rPr>
                        <a:t>High</a:t>
                      </a:r>
                    </a:p>
                  </a:txBody>
                  <a:tcPr>
                    <a:solidFill>
                      <a:srgbClr val="F0F7FF"/>
                    </a:solidFill>
                  </a:tcPr>
                </a:tc>
                <a:tc>
                  <a:txBody>
                    <a:bodyPr lIns="73152" rIns="73152"/>
                    <a:lstStyle/>
                    <a:p>
                      <a:pPr algn="l"/>
                      <a:r>
                        <a:rPr sz="900" b="0">
                          <a:solidFill>
                            <a:srgbClr val="1E293B"/>
                          </a:solidFill>
                        </a:rPr>
                        <a:t>Medium</a:t>
                      </a:r>
                    </a:p>
                  </a:txBody>
                  <a:tcPr>
                    <a:solidFill>
                      <a:srgbClr val="F0F7FF"/>
                    </a:solidFill>
                  </a:tcPr>
                </a:tc>
                <a:tc>
                  <a:txBody>
                    <a:bodyPr lIns="73152" rIns="73152"/>
                    <a:lstStyle/>
                    <a:p>
                      <a:pPr algn="l"/>
                      <a:r>
                        <a:rPr sz="900" b="0">
                          <a:solidFill>
                            <a:srgbClr val="1E293B"/>
                          </a:solidFill>
                        </a:rPr>
                        <a:t>Medium — speed + India-native depth are the defence</a:t>
                      </a:r>
                    </a:p>
                  </a:txBody>
                  <a:tcPr>
                    <a:solidFill>
                      <a:srgbClr val="F0F7FF"/>
                    </a:solidFill>
                  </a:tcPr>
                </a:tc>
              </a:tr>
              <a:tr h="311467">
                <a:tc>
                  <a:txBody>
                    <a:bodyPr lIns="73152" rIns="73152"/>
                    <a:lstStyle/>
                    <a:p>
                      <a:pPr algn="l"/>
                      <a:r>
                        <a:rPr sz="900" b="1">
                          <a:solidFill>
                            <a:srgbClr val="0F2140"/>
                          </a:solidFill>
                        </a:rPr>
                        <a:t>R-PROD-2</a:t>
                      </a:r>
                    </a:p>
                  </a:txBody>
                  <a:tcPr>
                    <a:solidFill>
                      <a:srgbClr val="FFFFFF"/>
                    </a:solidFill>
                  </a:tcPr>
                </a:tc>
                <a:tc>
                  <a:txBody>
                    <a:bodyPr lIns="73152" rIns="73152"/>
                    <a:lstStyle/>
                    <a:p>
                      <a:pPr algn="l"/>
                      <a:r>
                        <a:rPr sz="900" b="0">
                          <a:solidFill>
                            <a:srgbClr val="1E293B"/>
                          </a:solidFill>
                        </a:rPr>
                        <a:t>Watchlist staleness after live integration</a:t>
                      </a:r>
                    </a:p>
                  </a:txBody>
                  <a:tcPr>
                    <a:solidFill>
                      <a:srgbClr val="FFFFFF"/>
                    </a:solidFill>
                  </a:tcPr>
                </a:tc>
                <a:tc>
                  <a:txBody>
                    <a:bodyPr lIns="73152" rIns="73152"/>
                    <a:lstStyle/>
                    <a:p>
                      <a:pPr algn="l"/>
                      <a:r>
                        <a:rPr sz="900" b="0">
                          <a:solidFill>
                            <a:srgbClr val="1E293B"/>
                          </a:solidFill>
                        </a:rPr>
                        <a:t>Product</a:t>
                      </a:r>
                    </a:p>
                  </a:txBody>
                  <a:tcPr>
                    <a:solidFill>
                      <a:srgbClr val="FFFFFF"/>
                    </a:solidFill>
                  </a:tcPr>
                </a:tc>
                <a:tc>
                  <a:txBody>
                    <a:bodyPr lIns="73152" rIns="73152"/>
                    <a:lstStyle/>
                    <a:p>
                      <a:pPr algn="l"/>
                      <a:r>
                        <a:rPr sz="900" b="0">
                          <a:solidFill>
                            <a:srgbClr val="1E293B"/>
                          </a:solidFill>
                        </a:rPr>
                        <a:t>Medium</a:t>
                      </a:r>
                    </a:p>
                  </a:txBody>
                  <a:tcPr>
                    <a:solidFill>
                      <a:srgbClr val="FFFFFF"/>
                    </a:solidFill>
                  </a:tcPr>
                </a:tc>
                <a:tc>
                  <a:txBody>
                    <a:bodyPr lIns="73152" rIns="73152"/>
                    <a:lstStyle/>
                    <a:p>
                      <a:pPr algn="l"/>
                      <a:r>
                        <a:rPr sz="900" b="0">
                          <a:solidFill>
                            <a:srgbClr val="1E293B"/>
                          </a:solidFill>
                        </a:rPr>
                        <a:t>High</a:t>
                      </a:r>
                    </a:p>
                  </a:txBody>
                  <a:tcPr>
                    <a:solidFill>
                      <a:srgbClr val="FFFFFF"/>
                    </a:solidFill>
                  </a:tcPr>
                </a:tc>
                <a:tc>
                  <a:txBody>
                    <a:bodyPr lIns="73152" rIns="73152"/>
                    <a:lstStyle/>
                    <a:p>
                      <a:pPr algn="l"/>
                      <a:r>
                        <a:rPr sz="900" b="0">
                          <a:solidFill>
                            <a:srgbClr val="1E293B"/>
                          </a:solidFill>
                        </a:rPr>
                        <a:t>Low — freshness monitor + case-creation block on stale feeds</a:t>
                      </a:r>
                    </a:p>
                  </a:txBody>
                  <a:tcPr>
                    <a:solidFill>
                      <a:srgbClr val="FFFFFF"/>
                    </a:solidFill>
                  </a:tcPr>
                </a:tc>
              </a:tr>
              <a:tr h="311467">
                <a:tc>
                  <a:txBody>
                    <a:bodyPr lIns="73152" rIns="73152"/>
                    <a:lstStyle/>
                    <a:p>
                      <a:pPr algn="l"/>
                      <a:r>
                        <a:rPr sz="900" b="1">
                          <a:solidFill>
                            <a:srgbClr val="0F2140"/>
                          </a:solidFill>
                        </a:rPr>
                        <a:t>R-PROD-3</a:t>
                      </a:r>
                    </a:p>
                  </a:txBody>
                  <a:tcPr>
                    <a:solidFill>
                      <a:srgbClr val="F0F7FF"/>
                    </a:solidFill>
                  </a:tcPr>
                </a:tc>
                <a:tc>
                  <a:txBody>
                    <a:bodyPr lIns="73152" rIns="73152"/>
                    <a:lstStyle/>
                    <a:p>
                      <a:pPr algn="l"/>
                      <a:r>
                        <a:rPr sz="900" b="0">
                          <a:solidFill>
                            <a:srgbClr val="1E293B"/>
                          </a:solidFill>
                        </a:rPr>
                        <a:t>LLM prompt injection via screened documents</a:t>
                      </a:r>
                    </a:p>
                  </a:txBody>
                  <a:tcPr>
                    <a:solidFill>
                      <a:srgbClr val="F0F7FF"/>
                    </a:solidFill>
                  </a:tcPr>
                </a:tc>
                <a:tc>
                  <a:txBody>
                    <a:bodyPr lIns="73152" rIns="73152"/>
                    <a:lstStyle/>
                    <a:p>
                      <a:pPr algn="l"/>
                      <a:r>
                        <a:rPr sz="900" b="0">
                          <a:solidFill>
                            <a:srgbClr val="1E293B"/>
                          </a:solidFill>
                        </a:rPr>
                        <a:t>Product</a:t>
                      </a:r>
                    </a:p>
                  </a:txBody>
                  <a:tcPr>
                    <a:solidFill>
                      <a:srgbClr val="F0F7FF"/>
                    </a:solidFill>
                  </a:tcPr>
                </a:tc>
                <a:tc>
                  <a:txBody>
                    <a:bodyPr lIns="73152" rIns="73152"/>
                    <a:lstStyle/>
                    <a:p>
                      <a:pPr algn="l"/>
                      <a:r>
                        <a:rPr sz="900" b="0">
                          <a:solidFill>
                            <a:srgbClr val="1E293B"/>
                          </a:solidFill>
                        </a:rPr>
                        <a:t>Low</a:t>
                      </a:r>
                    </a:p>
                  </a:txBody>
                  <a:tcPr>
                    <a:solidFill>
                      <a:srgbClr val="F0F7FF"/>
                    </a:solidFill>
                  </a:tcPr>
                </a:tc>
                <a:tc>
                  <a:txBody>
                    <a:bodyPr lIns="73152" rIns="73152"/>
                    <a:lstStyle/>
                    <a:p>
                      <a:pPr algn="l"/>
                      <a:r>
                        <a:rPr sz="900" b="0">
                          <a:solidFill>
                            <a:srgbClr val="1E293B"/>
                          </a:solidFill>
                        </a:rPr>
                        <a:t>Medium</a:t>
                      </a:r>
                    </a:p>
                  </a:txBody>
                  <a:tcPr>
                    <a:solidFill>
                      <a:srgbClr val="F0F7FF"/>
                    </a:solidFill>
                  </a:tcPr>
                </a:tc>
                <a:tc>
                  <a:txBody>
                    <a:bodyPr lIns="73152" rIns="73152"/>
                    <a:lstStyle/>
                    <a:p>
                      <a:pPr algn="l"/>
                      <a:r>
                        <a:rPr sz="900" b="0">
                          <a:solidFill>
                            <a:srgbClr val="1E293B"/>
                          </a:solidFill>
                        </a:rPr>
                        <a:t>Low — LLM scope is prose drafting only; scores are deterministic</a:t>
                      </a:r>
                    </a:p>
                  </a:txBody>
                  <a:tcPr>
                    <a:solidFill>
                      <a:srgbClr val="F0F7FF"/>
                    </a:solidFill>
                  </a:tcPr>
                </a:tc>
              </a:tr>
              <a:tr h="311467">
                <a:tc>
                  <a:txBody>
                    <a:bodyPr lIns="73152" rIns="73152"/>
                    <a:lstStyle/>
                    <a:p>
                      <a:pPr algn="l"/>
                      <a:r>
                        <a:rPr sz="900" b="1">
                          <a:solidFill>
                            <a:srgbClr val="0F2140"/>
                          </a:solidFill>
                        </a:rPr>
                        <a:t>R-PROD-4</a:t>
                      </a:r>
                    </a:p>
                  </a:txBody>
                  <a:tcPr>
                    <a:solidFill>
                      <a:srgbClr val="FFFFFF"/>
                    </a:solidFill>
                  </a:tcPr>
                </a:tc>
                <a:tc>
                  <a:txBody>
                    <a:bodyPr lIns="73152" rIns="73152"/>
                    <a:lstStyle/>
                    <a:p>
                      <a:pPr algn="l"/>
                      <a:r>
                        <a:rPr sz="900" b="0">
                          <a:solidFill>
                            <a:srgbClr val="1E293B"/>
                          </a:solidFill>
                        </a:rPr>
                        <a:t>Level B Rule 6 gap — conflicting agents not caught</a:t>
                      </a:r>
                    </a:p>
                  </a:txBody>
                  <a:tcPr>
                    <a:solidFill>
                      <a:srgbClr val="FFFFFF"/>
                    </a:solidFill>
                  </a:tcPr>
                </a:tc>
                <a:tc>
                  <a:txBody>
                    <a:bodyPr lIns="73152" rIns="73152"/>
                    <a:lstStyle/>
                    <a:p>
                      <a:pPr algn="l"/>
                      <a:r>
                        <a:rPr sz="900" b="0">
                          <a:solidFill>
                            <a:srgbClr val="1E293B"/>
                          </a:solidFill>
                        </a:rPr>
                        <a:t>Product</a:t>
                      </a:r>
                    </a:p>
                  </a:txBody>
                  <a:tcPr>
                    <a:solidFill>
                      <a:srgbClr val="FFFFFF"/>
                    </a:solidFill>
                  </a:tcPr>
                </a:tc>
                <a:tc>
                  <a:txBody>
                    <a:bodyPr lIns="73152" rIns="73152"/>
                    <a:lstStyle/>
                    <a:p>
                      <a:pPr algn="l"/>
                      <a:r>
                        <a:rPr sz="900" b="0">
                          <a:solidFill>
                            <a:srgbClr val="1E293B"/>
                          </a:solidFill>
                        </a:rPr>
                        <a:t>Medium</a:t>
                      </a:r>
                    </a:p>
                  </a:txBody>
                  <a:tcPr>
                    <a:solidFill>
                      <a:srgbClr val="FFFFFF"/>
                    </a:solidFill>
                  </a:tcPr>
                </a:tc>
                <a:tc>
                  <a:txBody>
                    <a:bodyPr lIns="73152" rIns="73152"/>
                    <a:lstStyle/>
                    <a:p>
                      <a:pPr algn="l"/>
                      <a:r>
                        <a:rPr sz="900" b="0">
                          <a:solidFill>
                            <a:srgbClr val="1E293B"/>
                          </a:solidFill>
                        </a:rPr>
                        <a:t>Medium</a:t>
                      </a:r>
                    </a:p>
                  </a:txBody>
                  <a:tcPr>
                    <a:solidFill>
                      <a:srgbClr val="FFFFFF"/>
                    </a:solidFill>
                  </a:tcPr>
                </a:tc>
                <a:tc>
                  <a:txBody>
                    <a:bodyPr lIns="73152" rIns="73152"/>
                    <a:lstStyle/>
                    <a:p>
                      <a:pPr algn="l"/>
                      <a:r>
                        <a:rPr sz="900" b="0">
                          <a:solidFill>
                            <a:srgbClr val="1E293B"/>
                          </a:solidFill>
                        </a:rPr>
                        <a:t>Medium — human-review floor handles most cases; Rule 6 deferred</a:t>
                      </a:r>
                    </a:p>
                  </a:txBody>
                  <a:tcPr>
                    <a:solidFill>
                      <a:srgbClr val="FFFFFF"/>
                    </a:solidFill>
                  </a:tcPr>
                </a:tc>
              </a:tr>
              <a:tr h="311467">
                <a:tc>
                  <a:txBody>
                    <a:bodyPr lIns="73152" rIns="73152"/>
                    <a:lstStyle/>
                    <a:p>
                      <a:pPr algn="l"/>
                      <a:r>
                        <a:rPr sz="900" b="1">
                          <a:solidFill>
                            <a:srgbClr val="0F2140"/>
                          </a:solidFill>
                        </a:rPr>
                        <a:t>R-PROD-5</a:t>
                      </a:r>
                    </a:p>
                  </a:txBody>
                  <a:tcPr>
                    <a:solidFill>
                      <a:srgbClr val="F0F7FF"/>
                    </a:solidFill>
                  </a:tcPr>
                </a:tc>
                <a:tc>
                  <a:txBody>
                    <a:bodyPr lIns="73152" rIns="73152"/>
                    <a:lstStyle/>
                    <a:p>
                      <a:pPr algn="l"/>
                      <a:r>
                        <a:rPr sz="900" b="0">
                          <a:solidFill>
                            <a:srgbClr val="1E293B"/>
                          </a:solidFill>
                        </a:rPr>
                        <a:t>4-agent score dilution</a:t>
                      </a:r>
                    </a:p>
                  </a:txBody>
                  <a:tcPr>
                    <a:solidFill>
                      <a:srgbClr val="F0F7FF"/>
                    </a:solidFill>
                  </a:tcPr>
                </a:tc>
                <a:tc>
                  <a:txBody>
                    <a:bodyPr lIns="73152" rIns="73152"/>
                    <a:lstStyle/>
                    <a:p>
                      <a:pPr algn="l"/>
                      <a:r>
                        <a:rPr sz="900" b="0">
                          <a:solidFill>
                            <a:srgbClr val="1E293B"/>
                          </a:solidFill>
                        </a:rPr>
                        <a:t>Product</a:t>
                      </a:r>
                    </a:p>
                  </a:txBody>
                  <a:tcPr>
                    <a:solidFill>
                      <a:srgbClr val="F0F7FF"/>
                    </a:solidFill>
                  </a:tcPr>
                </a:tc>
                <a:tc>
                  <a:txBody>
                    <a:bodyPr lIns="73152" rIns="73152"/>
                    <a:lstStyle/>
                    <a:p>
                      <a:pPr algn="l"/>
                      <a:r>
                        <a:rPr sz="900" b="0">
                          <a:solidFill>
                            <a:srgbClr val="1E293B"/>
                          </a:solidFill>
                        </a:rPr>
                        <a:t>Low (fixed)</a:t>
                      </a:r>
                    </a:p>
                  </a:txBody>
                  <a:tcPr>
                    <a:solidFill>
                      <a:srgbClr val="F0F7FF"/>
                    </a:solidFill>
                  </a:tcPr>
                </a:tc>
                <a:tc>
                  <a:txBody>
                    <a:bodyPr lIns="73152" rIns="73152"/>
                    <a:lstStyle/>
                    <a:p>
                      <a:pPr algn="l"/>
                      <a:r>
                        <a:rPr sz="900" b="0">
                          <a:solidFill>
                            <a:srgbClr val="1E293B"/>
                          </a:solidFill>
                        </a:rPr>
                        <a:t>High</a:t>
                      </a:r>
                    </a:p>
                  </a:txBody>
                  <a:tcPr>
                    <a:solidFill>
                      <a:srgbClr val="F0F7FF"/>
                    </a:solidFill>
                  </a:tcPr>
                </a:tc>
                <a:tc>
                  <a:txBody>
                    <a:bodyPr lIns="73152" rIns="73152"/>
                    <a:lstStyle/>
                    <a:p>
                      <a:pPr algn="l"/>
                      <a:r>
                        <a:rPr sz="900" b="0">
                          <a:solidFill>
                            <a:srgbClr val="1E293B"/>
                          </a:solidFill>
                        </a:rPr>
                        <a:t>Low — required-agent safety floor built and tested (155 tests)</a:t>
                      </a:r>
                    </a:p>
                  </a:txBody>
                  <a:tcPr>
                    <a:solidFill>
                      <a:srgbClr val="F0F7FF"/>
                    </a:solidFill>
                  </a:tcPr>
                </a:tc>
              </a:tr>
              <a:tr h="311467">
                <a:tc>
                  <a:txBody>
                    <a:bodyPr lIns="73152" rIns="73152"/>
                    <a:lstStyle/>
                    <a:p>
                      <a:pPr algn="l"/>
                      <a:r>
                        <a:rPr sz="900" b="1">
                          <a:solidFill>
                            <a:srgbClr val="0F2140"/>
                          </a:solidFill>
                        </a:rPr>
                        <a:t>R-OPS-1</a:t>
                      </a:r>
                    </a:p>
                  </a:txBody>
                  <a:tcPr>
                    <a:solidFill>
                      <a:srgbClr val="FFFFFF"/>
                    </a:solidFill>
                  </a:tcPr>
                </a:tc>
                <a:tc>
                  <a:txBody>
                    <a:bodyPr lIns="73152" rIns="73152"/>
                    <a:lstStyle/>
                    <a:p>
                      <a:pPr algn="l"/>
                      <a:r>
                        <a:rPr sz="900" b="0">
                          <a:solidFill>
                            <a:srgbClr val="1E293B"/>
                          </a:solidFill>
                        </a:rPr>
                        <a:t>Compliance talent gap — domain + AI expertise combined</a:t>
                      </a:r>
                    </a:p>
                  </a:txBody>
                  <a:tcPr>
                    <a:solidFill>
                      <a:srgbClr val="FFFFFF"/>
                    </a:solidFill>
                  </a:tcPr>
                </a:tc>
                <a:tc>
                  <a:txBody>
                    <a:bodyPr lIns="73152" rIns="73152"/>
                    <a:lstStyle/>
                    <a:p>
                      <a:pPr algn="l"/>
                      <a:r>
                        <a:rPr sz="900" b="0">
                          <a:solidFill>
                            <a:srgbClr val="1E293B"/>
                          </a:solidFill>
                        </a:rPr>
                        <a:t>Operational</a:t>
                      </a:r>
                    </a:p>
                  </a:txBody>
                  <a:tcPr>
                    <a:solidFill>
                      <a:srgbClr val="FFFFFF"/>
                    </a:solidFill>
                  </a:tcPr>
                </a:tc>
                <a:tc>
                  <a:txBody>
                    <a:bodyPr lIns="73152" rIns="73152"/>
                    <a:lstStyle/>
                    <a:p>
                      <a:pPr algn="l"/>
                      <a:r>
                        <a:rPr sz="900" b="0">
                          <a:solidFill>
                            <a:srgbClr val="1E293B"/>
                          </a:solidFill>
                        </a:rPr>
                        <a:t>Medium</a:t>
                      </a:r>
                    </a:p>
                  </a:txBody>
                  <a:tcPr>
                    <a:solidFill>
                      <a:srgbClr val="FFFFFF"/>
                    </a:solidFill>
                  </a:tcPr>
                </a:tc>
                <a:tc>
                  <a:txBody>
                    <a:bodyPr lIns="73152" rIns="73152"/>
                    <a:lstStyle/>
                    <a:p>
                      <a:pPr algn="l"/>
                      <a:r>
                        <a:rPr sz="900" b="0">
                          <a:solidFill>
                            <a:srgbClr val="1E293B"/>
                          </a:solidFill>
                        </a:rPr>
                        <a:t>Medium</a:t>
                      </a:r>
                    </a:p>
                  </a:txBody>
                  <a:tcPr>
                    <a:solidFill>
                      <a:srgbClr val="FFFFFF"/>
                    </a:solidFill>
                  </a:tcPr>
                </a:tc>
                <a:tc>
                  <a:txBody>
                    <a:bodyPr lIns="73152" rIns="73152"/>
                    <a:lstStyle/>
                    <a:p>
                      <a:pPr algn="l"/>
                      <a:r>
                        <a:rPr sz="900" b="0">
                          <a:solidFill>
                            <a:srgbClr val="1E293B"/>
                          </a:solidFill>
                        </a:rPr>
                        <a:t>Medium — advisory board + explainable architecture needed</a:t>
                      </a:r>
                    </a:p>
                  </a:txBody>
                  <a:tcPr>
                    <a:solidFill>
                      <a:srgbClr val="FFFFFF"/>
                    </a:solidFill>
                  </a:tcPr>
                </a:tc>
              </a:tr>
              <a:tr h="311475">
                <a:tc>
                  <a:txBody>
                    <a:bodyPr lIns="73152" rIns="73152"/>
                    <a:lstStyle/>
                    <a:p>
                      <a:pPr algn="l"/>
                      <a:r>
                        <a:rPr sz="900" b="1">
                          <a:solidFill>
                            <a:srgbClr val="0F2140"/>
                          </a:solidFill>
                        </a:rPr>
                        <a:t>R-REP-1</a:t>
                      </a:r>
                    </a:p>
                  </a:txBody>
                  <a:tcPr>
                    <a:solidFill>
                      <a:srgbClr val="F0F7FF"/>
                    </a:solidFill>
                  </a:tcPr>
                </a:tc>
                <a:tc>
                  <a:txBody>
                    <a:bodyPr lIns="73152" rIns="73152"/>
                    <a:lstStyle/>
                    <a:p>
                      <a:pPr algn="l"/>
                      <a:r>
                        <a:rPr sz="900" b="0">
                          <a:solidFill>
                            <a:srgbClr val="1E293B"/>
                          </a:solidFill>
                        </a:rPr>
                        <a:t>Over-claiming AI capability vs. synthetic prototype</a:t>
                      </a:r>
                    </a:p>
                  </a:txBody>
                  <a:tcPr>
                    <a:solidFill>
                      <a:srgbClr val="F0F7FF"/>
                    </a:solidFill>
                  </a:tcPr>
                </a:tc>
                <a:tc>
                  <a:txBody>
                    <a:bodyPr lIns="73152" rIns="73152"/>
                    <a:lstStyle/>
                    <a:p>
                      <a:pPr algn="l"/>
                      <a:r>
                        <a:rPr sz="900" b="0">
                          <a:solidFill>
                            <a:srgbClr val="1E293B"/>
                          </a:solidFill>
                        </a:rPr>
                        <a:t>Reputational</a:t>
                      </a:r>
                    </a:p>
                  </a:txBody>
                  <a:tcPr>
                    <a:solidFill>
                      <a:srgbClr val="F0F7FF"/>
                    </a:solidFill>
                  </a:tcPr>
                </a:tc>
                <a:tc>
                  <a:txBody>
                    <a:bodyPr lIns="73152" rIns="73152"/>
                    <a:lstStyle/>
                    <a:p>
                      <a:pPr algn="l"/>
                      <a:r>
                        <a:rPr sz="900" b="0">
                          <a:solidFill>
                            <a:srgbClr val="1E293B"/>
                          </a:solidFill>
                        </a:rPr>
                        <a:t>Medium</a:t>
                      </a:r>
                    </a:p>
                  </a:txBody>
                  <a:tcPr>
                    <a:solidFill>
                      <a:srgbClr val="F0F7FF"/>
                    </a:solidFill>
                  </a:tcPr>
                </a:tc>
                <a:tc>
                  <a:txBody>
                    <a:bodyPr lIns="73152" rIns="73152"/>
                    <a:lstStyle/>
                    <a:p>
                      <a:pPr algn="l"/>
                      <a:r>
                        <a:rPr sz="900" b="0">
                          <a:solidFill>
                            <a:srgbClr val="1E293B"/>
                          </a:solidFill>
                        </a:rPr>
                        <a:t>High</a:t>
                      </a:r>
                    </a:p>
                  </a:txBody>
                  <a:tcPr>
                    <a:solidFill>
                      <a:srgbClr val="F0F7FF"/>
                    </a:solidFill>
                  </a:tcPr>
                </a:tc>
                <a:tc>
                  <a:txBody>
                    <a:bodyPr lIns="73152" rIns="73152"/>
                    <a:lstStyle/>
                    <a:p>
                      <a:pPr algn="l"/>
                      <a:r>
                        <a:rPr sz="900" b="0">
                          <a:solidFill>
                            <a:srgbClr val="1E293B"/>
                          </a:solidFill>
                        </a:rPr>
                        <a:t>Low — synthetic disclosures enforced at every touchpoint</a:t>
                      </a:r>
                    </a:p>
                  </a:txBody>
                  <a:tcPr>
                    <a:solidFill>
                      <a:srgbClr val="F0F7FF"/>
                    </a:solidFill>
                  </a:tcPr>
                </a:tc>
              </a:tr>
            </a:tbl>
          </a:graphicData>
        </a:graphic>
      </p:graphicFrame>
      <p:sp>
        <p:nvSpPr>
          <p:cNvPr id="7" name="TextBox 6"/>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11</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Priority Action Plan</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Three launch blockers + P1/P2 actions</a:t>
            </a:r>
          </a:p>
        </p:txBody>
      </p:sp>
      <p:sp>
        <p:nvSpPr>
          <p:cNvPr id="6" name="Rectangle 5"/>
          <p:cNvSpPr/>
          <p:nvPr/>
        </p:nvSpPr>
        <p:spPr>
          <a:xfrm>
            <a:off x="274320" y="1024128"/>
            <a:ext cx="3730752" cy="38404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000" b="1">
                <a:solidFill>
                  <a:srgbClr val="DC2626"/>
                </a:solidFill>
              </a:rPr>
              <a:t>BLOCKER 1</a:t>
            </a:r>
          </a:p>
        </p:txBody>
      </p:sp>
      <p:sp>
        <p:nvSpPr>
          <p:cNvPr id="7" name="Rectangle 6"/>
          <p:cNvSpPr/>
          <p:nvPr/>
        </p:nvSpPr>
        <p:spPr>
          <a:xfrm>
            <a:off x="274320" y="1426464"/>
            <a:ext cx="3730752" cy="347472"/>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100" b="1">
                <a:solidFill>
                  <a:srgbClr val="FFFFFF"/>
                </a:solidFill>
              </a:rPr>
              <a:t>Live Watchlist Feeds</a:t>
            </a:r>
          </a:p>
        </p:txBody>
      </p:sp>
      <p:sp>
        <p:nvSpPr>
          <p:cNvPr id="8" name="Rectangle 7"/>
          <p:cNvSpPr/>
          <p:nvPr/>
        </p:nvSpPr>
        <p:spPr>
          <a:xfrm>
            <a:off x="274320" y="1792224"/>
            <a:ext cx="3730752" cy="1481328"/>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Integrate OFAC SDN, UN Consolidated, EU Financial Sanctions, PEP data with daily refresh. Add stale-feed case-creation block — system refuses to create cases if watchlist data is more than 24 hours old. 2–4 weeks engineering.</a:t>
            </a:r>
          </a:p>
        </p:txBody>
      </p:sp>
      <p:sp>
        <p:nvSpPr>
          <p:cNvPr id="9" name="Rectangle 8"/>
          <p:cNvSpPr/>
          <p:nvPr/>
        </p:nvSpPr>
        <p:spPr>
          <a:xfrm>
            <a:off x="274320" y="1024128"/>
            <a:ext cx="64008" cy="171907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61104" y="1024128"/>
            <a:ext cx="3730752" cy="38404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000" b="1">
                <a:solidFill>
                  <a:srgbClr val="B45B09"/>
                </a:solidFill>
              </a:rPr>
              <a:t>BLOCKER 2</a:t>
            </a:r>
          </a:p>
        </p:txBody>
      </p:sp>
      <p:sp>
        <p:nvSpPr>
          <p:cNvPr id="11" name="Rectangle 10"/>
          <p:cNvSpPr/>
          <p:nvPr/>
        </p:nvSpPr>
        <p:spPr>
          <a:xfrm>
            <a:off x="4261104" y="1426464"/>
            <a:ext cx="3730752" cy="347472"/>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100" b="1">
                <a:solidFill>
                  <a:srgbClr val="FFFFFF"/>
                </a:solidFill>
              </a:rPr>
              <a:t>Production Auth / RBAC</a:t>
            </a:r>
          </a:p>
        </p:txBody>
      </p:sp>
      <p:sp>
        <p:nvSpPr>
          <p:cNvPr id="12" name="Rectangle 11"/>
          <p:cNvSpPr/>
          <p:nvPr/>
        </p:nvSpPr>
        <p:spPr>
          <a:xfrm>
            <a:off x="4261104" y="1792224"/>
            <a:ext cx="3730752" cy="1481328"/>
          </a:xfrm>
          <a:prstGeom prst="rect">
            <a:avLst/>
          </a:prstGeom>
          <a:solidFill>
            <a:srgbClr val="FFF7E6"/>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Session-based auth with three roles: Screening Analyst, Compliance Officer (override + mandatory rationale), MLRO (read-only dashboard + export). No shared demo identity in production. 1–2 weeks engineering.</a:t>
            </a:r>
          </a:p>
        </p:txBody>
      </p:sp>
      <p:sp>
        <p:nvSpPr>
          <p:cNvPr id="13" name="Rectangle 12"/>
          <p:cNvSpPr/>
          <p:nvPr/>
        </p:nvSpPr>
        <p:spPr>
          <a:xfrm>
            <a:off x="274320" y="1024128"/>
            <a:ext cx="64008" cy="1719072"/>
          </a:xfrm>
          <a:prstGeom prst="rect">
            <a:avLst/>
          </a:prstGeom>
          <a:solidFill>
            <a:srgbClr val="B45B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47888" y="1024128"/>
            <a:ext cx="3730752" cy="38404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000" b="1">
                <a:solidFill>
                  <a:srgbClr val="6D28D9"/>
                </a:solidFill>
              </a:rPr>
              <a:t>BLOCKER 3</a:t>
            </a:r>
          </a:p>
        </p:txBody>
      </p:sp>
      <p:sp>
        <p:nvSpPr>
          <p:cNvPr id="15" name="Rectangle 14"/>
          <p:cNvSpPr/>
          <p:nvPr/>
        </p:nvSpPr>
        <p:spPr>
          <a:xfrm>
            <a:off x="8247888" y="1426464"/>
            <a:ext cx="3730752" cy="347472"/>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1100" b="1">
                <a:solidFill>
                  <a:srgbClr val="FFFFFF"/>
                </a:solidFill>
              </a:rPr>
              <a:t>Production Web Server</a:t>
            </a:r>
          </a:p>
        </p:txBody>
      </p:sp>
      <p:sp>
        <p:nvSpPr>
          <p:cNvPr id="16" name="Rectangle 15"/>
          <p:cNvSpPr/>
          <p:nvPr/>
        </p:nvSpPr>
        <p:spPr>
          <a:xfrm>
            <a:off x="8247888" y="1792224"/>
            <a:ext cx="3730752" cy="1481328"/>
          </a:xfrm>
          <a:prstGeom prst="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Replace Flask app.run(debug=True) with Gunicorn + Nginx. HTTPS with valid cert. debug=False. Environment-managed secrets. IP allowlist for production deployments. 1–3 days.</a:t>
            </a:r>
          </a:p>
        </p:txBody>
      </p:sp>
      <p:sp>
        <p:nvSpPr>
          <p:cNvPr id="17" name="Rectangle 16"/>
          <p:cNvSpPr/>
          <p:nvPr/>
        </p:nvSpPr>
        <p:spPr>
          <a:xfrm>
            <a:off x="274320" y="1024128"/>
            <a:ext cx="64008" cy="171907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3401568"/>
            <a:ext cx="11612880" cy="12700"/>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9" name="Table 18"/>
          <p:cNvGraphicFramePr>
            <a:graphicFrameLocks noGrp="1"/>
          </p:cNvGraphicFramePr>
          <p:nvPr/>
        </p:nvGraphicFramePr>
        <p:xfrm>
          <a:off x="274320" y="3547872"/>
          <a:ext cx="11612880" cy="2450592"/>
        </p:xfrm>
        <a:graphic>
          <a:graphicData uri="http://schemas.openxmlformats.org/drawingml/2006/table">
            <a:tbl>
              <a:tblPr firstRow="1" bandRow="1">
                <a:tableStyleId>{5C22544A-7EE6-4342-B048-85BDC9FD1C3A}</a:tableStyleId>
              </a:tblPr>
              <a:tblGrid>
                <a:gridCol w="1325880"/>
                <a:gridCol w="960120"/>
                <a:gridCol w="6812280"/>
                <a:gridCol w="2514600"/>
              </a:tblGrid>
              <a:tr h="350084">
                <a:tc>
                  <a:txBody>
                    <a:bodyPr lIns="73152" rIns="73152"/>
                    <a:lstStyle/>
                    <a:p>
                      <a:pPr algn="l"/>
                      <a:r>
                        <a:rPr sz="950" b="1">
                          <a:solidFill>
                            <a:srgbClr val="FFFFFF"/>
                          </a:solidFill>
                        </a:rPr>
                        <a:t>Priority</a:t>
                      </a:r>
                    </a:p>
                  </a:txBody>
                  <a:tcPr>
                    <a:solidFill>
                      <a:srgbClr val="0F2140"/>
                    </a:solidFill>
                  </a:tcPr>
                </a:tc>
                <a:tc>
                  <a:txBody>
                    <a:bodyPr lIns="73152" rIns="73152"/>
                    <a:lstStyle/>
                    <a:p>
                      <a:pPr algn="l"/>
                      <a:r>
                        <a:rPr sz="950" b="1">
                          <a:solidFill>
                            <a:srgbClr val="FFFFFF"/>
                          </a:solidFill>
                        </a:rPr>
                        <a:t>Risk ID</a:t>
                      </a:r>
                    </a:p>
                  </a:txBody>
                  <a:tcPr>
                    <a:solidFill>
                      <a:srgbClr val="0F2140"/>
                    </a:solidFill>
                  </a:tcPr>
                </a:tc>
                <a:tc>
                  <a:txBody>
                    <a:bodyPr lIns="73152" rIns="73152"/>
                    <a:lstStyle/>
                    <a:p>
                      <a:pPr algn="l"/>
                      <a:r>
                        <a:rPr sz="950" b="1">
                          <a:solidFill>
                            <a:srgbClr val="FFFFFF"/>
                          </a:solidFill>
                        </a:rPr>
                        <a:t>Action</a:t>
                      </a:r>
                    </a:p>
                  </a:txBody>
                  <a:tcPr>
                    <a:solidFill>
                      <a:srgbClr val="0F2140"/>
                    </a:solidFill>
                  </a:tcPr>
                </a:tc>
                <a:tc>
                  <a:txBody>
                    <a:bodyPr lIns="73152" rIns="73152"/>
                    <a:lstStyle/>
                    <a:p>
                      <a:pPr algn="l"/>
                      <a:r>
                        <a:rPr sz="950" b="1">
                          <a:solidFill>
                            <a:srgbClr val="FFFFFF"/>
                          </a:solidFill>
                        </a:rPr>
                        <a:t>Timeline</a:t>
                      </a:r>
                    </a:p>
                  </a:txBody>
                  <a:tcPr>
                    <a:solidFill>
                      <a:srgbClr val="0F2140"/>
                    </a:solidFill>
                  </a:tcPr>
                </a:tc>
              </a:tr>
              <a:tr h="350084">
                <a:tc>
                  <a:txBody>
                    <a:bodyPr lIns="73152" rIns="73152"/>
                    <a:lstStyle/>
                    <a:p>
                      <a:pPr algn="l"/>
                      <a:r>
                        <a:rPr sz="900" b="1">
                          <a:solidFill>
                            <a:srgbClr val="0F2140"/>
                          </a:solidFill>
                        </a:rPr>
                        <a:t>P1 — High</a:t>
                      </a:r>
                    </a:p>
                  </a:txBody>
                  <a:tcPr>
                    <a:solidFill>
                      <a:srgbClr val="F0F7FF"/>
                    </a:solidFill>
                  </a:tcPr>
                </a:tc>
                <a:tc>
                  <a:txBody>
                    <a:bodyPr lIns="73152" rIns="73152"/>
                    <a:lstStyle/>
                    <a:p>
                      <a:pPr algn="l"/>
                      <a:r>
                        <a:rPr sz="900" b="0">
                          <a:solidFill>
                            <a:srgbClr val="1E293B"/>
                          </a:solidFill>
                        </a:rPr>
                        <a:t>R-PROD-2</a:t>
                      </a:r>
                    </a:p>
                  </a:txBody>
                  <a:tcPr>
                    <a:solidFill>
                      <a:srgbClr val="F0F7FF"/>
                    </a:solidFill>
                  </a:tcPr>
                </a:tc>
                <a:tc>
                  <a:txBody>
                    <a:bodyPr lIns="73152" rIns="73152"/>
                    <a:lstStyle/>
                    <a:p>
                      <a:pPr algn="l"/>
                      <a:r>
                        <a:rPr sz="900" b="0">
                          <a:solidFill>
                            <a:srgbClr val="1E293B"/>
                          </a:solidFill>
                        </a:rPr>
                        <a:t>Watchlist freshness monitor + MLRO alert + case-creation block on stale feeds</a:t>
                      </a:r>
                    </a:p>
                  </a:txBody>
                  <a:tcPr>
                    <a:solidFill>
                      <a:srgbClr val="F0F7FF"/>
                    </a:solidFill>
                  </a:tcPr>
                </a:tc>
                <a:tc>
                  <a:txBody>
                    <a:bodyPr lIns="73152" rIns="73152"/>
                    <a:lstStyle/>
                    <a:p>
                      <a:pPr algn="l"/>
                      <a:r>
                        <a:rPr sz="900" b="0">
                          <a:solidFill>
                            <a:srgbClr val="1E293B"/>
                          </a:solidFill>
                        </a:rPr>
                        <a:t>Month 1 post-launch</a:t>
                      </a:r>
                    </a:p>
                  </a:txBody>
                  <a:tcPr>
                    <a:solidFill>
                      <a:srgbClr val="F0F7FF"/>
                    </a:solidFill>
                  </a:tcPr>
                </a:tc>
              </a:tr>
              <a:tr h="350084">
                <a:tc>
                  <a:txBody>
                    <a:bodyPr lIns="73152" rIns="73152"/>
                    <a:lstStyle/>
                    <a:p>
                      <a:pPr algn="l"/>
                      <a:r>
                        <a:rPr sz="900" b="1">
                          <a:solidFill>
                            <a:srgbClr val="0F2140"/>
                          </a:solidFill>
                        </a:rPr>
                        <a:t>P1 — High</a:t>
                      </a:r>
                    </a:p>
                  </a:txBody>
                  <a:tcPr>
                    <a:solidFill>
                      <a:srgbClr val="FFFFFF"/>
                    </a:solidFill>
                  </a:tcPr>
                </a:tc>
                <a:tc>
                  <a:txBody>
                    <a:bodyPr lIns="73152" rIns="73152"/>
                    <a:lstStyle/>
                    <a:p>
                      <a:pPr algn="l"/>
                      <a:r>
                        <a:rPr sz="900" b="0">
                          <a:solidFill>
                            <a:srgbClr val="1E293B"/>
                          </a:solidFill>
                        </a:rPr>
                        <a:t>R-REP-2</a:t>
                      </a:r>
                    </a:p>
                  </a:txBody>
                  <a:tcPr>
                    <a:solidFill>
                      <a:srgbClr val="FFFFFF"/>
                    </a:solidFill>
                  </a:tcPr>
                </a:tc>
                <a:tc>
                  <a:txBody>
                    <a:bodyPr lIns="73152" rIns="73152"/>
                    <a:lstStyle/>
                    <a:p>
                      <a:pPr algn="l"/>
                      <a:r>
                        <a:rPr sz="900" b="0">
                          <a:solidFill>
                            <a:srgbClr val="1E293B"/>
                          </a:solidFill>
                        </a:rPr>
                        <a:t>MSA liability clause (APPROVE = tool recommendation, not regulatory sign-off) + MLRO onboarding</a:t>
                      </a:r>
                    </a:p>
                  </a:txBody>
                  <a:tcPr>
                    <a:solidFill>
                      <a:srgbClr val="FFFFFF"/>
                    </a:solidFill>
                  </a:tcPr>
                </a:tc>
                <a:tc>
                  <a:txBody>
                    <a:bodyPr lIns="73152" rIns="73152"/>
                    <a:lstStyle/>
                    <a:p>
                      <a:pPr algn="l"/>
                      <a:r>
                        <a:rPr sz="900" b="0">
                          <a:solidFill>
                            <a:srgbClr val="1E293B"/>
                          </a:solidFill>
                        </a:rPr>
                        <a:t>Before first pilot agreement</a:t>
                      </a:r>
                    </a:p>
                  </a:txBody>
                  <a:tcPr>
                    <a:solidFill>
                      <a:srgbClr val="FFFFFF"/>
                    </a:solidFill>
                  </a:tcPr>
                </a:tc>
              </a:tr>
              <a:tr h="350084">
                <a:tc>
                  <a:txBody>
                    <a:bodyPr lIns="73152" rIns="73152"/>
                    <a:lstStyle/>
                    <a:p>
                      <a:pPr algn="l"/>
                      <a:r>
                        <a:rPr sz="900" b="1">
                          <a:solidFill>
                            <a:srgbClr val="0F2140"/>
                          </a:solidFill>
                        </a:rPr>
                        <a:t>P1 — High</a:t>
                      </a:r>
                    </a:p>
                  </a:txBody>
                  <a:tcPr>
                    <a:solidFill>
                      <a:srgbClr val="F0F7FF"/>
                    </a:solidFill>
                  </a:tcPr>
                </a:tc>
                <a:tc>
                  <a:txBody>
                    <a:bodyPr lIns="73152" rIns="73152"/>
                    <a:lstStyle/>
                    <a:p>
                      <a:pPr algn="l"/>
                      <a:r>
                        <a:rPr sz="900" b="0">
                          <a:solidFill>
                            <a:srgbClr val="1E293B"/>
                          </a:solidFill>
                        </a:rPr>
                        <a:t>R-COM-2</a:t>
                      </a:r>
                    </a:p>
                  </a:txBody>
                  <a:tcPr>
                    <a:solidFill>
                      <a:srgbClr val="F0F7FF"/>
                    </a:solidFill>
                  </a:tcPr>
                </a:tc>
                <a:tc>
                  <a:txBody>
                    <a:bodyPr lIns="73152" rIns="73152"/>
                    <a:lstStyle/>
                    <a:p>
                      <a:pPr algn="l"/>
                      <a:r>
                        <a:rPr sz="900" b="0">
                          <a:solidFill>
                            <a:srgbClr val="1E293B"/>
                          </a:solidFill>
                        </a:rPr>
                        <a:t>3 simultaneous pilots at all times; no single customer to exceed 30% of ARR</a:t>
                      </a:r>
                    </a:p>
                  </a:txBody>
                  <a:tcPr>
                    <a:solidFill>
                      <a:srgbClr val="F0F7FF"/>
                    </a:solidFill>
                  </a:tcPr>
                </a:tc>
                <a:tc>
                  <a:txBody>
                    <a:bodyPr lIns="73152" rIns="73152"/>
                    <a:lstStyle/>
                    <a:p>
                      <a:pPr algn="l"/>
                      <a:r>
                        <a:rPr sz="900" b="0">
                          <a:solidFill>
                            <a:srgbClr val="1E293B"/>
                          </a:solidFill>
                        </a:rPr>
                        <a:t>Month 1 onwards</a:t>
                      </a:r>
                    </a:p>
                  </a:txBody>
                  <a:tcPr>
                    <a:solidFill>
                      <a:srgbClr val="F0F7FF"/>
                    </a:solidFill>
                  </a:tcPr>
                </a:tc>
              </a:tr>
              <a:tr h="350084">
                <a:tc>
                  <a:txBody>
                    <a:bodyPr lIns="73152" rIns="73152"/>
                    <a:lstStyle/>
                    <a:p>
                      <a:pPr algn="l"/>
                      <a:r>
                        <a:rPr sz="900" b="1">
                          <a:solidFill>
                            <a:srgbClr val="0F2140"/>
                          </a:solidFill>
                        </a:rPr>
                        <a:t>P2 — Medium</a:t>
                      </a:r>
                    </a:p>
                  </a:txBody>
                  <a:tcPr>
                    <a:solidFill>
                      <a:srgbClr val="FFFFFF"/>
                    </a:solidFill>
                  </a:tcPr>
                </a:tc>
                <a:tc>
                  <a:txBody>
                    <a:bodyPr lIns="73152" rIns="73152"/>
                    <a:lstStyle/>
                    <a:p>
                      <a:pPr algn="l"/>
                      <a:r>
                        <a:rPr sz="900" b="0">
                          <a:solidFill>
                            <a:srgbClr val="1E293B"/>
                          </a:solidFill>
                        </a:rPr>
                        <a:t>R-PROD-4</a:t>
                      </a:r>
                    </a:p>
                  </a:txBody>
                  <a:tcPr>
                    <a:solidFill>
                      <a:srgbClr val="FFFFFF"/>
                    </a:solidFill>
                  </a:tcPr>
                </a:tc>
                <a:tc>
                  <a:txBody>
                    <a:bodyPr lIns="73152" rIns="73152"/>
                    <a:lstStyle/>
                    <a:p>
                      <a:pPr algn="l"/>
                      <a:r>
                        <a:rPr sz="900" b="0">
                          <a:solidFill>
                            <a:srgbClr val="1E293B"/>
                          </a:solidFill>
                        </a:rPr>
                        <a:t>Implement Level B Rule 6 (conflicting required-agent findings)</a:t>
                      </a:r>
                    </a:p>
                  </a:txBody>
                  <a:tcPr>
                    <a:solidFill>
                      <a:srgbClr val="FFFFFF"/>
                    </a:solidFill>
                  </a:tcPr>
                </a:tc>
                <a:tc>
                  <a:txBody>
                    <a:bodyPr lIns="73152" rIns="73152"/>
                    <a:lstStyle/>
                    <a:p>
                      <a:pPr algn="l"/>
                      <a:r>
                        <a:rPr sz="900" b="0">
                          <a:solidFill>
                            <a:srgbClr val="1E293B"/>
                          </a:solidFill>
                        </a:rPr>
                        <a:t>Month 3</a:t>
                      </a:r>
                    </a:p>
                  </a:txBody>
                  <a:tcPr>
                    <a:solidFill>
                      <a:srgbClr val="FFFFFF"/>
                    </a:solidFill>
                  </a:tcPr>
                </a:tc>
              </a:tr>
              <a:tr h="350084">
                <a:tc>
                  <a:txBody>
                    <a:bodyPr lIns="73152" rIns="73152"/>
                    <a:lstStyle/>
                    <a:p>
                      <a:pPr algn="l"/>
                      <a:r>
                        <a:rPr sz="900" b="1">
                          <a:solidFill>
                            <a:srgbClr val="0F2140"/>
                          </a:solidFill>
                        </a:rPr>
                        <a:t>P2 — Medium</a:t>
                      </a:r>
                    </a:p>
                  </a:txBody>
                  <a:tcPr>
                    <a:solidFill>
                      <a:srgbClr val="F0F7FF"/>
                    </a:solidFill>
                  </a:tcPr>
                </a:tc>
                <a:tc>
                  <a:txBody>
                    <a:bodyPr lIns="73152" rIns="73152"/>
                    <a:lstStyle/>
                    <a:p>
                      <a:pPr algn="l"/>
                      <a:r>
                        <a:rPr sz="900" b="0">
                          <a:solidFill>
                            <a:srgbClr val="1E293B"/>
                          </a:solidFill>
                        </a:rPr>
                        <a:t>R-REG-2</a:t>
                      </a:r>
                    </a:p>
                  </a:txBody>
                  <a:tcPr>
                    <a:solidFill>
                      <a:srgbClr val="F0F7FF"/>
                    </a:solidFill>
                  </a:tcPr>
                </a:tc>
                <a:tc>
                  <a:txBody>
                    <a:bodyPr lIns="73152" rIns="73152"/>
                    <a:lstStyle/>
                    <a:p>
                      <a:pPr algn="l"/>
                      <a:r>
                        <a:rPr sz="900" b="0">
                          <a:solidFill>
                            <a:srgbClr val="1E293B"/>
                          </a:solidFill>
                        </a:rPr>
                        <a:t>ACAMS India engagement + IBA working group + RBI Regulatory Sandbox application</a:t>
                      </a:r>
                    </a:p>
                  </a:txBody>
                  <a:tcPr>
                    <a:solidFill>
                      <a:srgbClr val="F0F7FF"/>
                    </a:solidFill>
                  </a:tcPr>
                </a:tc>
                <a:tc>
                  <a:txBody>
                    <a:bodyPr lIns="73152" rIns="73152"/>
                    <a:lstStyle/>
                    <a:p>
                      <a:pPr algn="l"/>
                      <a:r>
                        <a:rPr sz="900" b="0">
                          <a:solidFill>
                            <a:srgbClr val="1E293B"/>
                          </a:solidFill>
                        </a:rPr>
                        <a:t>Month 2 onwards</a:t>
                      </a:r>
                    </a:p>
                  </a:txBody>
                  <a:tcPr>
                    <a:solidFill>
                      <a:srgbClr val="F0F7FF"/>
                    </a:solidFill>
                  </a:tcPr>
                </a:tc>
              </a:tr>
              <a:tr h="350088">
                <a:tc>
                  <a:txBody>
                    <a:bodyPr lIns="73152" rIns="73152"/>
                    <a:lstStyle/>
                    <a:p>
                      <a:pPr algn="l"/>
                      <a:r>
                        <a:rPr sz="900" b="1">
                          <a:solidFill>
                            <a:srgbClr val="0F2140"/>
                          </a:solidFill>
                        </a:rPr>
                        <a:t>P2 — Medium</a:t>
                      </a:r>
                    </a:p>
                  </a:txBody>
                  <a:tcPr>
                    <a:solidFill>
                      <a:srgbClr val="FFFFFF"/>
                    </a:solidFill>
                  </a:tcPr>
                </a:tc>
                <a:tc>
                  <a:txBody>
                    <a:bodyPr lIns="73152" rIns="73152"/>
                    <a:lstStyle/>
                    <a:p>
                      <a:pPr algn="l"/>
                      <a:r>
                        <a:rPr sz="900" b="0">
                          <a:solidFill>
                            <a:srgbClr val="1E293B"/>
                          </a:solidFill>
                        </a:rPr>
                        <a:t>R-OPS-1</a:t>
                      </a:r>
                    </a:p>
                  </a:txBody>
                  <a:tcPr>
                    <a:solidFill>
                      <a:srgbClr val="FFFFFF"/>
                    </a:solidFill>
                  </a:tcPr>
                </a:tc>
                <a:tc>
                  <a:txBody>
                    <a:bodyPr lIns="73152" rIns="73152"/>
                    <a:lstStyle/>
                    <a:p>
                      <a:pPr algn="l"/>
                      <a:r>
                        <a:rPr sz="900" b="0">
                          <a:solidFill>
                            <a:srgbClr val="1E293B"/>
                          </a:solidFill>
                        </a:rPr>
                        <a:t>2–3 ex-RBI/FIU-IND advisory board members; compliance configuration guide</a:t>
                      </a:r>
                    </a:p>
                  </a:txBody>
                  <a:tcPr>
                    <a:solidFill>
                      <a:srgbClr val="FFFFFF"/>
                    </a:solidFill>
                  </a:tcPr>
                </a:tc>
                <a:tc>
                  <a:txBody>
                    <a:bodyPr lIns="73152" rIns="73152"/>
                    <a:lstStyle/>
                    <a:p>
                      <a:pPr algn="l"/>
                      <a:r>
                        <a:rPr sz="900" b="0">
                          <a:solidFill>
                            <a:srgbClr val="1E293B"/>
                          </a:solidFill>
                        </a:rPr>
                        <a:t>Month 3–6</a:t>
                      </a:r>
                    </a:p>
                  </a:txBody>
                  <a:tcPr>
                    <a:solidFill>
                      <a:srgbClr val="FFFFFF"/>
                    </a:solidFill>
                  </a:tcPr>
                </a:tc>
              </a:tr>
            </a:tbl>
          </a:graphicData>
        </a:graphic>
      </p:graphicFrame>
      <p:sp>
        <p:nvSpPr>
          <p:cNvPr id="20" name="TextBox 19"/>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12</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Conclusion &amp; 18-Month Roadmap</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From prototype to production — the path to scale</a:t>
            </a:r>
          </a:p>
        </p:txBody>
      </p:sp>
      <p:graphicFrame>
        <p:nvGraphicFramePr>
          <p:cNvPr id="6" name="Table 5"/>
          <p:cNvGraphicFramePr>
            <a:graphicFrameLocks noGrp="1"/>
          </p:cNvGraphicFramePr>
          <p:nvPr/>
        </p:nvGraphicFramePr>
        <p:xfrm>
          <a:off x="274320" y="1051560"/>
          <a:ext cx="11612880" cy="2606040"/>
        </p:xfrm>
        <a:graphic>
          <a:graphicData uri="http://schemas.openxmlformats.org/drawingml/2006/table">
            <a:tbl>
              <a:tblPr firstRow="1" bandRow="1">
                <a:tableStyleId>{5C22544A-7EE6-4342-B048-85BDC9FD1C3A}</a:tableStyleId>
              </a:tblPr>
              <a:tblGrid>
                <a:gridCol w="1691640"/>
                <a:gridCol w="3474720"/>
                <a:gridCol w="3474720"/>
                <a:gridCol w="2971800"/>
              </a:tblGrid>
              <a:tr h="521208">
                <a:tc>
                  <a:txBody>
                    <a:bodyPr lIns="73152" rIns="73152"/>
                    <a:lstStyle/>
                    <a:p>
                      <a:pPr algn="l"/>
                      <a:r>
                        <a:rPr sz="950" b="1">
                          <a:solidFill>
                            <a:srgbClr val="FFFFFF"/>
                          </a:solidFill>
                        </a:rPr>
                        <a:t>Horizon</a:t>
                      </a:r>
                    </a:p>
                  </a:txBody>
                  <a:tcPr>
                    <a:solidFill>
                      <a:srgbClr val="0F2140"/>
                    </a:solidFill>
                  </a:tcPr>
                </a:tc>
                <a:tc>
                  <a:txBody>
                    <a:bodyPr lIns="73152" rIns="73152"/>
                    <a:lstStyle/>
                    <a:p>
                      <a:pPr algn="l"/>
                      <a:r>
                        <a:rPr sz="950" b="1">
                          <a:solidFill>
                            <a:srgbClr val="FFFFFF"/>
                          </a:solidFill>
                        </a:rPr>
                        <a:t>Product</a:t>
                      </a:r>
                    </a:p>
                  </a:txBody>
                  <a:tcPr>
                    <a:solidFill>
                      <a:srgbClr val="0F2140"/>
                    </a:solidFill>
                  </a:tcPr>
                </a:tc>
                <a:tc>
                  <a:txBody>
                    <a:bodyPr lIns="73152" rIns="73152"/>
                    <a:lstStyle/>
                    <a:p>
                      <a:pPr algn="l"/>
                      <a:r>
                        <a:rPr sz="950" b="1">
                          <a:solidFill>
                            <a:srgbClr val="FFFFFF"/>
                          </a:solidFill>
                        </a:rPr>
                        <a:t>GTM</a:t>
                      </a:r>
                    </a:p>
                  </a:txBody>
                  <a:tcPr>
                    <a:solidFill>
                      <a:srgbClr val="0F2140"/>
                    </a:solidFill>
                  </a:tcPr>
                </a:tc>
                <a:tc>
                  <a:txBody>
                    <a:bodyPr lIns="73152" rIns="73152"/>
                    <a:lstStyle/>
                    <a:p>
                      <a:pPr algn="l"/>
                      <a:r>
                        <a:rPr sz="950" b="1">
                          <a:solidFill>
                            <a:srgbClr val="FFFFFF"/>
                          </a:solidFill>
                        </a:rPr>
                        <a:t>Revenue Gate</a:t>
                      </a:r>
                    </a:p>
                  </a:txBody>
                  <a:tcPr>
                    <a:solidFill>
                      <a:srgbClr val="0F2140"/>
                    </a:solidFill>
                  </a:tcPr>
                </a:tc>
              </a:tr>
              <a:tr h="521208">
                <a:tc>
                  <a:txBody>
                    <a:bodyPr lIns="73152" rIns="73152"/>
                    <a:lstStyle/>
                    <a:p>
                      <a:pPr algn="l"/>
                      <a:r>
                        <a:rPr sz="900" b="1">
                          <a:solidFill>
                            <a:srgbClr val="0F2140"/>
                          </a:solidFill>
                        </a:rPr>
                        <a:t>Now → Month 3
Pre-Launch + Pilots</a:t>
                      </a:r>
                    </a:p>
                  </a:txBody>
                  <a:tcPr>
                    <a:solidFill>
                      <a:srgbClr val="F0F7FF"/>
                    </a:solidFill>
                  </a:tcPr>
                </a:tc>
                <a:tc>
                  <a:txBody>
                    <a:bodyPr lIns="73152" rIns="73152"/>
                    <a:lstStyle/>
                    <a:p>
                      <a:pPr algn="l"/>
                      <a:r>
                        <a:rPr sz="900" b="0">
                          <a:solidFill>
                            <a:srgbClr val="1E293B"/>
                          </a:solidFill>
                        </a:rPr>
                        <a:t>Resolve 3 blockers. Live watchlist feeds. Production auth. Secure web server.</a:t>
                      </a:r>
                    </a:p>
                  </a:txBody>
                  <a:tcPr>
                    <a:solidFill>
                      <a:srgbClr val="F0F7FF"/>
                    </a:solidFill>
                  </a:tcPr>
                </a:tc>
                <a:tc>
                  <a:txBody>
                    <a:bodyPr lIns="73152" rIns="73152"/>
                    <a:lstStyle/>
                    <a:p>
                      <a:pPr algn="l"/>
                      <a:r>
                        <a:rPr sz="900" b="0">
                          <a:solidFill>
                            <a:srgbClr val="1E293B"/>
                          </a:solidFill>
                        </a:rPr>
                        <a:t>3 design-partner pilots live. ACAMS India. First partnership intro calls.</a:t>
                      </a:r>
                    </a:p>
                  </a:txBody>
                  <a:tcPr>
                    <a:solidFill>
                      <a:srgbClr val="F0F7FF"/>
                    </a:solidFill>
                  </a:tcPr>
                </a:tc>
                <a:tc>
                  <a:txBody>
                    <a:bodyPr lIns="73152" rIns="73152"/>
                    <a:lstStyle/>
                    <a:p>
                      <a:pPr algn="l"/>
                      <a:r>
                        <a:rPr sz="900" b="0">
                          <a:solidFill>
                            <a:srgbClr val="1E293B"/>
                          </a:solidFill>
                        </a:rPr>
                        <a:t>Rs. 0 — free pilots</a:t>
                      </a:r>
                    </a:p>
                  </a:txBody>
                  <a:tcPr>
                    <a:solidFill>
                      <a:srgbClr val="F0F7FF"/>
                    </a:solidFill>
                  </a:tcPr>
                </a:tc>
              </a:tr>
              <a:tr h="521208">
                <a:tc>
                  <a:txBody>
                    <a:bodyPr lIns="73152" rIns="73152"/>
                    <a:lstStyle/>
                    <a:p>
                      <a:pPr algn="l"/>
                      <a:r>
                        <a:rPr sz="900" b="1">
                          <a:solidFill>
                            <a:srgbClr val="0F2140"/>
                          </a:solidFill>
                        </a:rPr>
                        <a:t>Month 3–6
First Revenue</a:t>
                      </a:r>
                    </a:p>
                  </a:txBody>
                  <a:tcPr>
                    <a:solidFill>
                      <a:srgbClr val="FFFFFF"/>
                    </a:solidFill>
                  </a:tcPr>
                </a:tc>
                <a:tc>
                  <a:txBody>
                    <a:bodyPr lIns="73152" rIns="73152"/>
                    <a:lstStyle/>
                    <a:p>
                      <a:pPr algn="l"/>
                      <a:r>
                        <a:rPr sz="900" b="0">
                          <a:solidFill>
                            <a:srgbClr val="1E293B"/>
                          </a:solidFill>
                        </a:rPr>
                        <a:t>Rule 6. Watchlist freshness monitor. OrchestrationPolicy gate. MLRO dashboard v2.</a:t>
                      </a:r>
                    </a:p>
                  </a:txBody>
                  <a:tcPr>
                    <a:solidFill>
                      <a:srgbClr val="FFFFFF"/>
                    </a:solidFill>
                  </a:tcPr>
                </a:tc>
                <a:tc>
                  <a:txBody>
                    <a:bodyPr lIns="73152" rIns="73152"/>
                    <a:lstStyle/>
                    <a:p>
                      <a:pPr algn="l"/>
                      <a:r>
                        <a:rPr sz="900" b="0">
                          <a:solidFill>
                            <a:srgbClr val="1E293B"/>
                          </a:solidFill>
                        </a:rPr>
                        <a:t>2 pilots converted. First case study. Second pilot cohort launched.</a:t>
                      </a:r>
                    </a:p>
                  </a:txBody>
                  <a:tcPr>
                    <a:solidFill>
                      <a:srgbClr val="FFFFFF"/>
                    </a:solidFill>
                  </a:tcPr>
                </a:tc>
                <a:tc>
                  <a:txBody>
                    <a:bodyPr lIns="73152" rIns="73152"/>
                    <a:lstStyle/>
                    <a:p>
                      <a:pPr algn="l"/>
                      <a:r>
                        <a:rPr sz="900" b="0">
                          <a:solidFill>
                            <a:srgbClr val="1E293B"/>
                          </a:solidFill>
                        </a:rPr>
                        <a:t>Rs. 5–10L MRR</a:t>
                      </a:r>
                    </a:p>
                  </a:txBody>
                  <a:tcPr>
                    <a:solidFill>
                      <a:srgbClr val="FFFFFF"/>
                    </a:solidFill>
                  </a:tcPr>
                </a:tc>
              </a:tr>
              <a:tr h="521208">
                <a:tc>
                  <a:txBody>
                    <a:bodyPr lIns="73152" rIns="73152"/>
                    <a:lstStyle/>
                    <a:p>
                      <a:pPr algn="l"/>
                      <a:r>
                        <a:rPr sz="900" b="1">
                          <a:solidFill>
                            <a:srgbClr val="0F2140"/>
                          </a:solidFill>
                        </a:rPr>
                        <a:t>Month 6–12
Scale</a:t>
                      </a:r>
                    </a:p>
                  </a:txBody>
                  <a:tcPr>
                    <a:solidFill>
                      <a:srgbClr val="F0F7FF"/>
                    </a:solidFill>
                  </a:tcPr>
                </a:tc>
                <a:tc>
                  <a:txBody>
                    <a:bodyPr lIns="73152" rIns="73152"/>
                    <a:lstStyle/>
                    <a:p>
                      <a:pPr algn="l"/>
                      <a:r>
                        <a:rPr sz="900" b="0">
                          <a:solidFill>
                            <a:srgbClr val="1E293B"/>
                          </a:solidFill>
                        </a:rPr>
                        <a:t>Transaction velocity engine. FEMA reporting workflow. IEC verification. Production PostgreSQL.</a:t>
                      </a:r>
                    </a:p>
                  </a:txBody>
                  <a:tcPr>
                    <a:solidFill>
                      <a:srgbClr val="F0F7FF"/>
                    </a:solidFill>
                  </a:tcPr>
                </a:tc>
                <a:tc>
                  <a:txBody>
                    <a:bodyPr lIns="73152" rIns="73152"/>
                    <a:lstStyle/>
                    <a:p>
                      <a:pPr algn="l"/>
                      <a:r>
                        <a:rPr sz="900" b="0">
                          <a:solidFill>
                            <a:srgbClr val="1E293B"/>
                          </a:solidFill>
                        </a:rPr>
                        <a:t>8–12 customers. Partner channel 15%+. RBI sandbox application filed.</a:t>
                      </a:r>
                    </a:p>
                  </a:txBody>
                  <a:tcPr>
                    <a:solidFill>
                      <a:srgbClr val="F0F7FF"/>
                    </a:solidFill>
                  </a:tcPr>
                </a:tc>
                <a:tc>
                  <a:txBody>
                    <a:bodyPr lIns="73152" rIns="73152"/>
                    <a:lstStyle/>
                    <a:p>
                      <a:pPr algn="l"/>
                      <a:r>
                        <a:rPr sz="900" b="0">
                          <a:solidFill>
                            <a:srgbClr val="1E293B"/>
                          </a:solidFill>
                        </a:rPr>
                        <a:t>Rs. 15–20L ARR</a:t>
                      </a:r>
                    </a:p>
                  </a:txBody>
                  <a:tcPr>
                    <a:solidFill>
                      <a:srgbClr val="F0F7FF"/>
                    </a:solidFill>
                  </a:tcPr>
                </a:tc>
              </a:tr>
              <a:tr h="521208">
                <a:tc>
                  <a:txBody>
                    <a:bodyPr lIns="73152" rIns="73152"/>
                    <a:lstStyle/>
                    <a:p>
                      <a:pPr algn="l"/>
                      <a:r>
                        <a:rPr sz="900" b="1">
                          <a:solidFill>
                            <a:srgbClr val="0F2140"/>
                          </a:solidFill>
                        </a:rPr>
                        <a:t>Month 12–18
Phase 2 Segment</a:t>
                      </a:r>
                    </a:p>
                  </a:txBody>
                  <a:tcPr>
                    <a:solidFill>
                      <a:srgbClr val="FFFFFF"/>
                    </a:solidFill>
                  </a:tcPr>
                </a:tc>
                <a:tc>
                  <a:txBody>
                    <a:bodyPr lIns="73152" rIns="73152"/>
                    <a:lstStyle/>
                    <a:p>
                      <a:pPr algn="l"/>
                      <a:r>
                        <a:rPr sz="900" b="0">
                          <a:solidFill>
                            <a:srgbClr val="1E293B"/>
                          </a:solidFill>
                        </a:rPr>
                        <a:t>Multi-corridor reg intel. SSO enterprise tier. Trade Document OCR extraction.</a:t>
                      </a:r>
                    </a:p>
                  </a:txBody>
                  <a:tcPr>
                    <a:solidFill>
                      <a:srgbClr val="FFFFFF"/>
                    </a:solidFill>
                  </a:tcPr>
                </a:tc>
                <a:tc>
                  <a:txBody>
                    <a:bodyPr lIns="73152" rIns="73152"/>
                    <a:lstStyle/>
                    <a:p>
                      <a:pPr algn="l"/>
                      <a:r>
                        <a:rPr sz="900" b="0">
                          <a:solidFill>
                            <a:srgbClr val="1E293B"/>
                          </a:solidFill>
                        </a:rPr>
                        <a:t>First bank-adjacent customer. NBFC segment entered. Series A timing evaluation.</a:t>
                      </a:r>
                    </a:p>
                  </a:txBody>
                  <a:tcPr>
                    <a:solidFill>
                      <a:srgbClr val="FFFFFF"/>
                    </a:solidFill>
                  </a:tcPr>
                </a:tc>
                <a:tc>
                  <a:txBody>
                    <a:bodyPr lIns="73152" rIns="73152"/>
                    <a:lstStyle/>
                    <a:p>
                      <a:pPr algn="l"/>
                      <a:r>
                        <a:rPr sz="900" b="0">
                          <a:solidFill>
                            <a:srgbClr val="1E293B"/>
                          </a:solidFill>
                        </a:rPr>
                        <a:t>Rs. 1–2Cr ARR</a:t>
                      </a:r>
                    </a:p>
                  </a:txBody>
                  <a:tcPr>
                    <a:solidFill>
                      <a:srgbClr val="FFFFFF"/>
                    </a:solidFill>
                  </a:tcPr>
                </a:tc>
              </a:tr>
            </a:tbl>
          </a:graphicData>
        </a:graphic>
      </p:graphicFrame>
      <p:sp>
        <p:nvSpPr>
          <p:cNvPr id="7" name="TextBox 6"/>
          <p:cNvSpPr txBox="1"/>
          <p:nvPr/>
        </p:nvSpPr>
        <p:spPr>
          <a:xfrm>
            <a:off x="274320" y="3822191"/>
            <a:ext cx="11612880" cy="256032"/>
          </a:xfrm>
          <a:prstGeom prst="rect">
            <a:avLst/>
          </a:prstGeom>
          <a:noFill/>
        </p:spPr>
        <p:txBody>
          <a:bodyPr wrap="square">
            <a:spAutoFit/>
          </a:bodyPr>
          <a:lstStyle/>
          <a:p>
            <a:pPr algn="l"/>
            <a:r>
              <a:rPr sz="900" b="1">
                <a:solidFill>
                  <a:srgbClr val="00A890"/>
                </a:solidFill>
              </a:rPr>
              <a:t>WHAT WAS ACTUALLY BUILT</a:t>
            </a:r>
          </a:p>
        </p:txBody>
      </p:sp>
      <p:sp>
        <p:nvSpPr>
          <p:cNvPr id="8" name="Rectangle 7"/>
          <p:cNvSpPr/>
          <p:nvPr/>
        </p:nvSpPr>
        <p:spPr>
          <a:xfrm>
            <a:off x="274320" y="4096512"/>
            <a:ext cx="11612880" cy="12700"/>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4224528"/>
            <a:ext cx="2240280" cy="47548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4224528"/>
            <a:ext cx="45720" cy="475488"/>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4315968"/>
            <a:ext cx="2103120" cy="292608"/>
          </a:xfrm>
          <a:prstGeom prst="rect">
            <a:avLst/>
          </a:prstGeom>
          <a:noFill/>
        </p:spPr>
        <p:txBody>
          <a:bodyPr wrap="square">
            <a:spAutoFit/>
          </a:bodyPr>
          <a:lstStyle/>
          <a:p>
            <a:pPr algn="l"/>
            <a:r>
              <a:rPr sz="950" b="1">
                <a:solidFill>
                  <a:srgbClr val="00A890"/>
                </a:solidFill>
              </a:rPr>
              <a:t>✓  Flask + SQLite Application</a:t>
            </a:r>
          </a:p>
        </p:txBody>
      </p:sp>
      <p:sp>
        <p:nvSpPr>
          <p:cNvPr id="12" name="Rectangle 11"/>
          <p:cNvSpPr/>
          <p:nvPr/>
        </p:nvSpPr>
        <p:spPr>
          <a:xfrm>
            <a:off x="2606039" y="4224528"/>
            <a:ext cx="2240280" cy="47548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6039" y="4224528"/>
            <a:ext cx="45720" cy="475488"/>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15768" y="4315968"/>
            <a:ext cx="2103120" cy="292608"/>
          </a:xfrm>
          <a:prstGeom prst="rect">
            <a:avLst/>
          </a:prstGeom>
          <a:noFill/>
        </p:spPr>
        <p:txBody>
          <a:bodyPr wrap="square">
            <a:spAutoFit/>
          </a:bodyPr>
          <a:lstStyle/>
          <a:p>
            <a:pPr algn="l"/>
            <a:r>
              <a:rPr sz="950" b="1">
                <a:solidFill>
                  <a:srgbClr val="00A890"/>
                </a:solidFill>
              </a:rPr>
              <a:t>✓  5 Specialist AI Agents</a:t>
            </a:r>
          </a:p>
        </p:txBody>
      </p:sp>
      <p:sp>
        <p:nvSpPr>
          <p:cNvPr id="15" name="Rectangle 14"/>
          <p:cNvSpPr/>
          <p:nvPr/>
        </p:nvSpPr>
        <p:spPr>
          <a:xfrm>
            <a:off x="4937759" y="4224528"/>
            <a:ext cx="2240280" cy="47548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37759" y="4224528"/>
            <a:ext cx="45720" cy="475488"/>
          </a:xfrm>
          <a:prstGeom prst="rect">
            <a:avLst/>
          </a:prstGeom>
          <a:solidFill>
            <a:srgbClr val="05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7488" y="4315968"/>
            <a:ext cx="2103120" cy="292608"/>
          </a:xfrm>
          <a:prstGeom prst="rect">
            <a:avLst/>
          </a:prstGeom>
          <a:noFill/>
        </p:spPr>
        <p:txBody>
          <a:bodyPr wrap="square">
            <a:spAutoFit/>
          </a:bodyPr>
          <a:lstStyle/>
          <a:p>
            <a:pPr algn="l"/>
            <a:r>
              <a:rPr sz="950" b="1">
                <a:solidFill>
                  <a:srgbClr val="058C69"/>
                </a:solidFill>
              </a:rPr>
              <a:t>✓  Level A Weighted Scoring</a:t>
            </a:r>
          </a:p>
        </p:txBody>
      </p:sp>
      <p:sp>
        <p:nvSpPr>
          <p:cNvPr id="18" name="Rectangle 17"/>
          <p:cNvSpPr/>
          <p:nvPr/>
        </p:nvSpPr>
        <p:spPr>
          <a:xfrm>
            <a:off x="7269479" y="4224528"/>
            <a:ext cx="2240280" cy="47548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9479" y="4224528"/>
            <a:ext cx="45720" cy="475488"/>
          </a:xfrm>
          <a:prstGeom prst="rect">
            <a:avLst/>
          </a:prstGeom>
          <a:solidFill>
            <a:srgbClr val="05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79207" y="4315968"/>
            <a:ext cx="2103120" cy="292608"/>
          </a:xfrm>
          <a:prstGeom prst="rect">
            <a:avLst/>
          </a:prstGeom>
          <a:noFill/>
        </p:spPr>
        <p:txBody>
          <a:bodyPr wrap="square">
            <a:spAutoFit/>
          </a:bodyPr>
          <a:lstStyle/>
          <a:p>
            <a:pPr algn="l"/>
            <a:r>
              <a:rPr sz="950" b="1">
                <a:solidFill>
                  <a:srgbClr val="058C69"/>
                </a:solidFill>
              </a:rPr>
              <a:t>✓  Level B Hard-Stop Rules</a:t>
            </a:r>
          </a:p>
        </p:txBody>
      </p:sp>
      <p:sp>
        <p:nvSpPr>
          <p:cNvPr id="21" name="Rectangle 20"/>
          <p:cNvSpPr/>
          <p:nvPr/>
        </p:nvSpPr>
        <p:spPr>
          <a:xfrm>
            <a:off x="9601200" y="4224528"/>
            <a:ext cx="2240280" cy="47548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01200" y="4224528"/>
            <a:ext cx="45720" cy="475488"/>
          </a:xfrm>
          <a:prstGeom prst="rect">
            <a:avLst/>
          </a:prstGeom>
          <a:solidFill>
            <a:srgbClr val="05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10928" y="4315968"/>
            <a:ext cx="2103120" cy="292608"/>
          </a:xfrm>
          <a:prstGeom prst="rect">
            <a:avLst/>
          </a:prstGeom>
          <a:noFill/>
        </p:spPr>
        <p:txBody>
          <a:bodyPr wrap="square">
            <a:spAutoFit/>
          </a:bodyPr>
          <a:lstStyle/>
          <a:p>
            <a:pPr algn="l"/>
            <a:r>
              <a:rPr sz="950" b="1">
                <a:solidFill>
                  <a:srgbClr val="058C69"/>
                </a:solidFill>
              </a:rPr>
              <a:t>✓  Required-Agent Safety Floor</a:t>
            </a:r>
          </a:p>
        </p:txBody>
      </p:sp>
      <p:sp>
        <p:nvSpPr>
          <p:cNvPr id="24" name="Rectangle 23"/>
          <p:cNvSpPr/>
          <p:nvPr/>
        </p:nvSpPr>
        <p:spPr>
          <a:xfrm>
            <a:off x="274320" y="4818888"/>
            <a:ext cx="2240280" cy="47548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4818888"/>
            <a:ext cx="45720" cy="475488"/>
          </a:xfrm>
          <a:prstGeom prst="rect">
            <a:avLst/>
          </a:prstGeom>
          <a:solidFill>
            <a:srgbClr val="B45B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 y="4910328"/>
            <a:ext cx="2103120" cy="292608"/>
          </a:xfrm>
          <a:prstGeom prst="rect">
            <a:avLst/>
          </a:prstGeom>
          <a:noFill/>
        </p:spPr>
        <p:txBody>
          <a:bodyPr wrap="square">
            <a:spAutoFit/>
          </a:bodyPr>
          <a:lstStyle/>
          <a:p>
            <a:pPr algn="l"/>
            <a:r>
              <a:rPr sz="950" b="1">
                <a:solidFill>
                  <a:srgbClr val="B45B09"/>
                </a:solidFill>
              </a:rPr>
              <a:t>✓  Human-in-the-Loop Layer</a:t>
            </a:r>
          </a:p>
        </p:txBody>
      </p:sp>
      <p:sp>
        <p:nvSpPr>
          <p:cNvPr id="27" name="Rectangle 26"/>
          <p:cNvSpPr/>
          <p:nvPr/>
        </p:nvSpPr>
        <p:spPr>
          <a:xfrm>
            <a:off x="2606039" y="4818888"/>
            <a:ext cx="2240280" cy="47548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606039" y="4818888"/>
            <a:ext cx="45720" cy="475488"/>
          </a:xfrm>
          <a:prstGeom prst="rect">
            <a:avLst/>
          </a:prstGeom>
          <a:solidFill>
            <a:srgbClr val="B45B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15768" y="4910328"/>
            <a:ext cx="2103120" cy="292608"/>
          </a:xfrm>
          <a:prstGeom prst="rect">
            <a:avLst/>
          </a:prstGeom>
          <a:noFill/>
        </p:spPr>
        <p:txBody>
          <a:bodyPr wrap="square">
            <a:spAutoFit/>
          </a:bodyPr>
          <a:lstStyle/>
          <a:p>
            <a:pPr algn="l"/>
            <a:r>
              <a:rPr sz="950" b="1">
                <a:solidFill>
                  <a:srgbClr val="B45B09"/>
                </a:solidFill>
              </a:rPr>
              <a:t>✓  Append-Only Audit Trail</a:t>
            </a:r>
          </a:p>
        </p:txBody>
      </p:sp>
      <p:sp>
        <p:nvSpPr>
          <p:cNvPr id="30" name="Rectangle 29"/>
          <p:cNvSpPr/>
          <p:nvPr/>
        </p:nvSpPr>
        <p:spPr>
          <a:xfrm>
            <a:off x="4937759" y="4818888"/>
            <a:ext cx="2240280" cy="47548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937759" y="4818888"/>
            <a:ext cx="45720" cy="47548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4910328"/>
            <a:ext cx="2103120" cy="292608"/>
          </a:xfrm>
          <a:prstGeom prst="rect">
            <a:avLst/>
          </a:prstGeom>
          <a:noFill/>
        </p:spPr>
        <p:txBody>
          <a:bodyPr wrap="square">
            <a:spAutoFit/>
          </a:bodyPr>
          <a:lstStyle/>
          <a:p>
            <a:pPr algn="l"/>
            <a:r>
              <a:rPr sz="950" b="1">
                <a:solidFill>
                  <a:srgbClr val="6D28D9"/>
                </a:solidFill>
              </a:rPr>
              <a:t>✓  AI Rationale Drafting</a:t>
            </a:r>
          </a:p>
        </p:txBody>
      </p:sp>
      <p:sp>
        <p:nvSpPr>
          <p:cNvPr id="33" name="Rectangle 32"/>
          <p:cNvSpPr/>
          <p:nvPr/>
        </p:nvSpPr>
        <p:spPr>
          <a:xfrm>
            <a:off x="7269479" y="4818888"/>
            <a:ext cx="2240280" cy="47548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269479" y="4818888"/>
            <a:ext cx="45720" cy="475488"/>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79207" y="4910328"/>
            <a:ext cx="2103120" cy="292608"/>
          </a:xfrm>
          <a:prstGeom prst="rect">
            <a:avLst/>
          </a:prstGeom>
          <a:noFill/>
        </p:spPr>
        <p:txBody>
          <a:bodyPr wrap="square">
            <a:spAutoFit/>
          </a:bodyPr>
          <a:lstStyle/>
          <a:p>
            <a:pPr algn="l"/>
            <a:r>
              <a:rPr sz="950" b="1">
                <a:solidFill>
                  <a:srgbClr val="00A890"/>
                </a:solidFill>
              </a:rPr>
              <a:t>✓  155 Automated Tests</a:t>
            </a:r>
          </a:p>
        </p:txBody>
      </p:sp>
      <p:sp>
        <p:nvSpPr>
          <p:cNvPr id="36" name="Rectangle 35"/>
          <p:cNvSpPr/>
          <p:nvPr/>
        </p:nvSpPr>
        <p:spPr>
          <a:xfrm>
            <a:off x="9601200" y="4818888"/>
            <a:ext cx="2240280" cy="47548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01200" y="4818888"/>
            <a:ext cx="45720" cy="475488"/>
          </a:xfrm>
          <a:prstGeom prst="rect">
            <a:avLst/>
          </a:prstGeom>
          <a:solidFill>
            <a:srgbClr val="05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10928" y="4910328"/>
            <a:ext cx="2103120" cy="292608"/>
          </a:xfrm>
          <a:prstGeom prst="rect">
            <a:avLst/>
          </a:prstGeom>
          <a:noFill/>
        </p:spPr>
        <p:txBody>
          <a:bodyPr wrap="square">
            <a:spAutoFit/>
          </a:bodyPr>
          <a:lstStyle/>
          <a:p>
            <a:pPr algn="l"/>
            <a:r>
              <a:rPr sz="950" b="1">
                <a:solidFill>
                  <a:srgbClr val="058C69"/>
                </a:solidFill>
              </a:rPr>
              <a:t>✓  10 Verified Demo Scenarios</a:t>
            </a:r>
          </a:p>
        </p:txBody>
      </p:sp>
      <p:sp>
        <p:nvSpPr>
          <p:cNvPr id="39" name="Rectangle 38"/>
          <p:cNvSpPr/>
          <p:nvPr/>
        </p:nvSpPr>
        <p:spPr>
          <a:xfrm>
            <a:off x="274320" y="5532120"/>
            <a:ext cx="64008" cy="640080"/>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65760" y="5532120"/>
            <a:ext cx="11521440" cy="640080"/>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1100">
                <a:solidFill>
                  <a:srgbClr val="1E293B"/>
                </a:solidFill>
              </a:rPr>
              <a:t>Not a wireframe. Not a proposal. A working compliance copilot — with working software, a decision audit trail, 155 tests, and a documented path from prototype to production.</a:t>
            </a:r>
          </a:p>
        </p:txBody>
      </p:sp>
      <p:sp>
        <p:nvSpPr>
          <p:cNvPr id="41" name="TextBox 40"/>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12</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Five Principles That Must Not Change</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Non-negotiables — regardless of customer request or investor pressure</a:t>
            </a:r>
          </a:p>
        </p:txBody>
      </p:sp>
      <p:sp>
        <p:nvSpPr>
          <p:cNvPr id="6" name="Rectangle 5"/>
          <p:cNvSpPr/>
          <p:nvPr/>
        </p:nvSpPr>
        <p:spPr>
          <a:xfrm>
            <a:off x="274320" y="1024128"/>
            <a:ext cx="502920" cy="248716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800" b="1">
                <a:solidFill>
                  <a:srgbClr val="00A890"/>
                </a:solidFill>
              </a:rPr>
              <a:t>1</a:t>
            </a:r>
          </a:p>
        </p:txBody>
      </p:sp>
      <p:sp>
        <p:nvSpPr>
          <p:cNvPr id="7" name="Rectangle 6"/>
          <p:cNvSpPr/>
          <p:nvPr/>
        </p:nvSpPr>
        <p:spPr>
          <a:xfrm>
            <a:off x="795527" y="1024128"/>
            <a:ext cx="3337560" cy="24871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r>
              <a:rPr sz="1050" b="1">
                <a:solidFill>
                  <a:srgbClr val="0F2140"/>
                </a:solidFill>
              </a:rPr>
              <a:t>Human-in-the-loop is unconditional</a:t>
            </a:r>
          </a:p>
          <a:p>
            <a:pPr>
              <a:spcBef>
                <a:spcPts val="300"/>
              </a:spcBef>
            </a:pPr>
            <a:r>
              <a:rPr sz="900">
                <a:solidFill>
                  <a:srgbClr val="1E293B"/>
                </a:solidFill>
              </a:rPr>
              <a:t>No API route auto-approves a case. The approve button must be pressed by a named analyst. Removing this converts ScreenDesk from a copilot into an autonomous decision-maker. The regulatory liability shift would be catastrophic.</a:t>
            </a:r>
          </a:p>
        </p:txBody>
      </p:sp>
      <p:sp>
        <p:nvSpPr>
          <p:cNvPr id="8" name="Rectangle 7"/>
          <p:cNvSpPr/>
          <p:nvPr/>
        </p:nvSpPr>
        <p:spPr>
          <a:xfrm>
            <a:off x="4261104" y="1024128"/>
            <a:ext cx="502920" cy="248716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800" b="1">
                <a:solidFill>
                  <a:srgbClr val="B45B09"/>
                </a:solidFill>
              </a:rPr>
              <a:t>2</a:t>
            </a:r>
          </a:p>
        </p:txBody>
      </p:sp>
      <p:sp>
        <p:nvSpPr>
          <p:cNvPr id="9" name="Rectangle 8"/>
          <p:cNvSpPr/>
          <p:nvPr/>
        </p:nvSpPr>
        <p:spPr>
          <a:xfrm>
            <a:off x="4782312" y="1024128"/>
            <a:ext cx="3337560" cy="24871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r>
              <a:rPr sz="1050" b="1">
                <a:solidFill>
                  <a:srgbClr val="0F2140"/>
                </a:solidFill>
              </a:rPr>
              <a:t>The LLM never produces a risk score</a:t>
            </a:r>
          </a:p>
          <a:p>
            <a:pPr>
              <a:spcBef>
                <a:spcPts val="300"/>
              </a:spcBef>
            </a:pPr>
            <a:r>
              <a:rPr sz="900">
                <a:solidFill>
                  <a:srgbClr val="1E293B"/>
                </a:solidFill>
              </a:rPr>
              <a:t>Claude drafts rationale prose. All risk scores come from the deterministic agent engine. An LLM-generated score cannot be audited, explained to a regulator, or traced to a named rule. Applies to every model and every future integration.</a:t>
            </a:r>
          </a:p>
        </p:txBody>
      </p:sp>
      <p:sp>
        <p:nvSpPr>
          <p:cNvPr id="10" name="Rectangle 9"/>
          <p:cNvSpPr/>
          <p:nvPr/>
        </p:nvSpPr>
        <p:spPr>
          <a:xfrm>
            <a:off x="8247888" y="1024128"/>
            <a:ext cx="502920" cy="248716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800" b="1">
                <a:solidFill>
                  <a:srgbClr val="DC2626"/>
                </a:solidFill>
              </a:rPr>
              <a:t>3</a:t>
            </a:r>
          </a:p>
        </p:txBody>
      </p:sp>
      <p:sp>
        <p:nvSpPr>
          <p:cNvPr id="11" name="Rectangle 10"/>
          <p:cNvSpPr/>
          <p:nvPr/>
        </p:nvSpPr>
        <p:spPr>
          <a:xfrm>
            <a:off x="8769096" y="1024128"/>
            <a:ext cx="3337560" cy="24871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r>
              <a:rPr sz="1050" b="1">
                <a:solidFill>
                  <a:srgbClr val="0F2140"/>
                </a:solidFill>
              </a:rPr>
              <a:t>Hard-stop rules always win</a:t>
            </a:r>
          </a:p>
          <a:p>
            <a:pPr>
              <a:spcBef>
                <a:spcPts val="300"/>
              </a:spcBef>
            </a:pPr>
            <a:r>
              <a:rPr sz="900">
                <a:solidFill>
                  <a:srgbClr val="1E293B"/>
                </a:solidFill>
              </a:rPr>
              <a:t>Level B evaluates hard-stop rules after Level A. A Sanctions FAIL forces ESCALATE regardless of a perfect weighted average from other agents. No configuration change or customer request justifies removing this guarantee.</a:t>
            </a:r>
          </a:p>
        </p:txBody>
      </p:sp>
      <p:sp>
        <p:nvSpPr>
          <p:cNvPr id="12" name="Rectangle 11"/>
          <p:cNvSpPr/>
          <p:nvPr/>
        </p:nvSpPr>
        <p:spPr>
          <a:xfrm>
            <a:off x="2386584" y="3703320"/>
            <a:ext cx="502920" cy="248716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800" b="1">
                <a:solidFill>
                  <a:srgbClr val="0F2140"/>
                </a:solidFill>
              </a:rPr>
              <a:t>4</a:t>
            </a:r>
          </a:p>
        </p:txBody>
      </p:sp>
      <p:sp>
        <p:nvSpPr>
          <p:cNvPr id="13" name="Rectangle 12"/>
          <p:cNvSpPr/>
          <p:nvPr/>
        </p:nvSpPr>
        <p:spPr>
          <a:xfrm>
            <a:off x="2907791" y="3703320"/>
            <a:ext cx="3337560" cy="24871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r>
              <a:rPr sz="1050" b="1">
                <a:solidFill>
                  <a:srgbClr val="0F2140"/>
                </a:solidFill>
              </a:rPr>
              <a:t>The audit trail is append-only</a:t>
            </a:r>
          </a:p>
          <a:p>
            <a:pPr>
              <a:spcBef>
                <a:spcPts val="300"/>
              </a:spcBef>
            </a:pPr>
            <a:r>
              <a:rPr sz="900">
                <a:solidFill>
                  <a:srgbClr val="1E293B"/>
                </a:solidFill>
              </a:rPr>
              <a:t>audit_log() writes INSERT only. No UPDATE or DELETE on compliance events, ever. The audit trail is the primary value proposition to the MLRO and the regulator. Mutability destroys the product's core promise.</a:t>
            </a:r>
          </a:p>
        </p:txBody>
      </p:sp>
      <p:sp>
        <p:nvSpPr>
          <p:cNvPr id="14" name="Rectangle 13"/>
          <p:cNvSpPr/>
          <p:nvPr/>
        </p:nvSpPr>
        <p:spPr>
          <a:xfrm>
            <a:off x="6373368" y="3703320"/>
            <a:ext cx="502920" cy="248716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800" b="1">
                <a:solidFill>
                  <a:srgbClr val="6D28D9"/>
                </a:solidFill>
              </a:rPr>
              <a:t>5</a:t>
            </a:r>
          </a:p>
        </p:txBody>
      </p:sp>
      <p:sp>
        <p:nvSpPr>
          <p:cNvPr id="15" name="Rectangle 14"/>
          <p:cNvSpPr/>
          <p:nvPr/>
        </p:nvSpPr>
        <p:spPr>
          <a:xfrm>
            <a:off x="6894576" y="3703320"/>
            <a:ext cx="3337560" cy="248716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73152"/>
          <a:lstStyle/>
          <a:p>
            <a:pPr algn="ctr"/>
            <a:r>
              <a:rPr sz="1050" b="1">
                <a:solidFill>
                  <a:srgbClr val="0F2140"/>
                </a:solidFill>
              </a:rPr>
              <a:t>Synthetic data is always disclosed</a:t>
            </a:r>
          </a:p>
          <a:p>
            <a:pPr>
              <a:spcBef>
                <a:spcPts val="300"/>
              </a:spcBef>
            </a:pPr>
            <a:r>
              <a:rPr sz="900">
                <a:solidFill>
                  <a:srgbClr val="1E293B"/>
                </a:solidFill>
              </a:rPr>
              <a:t>Every watchlist entry in the demo environment is labelled synthetic. No marketing material implies live regulatory coverage until live feeds are integrated and independently verified.</a:t>
            </a:r>
          </a:p>
        </p:txBody>
      </p:sp>
      <p:sp>
        <p:nvSpPr>
          <p:cNvPr id="16" name="TextBox 15"/>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APPENDIX</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AI Compliance Pipeline</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Six-stage journey from transaction to decision</a:t>
            </a:r>
          </a:p>
        </p:txBody>
      </p:sp>
      <p:sp>
        <p:nvSpPr>
          <p:cNvPr id="6" name="Rectangle 5"/>
          <p:cNvSpPr/>
          <p:nvPr/>
        </p:nvSpPr>
        <p:spPr>
          <a:xfrm>
            <a:off x="274320" y="1051560"/>
            <a:ext cx="1920240" cy="73152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000" b="1">
                <a:solidFill>
                  <a:srgbClr val="00A890"/>
                </a:solidFill>
              </a:rPr>
              <a:t>1
INGEST</a:t>
            </a:r>
          </a:p>
        </p:txBody>
      </p:sp>
      <p:sp>
        <p:nvSpPr>
          <p:cNvPr id="7" name="TextBox 6"/>
          <p:cNvSpPr txBox="1"/>
          <p:nvPr/>
        </p:nvSpPr>
        <p:spPr>
          <a:xfrm>
            <a:off x="2212848" y="1325880"/>
            <a:ext cx="91440" cy="228600"/>
          </a:xfrm>
          <a:prstGeom prst="rect">
            <a:avLst/>
          </a:prstGeom>
          <a:noFill/>
        </p:spPr>
        <p:txBody>
          <a:bodyPr wrap="square">
            <a:spAutoFit/>
          </a:bodyPr>
          <a:lstStyle/>
          <a:p>
            <a:pPr algn="ctr"/>
            <a:r>
              <a:rPr sz="1400" b="1">
                <a:solidFill>
                  <a:srgbClr val="00A890"/>
                </a:solidFill>
              </a:rPr>
              <a:t>▶</a:t>
            </a:r>
          </a:p>
        </p:txBody>
      </p:sp>
      <p:sp>
        <p:nvSpPr>
          <p:cNvPr id="8" name="Rectangle 7"/>
          <p:cNvSpPr/>
          <p:nvPr/>
        </p:nvSpPr>
        <p:spPr>
          <a:xfrm>
            <a:off x="274320" y="1828800"/>
            <a:ext cx="1920240" cy="3182112"/>
          </a:xfrm>
          <a:prstGeom prst="rect">
            <a:avLst/>
          </a:prstGeom>
          <a:solidFill>
            <a:srgbClr val="D0F5EE"/>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Transaction / payment arrives
Counterparty name + metadata extracted
Case created in ScreenDesk</a:t>
            </a:r>
          </a:p>
        </p:txBody>
      </p:sp>
      <p:sp>
        <p:nvSpPr>
          <p:cNvPr id="9" name="Rectangle 8"/>
          <p:cNvSpPr/>
          <p:nvPr/>
        </p:nvSpPr>
        <p:spPr>
          <a:xfrm>
            <a:off x="274320" y="1828800"/>
            <a:ext cx="64008" cy="3182112"/>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04288" y="1051560"/>
            <a:ext cx="1920240" cy="73152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000" b="1">
                <a:solidFill>
                  <a:srgbClr val="003D78"/>
                </a:solidFill>
              </a:rPr>
              <a:t>2
EXTRACT
&amp; SCREEN</a:t>
            </a:r>
          </a:p>
        </p:txBody>
      </p:sp>
      <p:sp>
        <p:nvSpPr>
          <p:cNvPr id="11" name="TextBox 10"/>
          <p:cNvSpPr txBox="1"/>
          <p:nvPr/>
        </p:nvSpPr>
        <p:spPr>
          <a:xfrm>
            <a:off x="4242816" y="1325880"/>
            <a:ext cx="91440" cy="228600"/>
          </a:xfrm>
          <a:prstGeom prst="rect">
            <a:avLst/>
          </a:prstGeom>
          <a:noFill/>
        </p:spPr>
        <p:txBody>
          <a:bodyPr wrap="square">
            <a:spAutoFit/>
          </a:bodyPr>
          <a:lstStyle/>
          <a:p>
            <a:pPr algn="ctr"/>
            <a:r>
              <a:rPr sz="1400" b="1">
                <a:solidFill>
                  <a:srgbClr val="00A890"/>
                </a:solidFill>
              </a:rPr>
              <a:t>▶</a:t>
            </a:r>
          </a:p>
        </p:txBody>
      </p:sp>
      <p:sp>
        <p:nvSpPr>
          <p:cNvPr id="12" name="Rectangle 11"/>
          <p:cNvSpPr/>
          <p:nvPr/>
        </p:nvSpPr>
        <p:spPr>
          <a:xfrm>
            <a:off x="2304288" y="1828800"/>
            <a:ext cx="1920240" cy="3182112"/>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Watchlist screen (Sanctions)
KYC data fetch (Customer Risk)
Trade doc parse (Trade Doc)
Tx pattern (TxMon)</a:t>
            </a:r>
          </a:p>
        </p:txBody>
      </p:sp>
      <p:sp>
        <p:nvSpPr>
          <p:cNvPr id="13" name="Rectangle 12"/>
          <p:cNvSpPr/>
          <p:nvPr/>
        </p:nvSpPr>
        <p:spPr>
          <a:xfrm>
            <a:off x="274320" y="1828800"/>
            <a:ext cx="64008" cy="3182112"/>
          </a:xfrm>
          <a:prstGeom prst="rect">
            <a:avLst/>
          </a:prstGeom>
          <a:solidFill>
            <a:srgbClr val="003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34256" y="1051560"/>
            <a:ext cx="1920240" cy="73152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000" b="1">
                <a:solidFill>
                  <a:srgbClr val="B45B09"/>
                </a:solidFill>
              </a:rPr>
              <a:t>3
EVALUATE</a:t>
            </a:r>
          </a:p>
        </p:txBody>
      </p:sp>
      <p:sp>
        <p:nvSpPr>
          <p:cNvPr id="15" name="TextBox 14"/>
          <p:cNvSpPr txBox="1"/>
          <p:nvPr/>
        </p:nvSpPr>
        <p:spPr>
          <a:xfrm>
            <a:off x="6272784" y="1325880"/>
            <a:ext cx="91440" cy="228600"/>
          </a:xfrm>
          <a:prstGeom prst="rect">
            <a:avLst/>
          </a:prstGeom>
          <a:noFill/>
        </p:spPr>
        <p:txBody>
          <a:bodyPr wrap="square">
            <a:spAutoFit/>
          </a:bodyPr>
          <a:lstStyle/>
          <a:p>
            <a:pPr algn="ctr"/>
            <a:r>
              <a:rPr sz="1400" b="1">
                <a:solidFill>
                  <a:srgbClr val="00A890"/>
                </a:solidFill>
              </a:rPr>
              <a:t>▶</a:t>
            </a:r>
          </a:p>
        </p:txBody>
      </p:sp>
      <p:sp>
        <p:nvSpPr>
          <p:cNvPr id="16" name="Rectangle 15"/>
          <p:cNvSpPr/>
          <p:nvPr/>
        </p:nvSpPr>
        <p:spPr>
          <a:xfrm>
            <a:off x="4334256" y="1828800"/>
            <a:ext cx="1920240" cy="3182112"/>
          </a:xfrm>
          <a:prstGeom prst="rect">
            <a:avLst/>
          </a:prstGeom>
          <a:solidFill>
            <a:srgbClr val="FFF7E6"/>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Level A: weighted score computed
Level B: hard-stop rules applied
Required-agent safety floor checked</a:t>
            </a:r>
          </a:p>
        </p:txBody>
      </p:sp>
      <p:sp>
        <p:nvSpPr>
          <p:cNvPr id="17" name="Rectangle 16"/>
          <p:cNvSpPr/>
          <p:nvPr/>
        </p:nvSpPr>
        <p:spPr>
          <a:xfrm>
            <a:off x="274320" y="1828800"/>
            <a:ext cx="64008" cy="3182112"/>
          </a:xfrm>
          <a:prstGeom prst="rect">
            <a:avLst/>
          </a:prstGeom>
          <a:solidFill>
            <a:srgbClr val="B45B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64224" y="1051560"/>
            <a:ext cx="1920240" cy="73152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000" b="1">
                <a:solidFill>
                  <a:srgbClr val="6D28D9"/>
                </a:solidFill>
              </a:rPr>
              <a:t>4
CONSOLIDATE</a:t>
            </a:r>
          </a:p>
        </p:txBody>
      </p:sp>
      <p:sp>
        <p:nvSpPr>
          <p:cNvPr id="19" name="TextBox 18"/>
          <p:cNvSpPr txBox="1"/>
          <p:nvPr/>
        </p:nvSpPr>
        <p:spPr>
          <a:xfrm>
            <a:off x="8302752" y="1325880"/>
            <a:ext cx="91440" cy="228600"/>
          </a:xfrm>
          <a:prstGeom prst="rect">
            <a:avLst/>
          </a:prstGeom>
          <a:noFill/>
        </p:spPr>
        <p:txBody>
          <a:bodyPr wrap="square">
            <a:spAutoFit/>
          </a:bodyPr>
          <a:lstStyle/>
          <a:p>
            <a:pPr algn="ctr"/>
            <a:r>
              <a:rPr sz="1400" b="1">
                <a:solidFill>
                  <a:srgbClr val="00A890"/>
                </a:solidFill>
              </a:rPr>
              <a:t>▶</a:t>
            </a:r>
          </a:p>
        </p:txBody>
      </p:sp>
      <p:sp>
        <p:nvSpPr>
          <p:cNvPr id="20" name="Rectangle 19"/>
          <p:cNvSpPr/>
          <p:nvPr/>
        </p:nvSpPr>
        <p:spPr>
          <a:xfrm>
            <a:off x="6364224" y="1828800"/>
            <a:ext cx="1920240" cy="3182112"/>
          </a:xfrm>
          <a:prstGeom prst="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Recommendation generated
Evidence cards assembled
AI rationale prose drafted
(Claude API — prose only)</a:t>
            </a:r>
          </a:p>
        </p:txBody>
      </p:sp>
      <p:sp>
        <p:nvSpPr>
          <p:cNvPr id="21" name="Rectangle 20"/>
          <p:cNvSpPr/>
          <p:nvPr/>
        </p:nvSpPr>
        <p:spPr>
          <a:xfrm>
            <a:off x="274320" y="1828800"/>
            <a:ext cx="64008" cy="318211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4192" y="1051560"/>
            <a:ext cx="1920240" cy="73152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000" b="1">
                <a:solidFill>
                  <a:srgbClr val="B45B09"/>
                </a:solidFill>
              </a:rPr>
              <a:t>5
HUMAN
REVIEW</a:t>
            </a:r>
          </a:p>
        </p:txBody>
      </p:sp>
      <p:sp>
        <p:nvSpPr>
          <p:cNvPr id="23" name="TextBox 22"/>
          <p:cNvSpPr txBox="1"/>
          <p:nvPr/>
        </p:nvSpPr>
        <p:spPr>
          <a:xfrm>
            <a:off x="10332720" y="1325880"/>
            <a:ext cx="91440" cy="228600"/>
          </a:xfrm>
          <a:prstGeom prst="rect">
            <a:avLst/>
          </a:prstGeom>
          <a:noFill/>
        </p:spPr>
        <p:txBody>
          <a:bodyPr wrap="square">
            <a:spAutoFit/>
          </a:bodyPr>
          <a:lstStyle/>
          <a:p>
            <a:pPr algn="ctr"/>
            <a:r>
              <a:rPr sz="1400" b="1">
                <a:solidFill>
                  <a:srgbClr val="00A890"/>
                </a:solidFill>
              </a:rPr>
              <a:t>▶</a:t>
            </a:r>
          </a:p>
        </p:txBody>
      </p:sp>
      <p:sp>
        <p:nvSpPr>
          <p:cNvPr id="24" name="Rectangle 23"/>
          <p:cNvSpPr/>
          <p:nvPr/>
        </p:nvSpPr>
        <p:spPr>
          <a:xfrm>
            <a:off x="8394192" y="1828800"/>
            <a:ext cx="1920240" cy="3182112"/>
          </a:xfrm>
          <a:prstGeom prst="rect">
            <a:avLst/>
          </a:prstGeom>
          <a:solidFill>
            <a:srgbClr val="FFF7E6"/>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Analyst reviews recommendation
Reads evidence + AI draft rationale
Edits rationale; submits decision</a:t>
            </a:r>
          </a:p>
        </p:txBody>
      </p:sp>
      <p:sp>
        <p:nvSpPr>
          <p:cNvPr id="25" name="Rectangle 24"/>
          <p:cNvSpPr/>
          <p:nvPr/>
        </p:nvSpPr>
        <p:spPr>
          <a:xfrm>
            <a:off x="274320" y="1828800"/>
            <a:ext cx="64008" cy="3182112"/>
          </a:xfrm>
          <a:prstGeom prst="rect">
            <a:avLst/>
          </a:prstGeom>
          <a:solidFill>
            <a:srgbClr val="B45B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424160" y="1051560"/>
            <a:ext cx="1920240" cy="73152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000" b="1">
                <a:solidFill>
                  <a:srgbClr val="058C69"/>
                </a:solidFill>
              </a:rPr>
              <a:t>6
ACT &amp;
LOG</a:t>
            </a:r>
          </a:p>
        </p:txBody>
      </p:sp>
      <p:sp>
        <p:nvSpPr>
          <p:cNvPr id="27" name="Rectangle 26"/>
          <p:cNvSpPr/>
          <p:nvPr/>
        </p:nvSpPr>
        <p:spPr>
          <a:xfrm>
            <a:off x="10424160" y="1828800"/>
            <a:ext cx="1920240" cy="3182112"/>
          </a:xfrm>
          <a:prstGeom prst="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l"/>
            <a:r>
              <a:rPr sz="950" b="0">
                <a:solidFill>
                  <a:srgbClr val="1E293B"/>
                </a:solidFill>
              </a:rPr>
              <a:t>Decision recorded on audit trail
Analyst identity + timestamp
Rationale text stored immutably</a:t>
            </a:r>
          </a:p>
        </p:txBody>
      </p:sp>
      <p:sp>
        <p:nvSpPr>
          <p:cNvPr id="28" name="Rectangle 27"/>
          <p:cNvSpPr/>
          <p:nvPr/>
        </p:nvSpPr>
        <p:spPr>
          <a:xfrm>
            <a:off x="274320" y="1828800"/>
            <a:ext cx="64008" cy="3182112"/>
          </a:xfrm>
          <a:prstGeom prst="rect">
            <a:avLst/>
          </a:prstGeom>
          <a:solidFill>
            <a:srgbClr val="05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5166360"/>
            <a:ext cx="64008" cy="5029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5166360"/>
            <a:ext cx="11521440" cy="502920"/>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r>
              <a:rPr sz="950">
                <a:solidFill>
                  <a:srgbClr val="1E293B"/>
                </a:solidFill>
              </a:rPr>
              <a:t>Decision C enforced at Stage 4: Claude receives case data and prior agent outputs. It returns rationale prose only — never a risk score, recommendation, or PASS/FAIL verdict.</a:t>
            </a:r>
          </a:p>
        </p:txBody>
      </p:sp>
      <p:sp>
        <p:nvSpPr>
          <p:cNvPr id="31" name="Rectangle 30"/>
          <p:cNvSpPr/>
          <p:nvPr/>
        </p:nvSpPr>
        <p:spPr>
          <a:xfrm>
            <a:off x="274320" y="5806440"/>
            <a:ext cx="11612880" cy="530352"/>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050" b="1">
                <a:solidFill>
                  <a:srgbClr val="FFFFFF"/>
                </a:solidFill>
              </a:rPr>
              <a:t>Stage 5 is mandatory — there is no Stage 4.5 that auto-forwards APPROVE cases. Every case, every recommendation: a human must press a button and submit a rationale.</a:t>
            </a:r>
          </a:p>
        </p:txBody>
      </p:sp>
      <p:sp>
        <p:nvSpPr>
          <p:cNvPr id="32" name="TextBox 31"/>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12</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What This Project Proved</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Four findings that shaped every decision</a:t>
            </a:r>
          </a:p>
        </p:txBody>
      </p:sp>
      <p:sp>
        <p:nvSpPr>
          <p:cNvPr id="6" name="Rectangle 5"/>
          <p:cNvSpPr/>
          <p:nvPr/>
        </p:nvSpPr>
        <p:spPr>
          <a:xfrm>
            <a:off x="274320" y="1024128"/>
            <a:ext cx="502920" cy="239572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2200" b="1">
                <a:solidFill>
                  <a:srgbClr val="00A890"/>
                </a:solidFill>
              </a:rPr>
              <a:t>1</a:t>
            </a:r>
          </a:p>
        </p:txBody>
      </p:sp>
      <p:sp>
        <p:nvSpPr>
          <p:cNvPr id="7" name="Rectangle 6"/>
          <p:cNvSpPr/>
          <p:nvPr/>
        </p:nvSpPr>
        <p:spPr>
          <a:xfrm>
            <a:off x="274320" y="1024128"/>
            <a:ext cx="64008" cy="2395728"/>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6112" y="1024128"/>
            <a:ext cx="5285232" cy="2395728"/>
          </a:xfrm>
          <a:prstGeom prst="rect">
            <a:avLst/>
          </a:prstGeom>
          <a:solidFill>
            <a:srgbClr val="D0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7" y="1133856"/>
            <a:ext cx="5029200" cy="347472"/>
          </a:xfrm>
          <a:prstGeom prst="rect">
            <a:avLst/>
          </a:prstGeom>
          <a:noFill/>
        </p:spPr>
        <p:txBody>
          <a:bodyPr wrap="square">
            <a:spAutoFit/>
          </a:bodyPr>
          <a:lstStyle/>
          <a:p>
            <a:pPr algn="l"/>
            <a:r>
              <a:rPr sz="1100" b="1">
                <a:solidFill>
                  <a:srgbClr val="00A890"/>
                </a:solidFill>
              </a:rPr>
              <a:t>The compliance workflow is the problem — not the data</a:t>
            </a:r>
          </a:p>
        </p:txBody>
      </p:sp>
      <p:sp>
        <p:nvSpPr>
          <p:cNvPr id="10" name="TextBox 9"/>
          <p:cNvSpPr txBox="1"/>
          <p:nvPr/>
        </p:nvSpPr>
        <p:spPr>
          <a:xfrm>
            <a:off x="1024127" y="1527048"/>
            <a:ext cx="5029200" cy="1783080"/>
          </a:xfrm>
          <a:prstGeom prst="rect">
            <a:avLst/>
          </a:prstGeom>
          <a:noFill/>
        </p:spPr>
        <p:txBody>
          <a:bodyPr wrap="square">
            <a:spAutoFit/>
          </a:bodyPr>
          <a:lstStyle/>
          <a:p>
            <a:pPr algn="l"/>
            <a:r>
              <a:rPr sz="950" b="0">
                <a:solidFill>
                  <a:srgbClr val="1E293B"/>
                </a:solidFill>
              </a:rPr>
              <a:t>Watchlist data is public and free from OFAC, UN, and EU. The bottleneck is the analyst workflow: five disconnected tools, rationale in email threads, no consolidated audit trail. Data is a commodity. Workflow is the product.</a:t>
            </a:r>
          </a:p>
        </p:txBody>
      </p:sp>
      <p:sp>
        <p:nvSpPr>
          <p:cNvPr id="11" name="Rectangle 10"/>
          <p:cNvSpPr/>
          <p:nvPr/>
        </p:nvSpPr>
        <p:spPr>
          <a:xfrm>
            <a:off x="6236207" y="1024128"/>
            <a:ext cx="502920" cy="239572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2200" b="1">
                <a:solidFill>
                  <a:srgbClr val="B45B09"/>
                </a:solidFill>
              </a:rPr>
              <a:t>2</a:t>
            </a:r>
          </a:p>
        </p:txBody>
      </p:sp>
      <p:sp>
        <p:nvSpPr>
          <p:cNvPr id="12" name="Rectangle 11"/>
          <p:cNvSpPr/>
          <p:nvPr/>
        </p:nvSpPr>
        <p:spPr>
          <a:xfrm>
            <a:off x="274320" y="1024128"/>
            <a:ext cx="64008" cy="2395728"/>
          </a:xfrm>
          <a:prstGeom prst="rect">
            <a:avLst/>
          </a:prstGeom>
          <a:solidFill>
            <a:srgbClr val="B45B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7999" y="1024128"/>
            <a:ext cx="5285232" cy="2395728"/>
          </a:xfrm>
          <a:prstGeom prst="rect">
            <a:avLst/>
          </a:prstGeom>
          <a:solidFill>
            <a:srgbClr val="FFF7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86016" y="1133856"/>
            <a:ext cx="5029200" cy="347472"/>
          </a:xfrm>
          <a:prstGeom prst="rect">
            <a:avLst/>
          </a:prstGeom>
          <a:noFill/>
        </p:spPr>
        <p:txBody>
          <a:bodyPr wrap="square">
            <a:spAutoFit/>
          </a:bodyPr>
          <a:lstStyle/>
          <a:p>
            <a:pPr algn="l"/>
            <a:r>
              <a:rPr sz="1100" b="1">
                <a:solidFill>
                  <a:srgbClr val="B45B09"/>
                </a:solidFill>
              </a:rPr>
              <a:t>India is underserved — and the timing is right</a:t>
            </a:r>
          </a:p>
        </p:txBody>
      </p:sp>
      <p:sp>
        <p:nvSpPr>
          <p:cNvPr id="15" name="TextBox 14"/>
          <p:cNvSpPr txBox="1"/>
          <p:nvPr/>
        </p:nvSpPr>
        <p:spPr>
          <a:xfrm>
            <a:off x="6986016" y="1527048"/>
            <a:ext cx="5029200" cy="1783080"/>
          </a:xfrm>
          <a:prstGeom prst="rect">
            <a:avLst/>
          </a:prstGeom>
          <a:noFill/>
        </p:spPr>
        <p:txBody>
          <a:bodyPr wrap="square">
            <a:spAutoFit/>
          </a:bodyPr>
          <a:lstStyle/>
          <a:p>
            <a:pPr algn="l"/>
            <a:r>
              <a:rPr sz="950" b="0">
                <a:solidFill>
                  <a:srgbClr val="1E293B"/>
                </a:solidFill>
              </a:rPr>
              <a:t>Enterprise AML suites are priced and designed for large banks. RBI KYC Master Circular 2024 increased obligations on PA licence holders. Claude Haiku makes AI-assisted rationale drafting viable at &lt; USD 0.01 per case. The window is open now.</a:t>
            </a:r>
          </a:p>
        </p:txBody>
      </p:sp>
      <p:sp>
        <p:nvSpPr>
          <p:cNvPr id="16" name="Rectangle 15"/>
          <p:cNvSpPr/>
          <p:nvPr/>
        </p:nvSpPr>
        <p:spPr>
          <a:xfrm>
            <a:off x="274320" y="3657600"/>
            <a:ext cx="502920" cy="239572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2200" b="1">
                <a:solidFill>
                  <a:srgbClr val="058C69"/>
                </a:solidFill>
              </a:rPr>
              <a:t>3</a:t>
            </a:r>
          </a:p>
        </p:txBody>
      </p:sp>
      <p:sp>
        <p:nvSpPr>
          <p:cNvPr id="17" name="Rectangle 16"/>
          <p:cNvSpPr/>
          <p:nvPr/>
        </p:nvSpPr>
        <p:spPr>
          <a:xfrm>
            <a:off x="274320" y="3657600"/>
            <a:ext cx="64008" cy="2395728"/>
          </a:xfrm>
          <a:prstGeom prst="rect">
            <a:avLst/>
          </a:prstGeom>
          <a:solidFill>
            <a:srgbClr val="05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6112" y="3657600"/>
            <a:ext cx="5285232" cy="2395728"/>
          </a:xfrm>
          <a:prstGeom prst="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7" y="3767328"/>
            <a:ext cx="5029200" cy="347472"/>
          </a:xfrm>
          <a:prstGeom prst="rect">
            <a:avLst/>
          </a:prstGeom>
          <a:noFill/>
        </p:spPr>
        <p:txBody>
          <a:bodyPr wrap="square">
            <a:spAutoFit/>
          </a:bodyPr>
          <a:lstStyle/>
          <a:p>
            <a:pPr algn="l"/>
            <a:r>
              <a:rPr sz="1100" b="1">
                <a:solidFill>
                  <a:srgbClr val="058C69"/>
                </a:solidFill>
              </a:rPr>
              <a:t>Human accountability must be unconditional — structurally, not as policy</a:t>
            </a:r>
          </a:p>
        </p:txBody>
      </p:sp>
      <p:sp>
        <p:nvSpPr>
          <p:cNvPr id="20" name="TextBox 19"/>
          <p:cNvSpPr txBox="1"/>
          <p:nvPr/>
        </p:nvSpPr>
        <p:spPr>
          <a:xfrm>
            <a:off x="1024127" y="4160520"/>
            <a:ext cx="5029200" cy="1783080"/>
          </a:xfrm>
          <a:prstGeom prst="rect">
            <a:avLst/>
          </a:prstGeom>
          <a:noFill/>
        </p:spPr>
        <p:txBody>
          <a:bodyPr wrap="square">
            <a:spAutoFit/>
          </a:bodyPr>
          <a:lstStyle/>
          <a:p>
            <a:pPr algn="l"/>
            <a:r>
              <a:rPr sz="950" b="0">
                <a:solidFill>
                  <a:srgbClr val="1E293B"/>
                </a:solidFill>
              </a:rPr>
              <a:t>Regulators signal they expect AI to assist, not decide. The architecture enforces this: no auto-approve, LLM never produces a risk score, hard-stop always overrides a weighted average. This is code, not a guideline.</a:t>
            </a:r>
          </a:p>
        </p:txBody>
      </p:sp>
      <p:sp>
        <p:nvSpPr>
          <p:cNvPr id="21" name="Rectangle 20"/>
          <p:cNvSpPr/>
          <p:nvPr/>
        </p:nvSpPr>
        <p:spPr>
          <a:xfrm>
            <a:off x="6236207" y="3657600"/>
            <a:ext cx="502920" cy="2395728"/>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2200" b="1">
                <a:solidFill>
                  <a:srgbClr val="6D28D9"/>
                </a:solidFill>
              </a:rPr>
              <a:t>4</a:t>
            </a:r>
          </a:p>
        </p:txBody>
      </p:sp>
      <p:sp>
        <p:nvSpPr>
          <p:cNvPr id="22" name="Rectangle 21"/>
          <p:cNvSpPr/>
          <p:nvPr/>
        </p:nvSpPr>
        <p:spPr>
          <a:xfrm>
            <a:off x="274320" y="3657600"/>
            <a:ext cx="64008" cy="239572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7999" y="3657600"/>
            <a:ext cx="5285232" cy="2395728"/>
          </a:xfrm>
          <a:prstGeom prst="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86016" y="3767328"/>
            <a:ext cx="5029200" cy="347472"/>
          </a:xfrm>
          <a:prstGeom prst="rect">
            <a:avLst/>
          </a:prstGeom>
          <a:noFill/>
        </p:spPr>
        <p:txBody>
          <a:bodyPr wrap="square">
            <a:spAutoFit/>
          </a:bodyPr>
          <a:lstStyle/>
          <a:p>
            <a:pPr algn="l"/>
            <a:r>
              <a:rPr sz="1100" b="1">
                <a:solidFill>
                  <a:srgbClr val="6D28D9"/>
                </a:solidFill>
              </a:rPr>
              <a:t>AI-assisted development is a real competitive advantage</a:t>
            </a:r>
          </a:p>
        </p:txBody>
      </p:sp>
      <p:sp>
        <p:nvSpPr>
          <p:cNvPr id="25" name="TextBox 24"/>
          <p:cNvSpPr txBox="1"/>
          <p:nvPr/>
        </p:nvSpPr>
        <p:spPr>
          <a:xfrm>
            <a:off x="6986016" y="4160520"/>
            <a:ext cx="5029200" cy="1783080"/>
          </a:xfrm>
          <a:prstGeom prst="rect">
            <a:avLst/>
          </a:prstGeom>
          <a:noFill/>
        </p:spPr>
        <p:txBody>
          <a:bodyPr wrap="square">
            <a:spAutoFit/>
          </a:bodyPr>
          <a:lstStyle/>
          <a:p>
            <a:pPr algn="l"/>
            <a:r>
              <a:rPr sz="950" b="0">
                <a:solidFill>
                  <a:srgbClr val="1E293B"/>
                </a:solidFill>
              </a:rPr>
              <a:t>The entire working prototype was built with Claude Code. The speed advantage extends to product iteration, not just the initial build. Incumbents built their architecture before modern LLMs — they cannot retrofit this. The build-speed gap is durable.</a:t>
            </a:r>
          </a:p>
        </p:txBody>
      </p:sp>
      <p:sp>
        <p:nvSpPr>
          <p:cNvPr id="26" name="TextBox 25"/>
          <p:cNvSpPr txBox="1"/>
          <p:nvPr/>
        </p:nvSpPr>
        <p:spPr>
          <a:xfrm>
            <a:off x="274320" y="6583680"/>
            <a:ext cx="11640312" cy="219456"/>
          </a:xfrm>
          <a:prstGeom prst="rect">
            <a:avLst/>
          </a:prstGeom>
          <a:noFill/>
        </p:spPr>
        <p:txBody>
          <a:bodyPr wrap="square">
            <a:spAutoFit/>
          </a:bodyPr>
          <a:lstStyle/>
          <a:p>
            <a:pPr algn="ctr"/>
            <a:r>
              <a:rPr sz="800" b="0">
                <a:solidFill>
                  <a:srgbClr val="94A3B8"/>
                </a:solidFill>
              </a:rPr>
              <a:t>TradePe / ScreenDesk  ·  IITM Product Management Group 6  ·  Capstone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1828800" cy="256032"/>
          </a:xfrm>
          <a:prstGeom prst="rect">
            <a:avLst/>
          </a:prstGeom>
          <a:noFill/>
        </p:spPr>
        <p:txBody>
          <a:bodyPr wrap="square">
            <a:spAutoFit/>
          </a:bodyPr>
          <a:lstStyle/>
          <a:p>
            <a:pPr algn="l"/>
            <a:r>
              <a:rPr sz="900" b="1">
                <a:solidFill>
                  <a:srgbClr val="00C2A8"/>
                </a:solidFill>
              </a:rPr>
              <a:t>REF</a:t>
            </a:r>
          </a:p>
        </p:txBody>
      </p:sp>
      <p:sp>
        <p:nvSpPr>
          <p:cNvPr id="4" name="TextBox 3"/>
          <p:cNvSpPr txBox="1"/>
          <p:nvPr/>
        </p:nvSpPr>
        <p:spPr>
          <a:xfrm>
            <a:off x="320040" y="347472"/>
            <a:ext cx="10972800" cy="457200"/>
          </a:xfrm>
          <a:prstGeom prst="rect">
            <a:avLst/>
          </a:prstGeom>
          <a:noFill/>
        </p:spPr>
        <p:txBody>
          <a:bodyPr wrap="square">
            <a:spAutoFit/>
          </a:bodyPr>
          <a:lstStyle/>
          <a:p>
            <a:pPr algn="l"/>
            <a:r>
              <a:rPr sz="2200" b="1">
                <a:solidFill>
                  <a:srgbClr val="FFFFFF"/>
                </a:solidFill>
              </a:rPr>
              <a:t>Sources &amp; References</a:t>
            </a:r>
          </a:p>
        </p:txBody>
      </p:sp>
      <p:sp>
        <p:nvSpPr>
          <p:cNvPr id="5" name="TextBox 4"/>
          <p:cNvSpPr txBox="1"/>
          <p:nvPr/>
        </p:nvSpPr>
        <p:spPr>
          <a:xfrm>
            <a:off x="320040" y="713232"/>
            <a:ext cx="10972800" cy="182880"/>
          </a:xfrm>
          <a:prstGeom prst="rect">
            <a:avLst/>
          </a:prstGeom>
          <a:noFill/>
        </p:spPr>
        <p:txBody>
          <a:bodyPr wrap="square">
            <a:spAutoFit/>
          </a:bodyPr>
          <a:lstStyle/>
          <a:p>
            <a:pPr algn="l"/>
            <a:r>
              <a:rPr sz="900" b="0">
                <a:solidFill>
                  <a:srgbClr val="CCDDEE"/>
                </a:solidFill>
              </a:rPr>
              <a:t>All data verified against primary sources or labelled [ASSUMPTION]</a:t>
            </a:r>
          </a:p>
        </p:txBody>
      </p:sp>
      <p:graphicFrame>
        <p:nvGraphicFramePr>
          <p:cNvPr id="6" name="Table 5"/>
          <p:cNvGraphicFramePr>
            <a:graphicFrameLocks noGrp="1"/>
          </p:cNvGraphicFramePr>
          <p:nvPr/>
        </p:nvGraphicFramePr>
        <p:xfrm>
          <a:off x="274320" y="1051560"/>
          <a:ext cx="11612880" cy="4919472"/>
        </p:xfrm>
        <a:graphic>
          <a:graphicData uri="http://schemas.openxmlformats.org/drawingml/2006/table">
            <a:tbl>
              <a:tblPr firstRow="1" bandRow="1">
                <a:tableStyleId>{5C22544A-7EE6-4342-B048-85BDC9FD1C3A}</a:tableStyleId>
              </a:tblPr>
              <a:tblGrid>
                <a:gridCol w="1691640"/>
                <a:gridCol w="9921240"/>
              </a:tblGrid>
              <a:tr h="447224">
                <a:tc>
                  <a:txBody>
                    <a:bodyPr lIns="73152" rIns="73152"/>
                    <a:lstStyle/>
                    <a:p>
                      <a:pPr algn="l"/>
                      <a:r>
                        <a:rPr sz="950" b="1">
                          <a:solidFill>
                            <a:srgbClr val="FFFFFF"/>
                          </a:solidFill>
                        </a:rPr>
                        <a:t>Category</a:t>
                      </a:r>
                    </a:p>
                  </a:txBody>
                  <a:tcPr>
                    <a:solidFill>
                      <a:srgbClr val="0F2140"/>
                    </a:solidFill>
                  </a:tcPr>
                </a:tc>
                <a:tc>
                  <a:txBody>
                    <a:bodyPr lIns="73152" rIns="73152"/>
                    <a:lstStyle/>
                    <a:p>
                      <a:pPr algn="l"/>
                      <a:r>
                        <a:rPr sz="950" b="1">
                          <a:solidFill>
                            <a:srgbClr val="FFFFFF"/>
                          </a:solidFill>
                        </a:rPr>
                        <a:t>Source / Reference</a:t>
                      </a:r>
                    </a:p>
                  </a:txBody>
                  <a:tcPr>
                    <a:solidFill>
                      <a:srgbClr val="0F2140"/>
                    </a:solidFill>
                  </a:tcPr>
                </a:tc>
              </a:tr>
              <a:tr h="447224">
                <a:tc>
                  <a:txBody>
                    <a:bodyPr lIns="73152" rIns="73152"/>
                    <a:lstStyle/>
                    <a:p>
                      <a:pPr algn="l"/>
                      <a:r>
                        <a:rPr sz="900" b="1">
                          <a:solidFill>
                            <a:srgbClr val="0F2140"/>
                          </a:solidFill>
                        </a:rPr>
                        <a:t>Indian Regulation</a:t>
                      </a:r>
                    </a:p>
                  </a:txBody>
                  <a:tcPr>
                    <a:solidFill>
                      <a:srgbClr val="F0F7FF"/>
                    </a:solidFill>
                  </a:tcPr>
                </a:tc>
                <a:tc>
                  <a:txBody>
                    <a:bodyPr lIns="73152" rIns="73152"/>
                    <a:lstStyle/>
                    <a:p>
                      <a:pPr algn="l"/>
                      <a:r>
                        <a:rPr sz="900" b="0">
                          <a:solidFill>
                            <a:srgbClr val="1E293B"/>
                          </a:solidFill>
                        </a:rPr>
                        <a:t>RBI KYC Master Circular (2024)  ·  RBI Payment Aggregator Framework (2020)  ·  AD Category-II Licence Guidelines</a:t>
                      </a:r>
                    </a:p>
                  </a:txBody>
                  <a:tcPr>
                    <a:solidFill>
                      <a:srgbClr val="F0F7FF"/>
                    </a:solidFill>
                  </a:tcPr>
                </a:tc>
              </a:tr>
              <a:tr h="447224">
                <a:tc>
                  <a:txBody>
                    <a:bodyPr lIns="73152" rIns="73152"/>
                    <a:lstStyle/>
                    <a:p>
                      <a:pPr algn="l"/>
                      <a:r>
                        <a:rPr sz="900" b="1">
                          <a:solidFill>
                            <a:srgbClr val="0F2140"/>
                          </a:solidFill>
                        </a:rPr>
                        <a:t>Indian Regulation</a:t>
                      </a:r>
                    </a:p>
                  </a:txBody>
                  <a:tcPr>
                    <a:solidFill>
                      <a:srgbClr val="FFFFFF"/>
                    </a:solidFill>
                  </a:tcPr>
                </a:tc>
                <a:tc>
                  <a:txBody>
                    <a:bodyPr lIns="73152" rIns="73152"/>
                    <a:lstStyle/>
                    <a:p>
                      <a:pPr algn="l"/>
                      <a:r>
                        <a:rPr sz="900" b="0">
                          <a:solidFill>
                            <a:srgbClr val="1E293B"/>
                          </a:solidFill>
                        </a:rPr>
                        <a:t>PMLA 2002 + Prevention of Money Laundering Rules  ·  FEMA 1999  ·  DGFT Foreign Trade Policy 2023-28</a:t>
                      </a:r>
                    </a:p>
                  </a:txBody>
                  <a:tcPr>
                    <a:solidFill>
                      <a:srgbClr val="FFFFFF"/>
                    </a:solidFill>
                  </a:tcPr>
                </a:tc>
              </a:tr>
              <a:tr h="447224">
                <a:tc>
                  <a:txBody>
                    <a:bodyPr lIns="73152" rIns="73152"/>
                    <a:lstStyle/>
                    <a:p>
                      <a:pPr algn="l"/>
                      <a:r>
                        <a:rPr sz="900" b="1">
                          <a:solidFill>
                            <a:srgbClr val="0F2140"/>
                          </a:solidFill>
                        </a:rPr>
                        <a:t>Indian Regulation</a:t>
                      </a:r>
                    </a:p>
                  </a:txBody>
                  <a:tcPr>
                    <a:solidFill>
                      <a:srgbClr val="F0F7FF"/>
                    </a:solidFill>
                  </a:tcPr>
                </a:tc>
                <a:tc>
                  <a:txBody>
                    <a:bodyPr lIns="73152" rIns="73152"/>
                    <a:lstStyle/>
                    <a:p>
                      <a:pPr algn="l"/>
                      <a:r>
                        <a:rPr sz="900" b="0">
                          <a:solidFill>
                            <a:srgbClr val="1E293B"/>
                          </a:solidFill>
                        </a:rPr>
                        <a:t>FIU-IND STR / CTR Reporting Guidelines  ·  CBIC Customs Act 1962  ·  SCOMET Control List</a:t>
                      </a:r>
                    </a:p>
                  </a:txBody>
                  <a:tcPr>
                    <a:solidFill>
                      <a:srgbClr val="F0F7FF"/>
                    </a:solidFill>
                  </a:tcPr>
                </a:tc>
              </a:tr>
              <a:tr h="447224">
                <a:tc>
                  <a:txBody>
                    <a:bodyPr lIns="73152" rIns="73152"/>
                    <a:lstStyle/>
                    <a:p>
                      <a:pPr algn="l"/>
                      <a:r>
                        <a:rPr sz="900" b="1">
                          <a:solidFill>
                            <a:srgbClr val="0F2140"/>
                          </a:solidFill>
                        </a:rPr>
                        <a:t>International</a:t>
                      </a:r>
                    </a:p>
                  </a:txBody>
                  <a:tcPr>
                    <a:solidFill>
                      <a:srgbClr val="FFFFFF"/>
                    </a:solidFill>
                  </a:tcPr>
                </a:tc>
                <a:tc>
                  <a:txBody>
                    <a:bodyPr lIns="73152" rIns="73152"/>
                    <a:lstStyle/>
                    <a:p>
                      <a:pPr algn="l"/>
                      <a:r>
                        <a:rPr sz="900" b="0">
                          <a:solidFill>
                            <a:srgbClr val="1E293B"/>
                          </a:solidFill>
                        </a:rPr>
                        <a:t>FATF Recommendations (Rev. 2023)  ·  FATF MER India  ·  FATF Grey List Events  ·  MAS Sanctions List</a:t>
                      </a:r>
                    </a:p>
                  </a:txBody>
                  <a:tcPr>
                    <a:solidFill>
                      <a:srgbClr val="FFFFFF"/>
                    </a:solidFill>
                  </a:tcPr>
                </a:tc>
              </a:tr>
              <a:tr h="447224">
                <a:tc>
                  <a:txBody>
                    <a:bodyPr lIns="73152" rIns="73152"/>
                    <a:lstStyle/>
                    <a:p>
                      <a:pPr algn="l"/>
                      <a:r>
                        <a:rPr sz="900" b="1">
                          <a:solidFill>
                            <a:srgbClr val="0F2140"/>
                          </a:solidFill>
                        </a:rPr>
                        <a:t>Sanctions Lists</a:t>
                      </a:r>
                    </a:p>
                  </a:txBody>
                  <a:tcPr>
                    <a:solidFill>
                      <a:srgbClr val="F0F7FF"/>
                    </a:solidFill>
                  </a:tcPr>
                </a:tc>
                <a:tc>
                  <a:txBody>
                    <a:bodyPr lIns="73152" rIns="73152"/>
                    <a:lstStyle/>
                    <a:p>
                      <a:pPr algn="l"/>
                      <a:r>
                        <a:rPr sz="900" b="0">
                          <a:solidFill>
                            <a:srgbClr val="1E293B"/>
                          </a:solidFill>
                        </a:rPr>
                        <a:t>OFAC SDN + Consolidated List  ·  UN Security Council Consolidated Sanctions  ·  EU Financial Sanctions Database</a:t>
                      </a:r>
                    </a:p>
                  </a:txBody>
                  <a:tcPr>
                    <a:solidFill>
                      <a:srgbClr val="F0F7FF"/>
                    </a:solidFill>
                  </a:tcPr>
                </a:tc>
              </a:tr>
              <a:tr h="447224">
                <a:tc>
                  <a:txBody>
                    <a:bodyPr lIns="73152" rIns="73152"/>
                    <a:lstStyle/>
                    <a:p>
                      <a:pPr algn="l"/>
                      <a:r>
                        <a:rPr sz="900" b="1">
                          <a:solidFill>
                            <a:srgbClr val="0F2140"/>
                          </a:solidFill>
                        </a:rPr>
                        <a:t>Market Research</a:t>
                      </a:r>
                    </a:p>
                  </a:txBody>
                  <a:tcPr>
                    <a:solidFill>
                      <a:srgbClr val="FFFFFF"/>
                    </a:solidFill>
                  </a:tcPr>
                </a:tc>
                <a:tc>
                  <a:txBody>
                    <a:bodyPr lIns="73152" rIns="73152"/>
                    <a:lstStyle/>
                    <a:p>
                      <a:pPr algn="l"/>
                      <a:r>
                        <a:rPr sz="900" b="0">
                          <a:solidFill>
                            <a:srgbClr val="1E293B"/>
                          </a:solidFill>
                        </a:rPr>
                        <a:t>RBI Annual Report FY2025  ·  NASSCOM Fintech India Report 2024  ·  India Fintech Forum Market Map</a:t>
                      </a:r>
                    </a:p>
                  </a:txBody>
                  <a:tcPr>
                    <a:solidFill>
                      <a:srgbClr val="FFFFFF"/>
                    </a:solidFill>
                  </a:tcPr>
                </a:tc>
              </a:tr>
              <a:tr h="447224">
                <a:tc>
                  <a:txBody>
                    <a:bodyPr lIns="73152" rIns="73152"/>
                    <a:lstStyle/>
                    <a:p>
                      <a:pPr algn="l"/>
                      <a:r>
                        <a:rPr sz="900" b="1">
                          <a:solidFill>
                            <a:srgbClr val="0F2140"/>
                          </a:solidFill>
                        </a:rPr>
                        <a:t>AI Technology</a:t>
                      </a:r>
                    </a:p>
                  </a:txBody>
                  <a:tcPr>
                    <a:solidFill>
                      <a:srgbClr val="F0F7FF"/>
                    </a:solidFill>
                  </a:tcPr>
                </a:tc>
                <a:tc>
                  <a:txBody>
                    <a:bodyPr lIns="73152" rIns="73152"/>
                    <a:lstStyle/>
                    <a:p>
                      <a:pPr algn="l"/>
                      <a:r>
                        <a:rPr sz="900" b="0">
                          <a:solidFill>
                            <a:srgbClr val="1E293B"/>
                          </a:solidFill>
                        </a:rPr>
                        <a:t>Anthropic Claude API Docs (claude-haiku-4-5-20251001)  ·  Claude Code CLI  ·  Anthropic Responsible Scaling Policy</a:t>
                      </a:r>
                    </a:p>
                  </a:txBody>
                  <a:tcPr>
                    <a:solidFill>
                      <a:srgbClr val="F0F7FF"/>
                    </a:solidFill>
                  </a:tcPr>
                </a:tc>
              </a:tr>
              <a:tr h="447224">
                <a:tc>
                  <a:txBody>
                    <a:bodyPr lIns="73152" rIns="73152"/>
                    <a:lstStyle/>
                    <a:p>
                      <a:pPr algn="l"/>
                      <a:r>
                        <a:rPr sz="900" b="1">
                          <a:solidFill>
                            <a:srgbClr val="0F2140"/>
                          </a:solidFill>
                        </a:rPr>
                        <a:t>Competitive</a:t>
                      </a:r>
                    </a:p>
                  </a:txBody>
                  <a:tcPr>
                    <a:solidFill>
                      <a:srgbClr val="FFFFFF"/>
                    </a:solidFill>
                  </a:tcPr>
                </a:tc>
                <a:tc>
                  <a:txBody>
                    <a:bodyPr lIns="73152" rIns="73152"/>
                    <a:lstStyle/>
                    <a:p>
                      <a:pPr algn="l"/>
                      <a:r>
                        <a:rPr sz="900" b="0">
                          <a:solidFill>
                            <a:srgbClr val="1E293B"/>
                          </a:solidFill>
                        </a:rPr>
                        <a:t>ComplyAdvantage Product Docs (public)  ·  Refinitiv World-Check Data Model (public)  ·  Oracle FCCM Brief (public)</a:t>
                      </a:r>
                    </a:p>
                  </a:txBody>
                  <a:tcPr>
                    <a:solidFill>
                      <a:srgbClr val="FFFFFF"/>
                    </a:solidFill>
                  </a:tcPr>
                </a:tc>
              </a:tr>
              <a:tr h="447224">
                <a:tc>
                  <a:txBody>
                    <a:bodyPr lIns="73152" rIns="73152"/>
                    <a:lstStyle/>
                    <a:p>
                      <a:pPr algn="l"/>
                      <a:r>
                        <a:rPr sz="900" b="1">
                          <a:solidFill>
                            <a:srgbClr val="0F2140"/>
                          </a:solidFill>
                        </a:rPr>
                        <a:t>Build References</a:t>
                      </a:r>
                    </a:p>
                  </a:txBody>
                  <a:tcPr>
                    <a:solidFill>
                      <a:srgbClr val="F0F7FF"/>
                    </a:solidFill>
                  </a:tcPr>
                </a:tc>
                <a:tc>
                  <a:txBody>
                    <a:bodyPr lIns="73152" rIns="73152"/>
                    <a:lstStyle/>
                    <a:p>
                      <a:pPr algn="l"/>
                      <a:r>
                        <a:rPr sz="900" b="0">
                          <a:solidFill>
                            <a:srgbClr val="1E293B"/>
                          </a:solidFill>
                        </a:rPr>
                        <a:t>Flask Documentation 3.x  ·  python-pptx Documentation  ·  python-docx Documentation  ·  SQLite WAL Mode Docs</a:t>
                      </a:r>
                    </a:p>
                  </a:txBody>
                  <a:tcPr>
                    <a:solidFill>
                      <a:srgbClr val="F0F7FF"/>
                    </a:solidFill>
                  </a:tcPr>
                </a:tc>
              </a:tr>
              <a:tr h="447232">
                <a:tc>
                  <a:txBody>
                    <a:bodyPr lIns="73152" rIns="73152"/>
                    <a:lstStyle/>
                    <a:p>
                      <a:pPr algn="l"/>
                      <a:r>
                        <a:rPr sz="900" b="1">
                          <a:solidFill>
                            <a:srgbClr val="0F2140"/>
                          </a:solidFill>
                        </a:rPr>
                        <a:t>Disclaimer</a:t>
                      </a:r>
                    </a:p>
                  </a:txBody>
                  <a:tcPr>
                    <a:solidFill>
                      <a:srgbClr val="FFFFFF"/>
                    </a:solidFill>
                  </a:tcPr>
                </a:tc>
                <a:tc>
                  <a:txBody>
                    <a:bodyPr lIns="73152" rIns="73152"/>
                    <a:lstStyle/>
                    <a:p>
                      <a:pPr algn="l"/>
                      <a:r>
                        <a:rPr sz="900" b="0">
                          <a:solidFill>
                            <a:srgbClr val="1E293B"/>
                          </a:solidFill>
                        </a:rPr>
                        <a:t>All market size figures are directional estimates for planning only — not investor representations. All product data and demo cases are synthetic.</a:t>
                      </a:r>
                    </a:p>
                  </a:txBody>
                  <a:tcPr>
                    <a:solidFill>
                      <a:srgbClr val="FFFFFF"/>
                    </a:solidFill>
                  </a:tcPr>
                </a:tc>
              </a:tr>
            </a:tbl>
          </a:graphicData>
        </a:graphic>
      </p:graphicFrame>
      <p:sp>
        <p:nvSpPr>
          <p:cNvPr id="7" name="Rectangle 6"/>
          <p:cNvSpPr/>
          <p:nvPr/>
        </p:nvSpPr>
        <p:spPr>
          <a:xfrm>
            <a:off x="274320" y="6126480"/>
            <a:ext cx="11612880" cy="502920"/>
          </a:xfrm>
          <a:prstGeom prst="rect">
            <a:avLst/>
          </a:prstGeom>
          <a:solidFill>
            <a:srgbClr val="0F2140"/>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64008" bIns="64008"/>
          <a:lstStyle/>
          <a:p>
            <a:pPr algn="ctr"/>
            <a:r>
              <a:rPr sz="1000" b="1">
                <a:solidFill>
                  <a:srgbClr val="00C2A8"/>
                </a:solidFill>
              </a:rPr>
              <a:t>TradePe / ScreenDesk  ·  IITM Product Management Group 6  ·  Capstone 2026  ·  AI-assisted end to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